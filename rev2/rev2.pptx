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</p:sldIdLst>
  <p:sldSz cy="6858000" cx="12192000"/>
  <p:notesSz cx="6858000" cy="9144000"/>
  <p:embeddedFontLst>
    <p:embeddedFont>
      <p:font typeface="Montserrat"/>
      <p:regular r:id="rId39"/>
      <p:bold r:id="rId40"/>
      <p:italic r:id="rId41"/>
      <p:boldItalic r:id="rId4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  <p15:guide id="3" orient="horz" pos="1757">
          <p15:clr>
            <a:srgbClr val="747775"/>
          </p15:clr>
        </p15:guide>
      </p15:sldGuideLst>
    </p:ext>
    <p:ext uri="GoogleSlidesCustomDataVersion2">
      <go:slidesCustomData xmlns:go="http://customooxmlschemas.google.com/" r:id="rId43" roundtripDataSignature="AMtx7mj0S6IuSVPji6YAFqT9wnG+PN6G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840"/>
        <p:guide pos="2160" orient="horz"/>
        <p:guide pos="1757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Montserrat-bold.fntdata"/><Relationship Id="rId20" Type="http://schemas.openxmlformats.org/officeDocument/2006/relationships/slide" Target="slides/slide15.xml"/><Relationship Id="rId42" Type="http://schemas.openxmlformats.org/officeDocument/2006/relationships/font" Target="fonts/Montserrat-boldItalic.fntdata"/><Relationship Id="rId41" Type="http://schemas.openxmlformats.org/officeDocument/2006/relationships/font" Target="fonts/Montserrat-italic.fntdata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43" Type="http://customschemas.google.com/relationships/presentationmetadata" Target="metadata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font" Target="fonts/Montserrat-regular.fntdata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0" name="Google Shape;70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6257ea22e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6" name="Google Shape;76;g36257ea22eb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cc93861824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3" name="Google Shape;83;g3cc93861824_0_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4" name="Google Shape;104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1" name="Google Shape;111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5" name="Google Shape;125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8" name="Google Shape;148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5" name="Google Shape;155;p1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2" name="Google Shape;162;p2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9" name="Google Shape;169;p2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6" name="Google Shape;176;p2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3" name="Google Shape;183;p2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1" name="Google Shape;191;p2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d0496d8fd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8" name="Google Shape;198;g3d0496d8fde_0_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d0496d8fde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3" name="Google Shape;203;g3d0496d8fde_0_6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d0496d8fde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9" name="Google Shape;209;g3d0496d8fde_0_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d0496d8fd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5" name="Google Shape;215;g3d0496d8fde_0_7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d0496d8fde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1" name="Google Shape;221;g3d0496d8fde_0_9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d0496d8fde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7" name="Google Shape;227;g3d0496d8fde_0_10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d0689a4217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3" name="Google Shape;233;g3d0689a4217_0_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d0496d8fde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9" name="Google Shape;239;g3d0496d8fde_0_6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d0496d8fd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4" name="Google Shape;244;g3d0496d8fde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d0496d8fde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1" name="Google Shape;251;g3d0496d8fde_0_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d0496d8fde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8" name="Google Shape;258;g3d0496d8fde_0_3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d0496d8fde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5" name="Google Shape;265;g3d0496d8fde_0_3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d0496d8fde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1" name="Google Shape;271;g3d0496d8fde_0_4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d0496d8fde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7" name="Google Shape;277;g3d0496d8fde_0_5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d0496d8fd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3" name="Google Shape;283;g3d0496d8fde_0_5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d0496d8fde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9" name="Google Shape;289;g3d0496d8fde_0_4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d0689a4217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4" name="Google Shape;294;g3d0689a4217_0_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625a4a1d6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0" name="Google Shape;300;g3625a4a1d6b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1">
  <p:cSld name="Титульный слайд 1"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439425" y="2898000"/>
            <a:ext cx="4752575" cy="396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60194" y="558606"/>
            <a:ext cx="2484000" cy="1656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9;p11"/>
          <p:cNvSpPr txBox="1"/>
          <p:nvPr>
            <p:ph idx="1" type="body"/>
          </p:nvPr>
        </p:nvSpPr>
        <p:spPr>
          <a:xfrm>
            <a:off x="560194" y="6083856"/>
            <a:ext cx="164981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A5A5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A5A5A5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1"/>
          <p:cNvSpPr txBox="1"/>
          <p:nvPr>
            <p:ph idx="2" type="body"/>
          </p:nvPr>
        </p:nvSpPr>
        <p:spPr>
          <a:xfrm>
            <a:off x="560194" y="2567225"/>
            <a:ext cx="2694755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A5A5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A5A5A5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" name="Google Shape;11;p11"/>
          <p:cNvSpPr txBox="1"/>
          <p:nvPr>
            <p:ph idx="3" type="body"/>
          </p:nvPr>
        </p:nvSpPr>
        <p:spPr>
          <a:xfrm>
            <a:off x="560194" y="3198167"/>
            <a:ext cx="2936041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55BB"/>
              </a:buClr>
              <a:buSzPts val="3600"/>
              <a:buFont typeface="Arial"/>
              <a:buNone/>
              <a:defRPr b="1" i="0" sz="3600" u="none" cap="none" strike="noStrike">
                <a:solidFill>
                  <a:srgbClr val="0055BB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Шапка с логотипом без коня (белая)">
  <p:cSld name="Шапка с логотипом без коня (белая)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14"/>
          <p:cNvPicPr preferRelativeResize="0"/>
          <p:nvPr/>
        </p:nvPicPr>
        <p:blipFill rotWithShape="1">
          <a:blip r:embed="rId2">
            <a:alphaModFix/>
          </a:blip>
          <a:srcRect b="40680" l="86780" r="-4360" t="32381"/>
          <a:stretch/>
        </p:blipFill>
        <p:spPr>
          <a:xfrm>
            <a:off x="0" y="1269807"/>
            <a:ext cx="982787" cy="150548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14"/>
          <p:cNvPicPr preferRelativeResize="0"/>
          <p:nvPr/>
        </p:nvPicPr>
        <p:blipFill rotWithShape="1">
          <a:blip r:embed="rId2">
            <a:alphaModFix/>
          </a:blip>
          <a:srcRect b="88431" l="61576" r="20842" t="1513"/>
          <a:stretch/>
        </p:blipFill>
        <p:spPr>
          <a:xfrm>
            <a:off x="0" y="6296025"/>
            <a:ext cx="982787" cy="56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14"/>
          <p:cNvPicPr preferRelativeResize="0"/>
          <p:nvPr/>
        </p:nvPicPr>
        <p:blipFill rotWithShape="1">
          <a:blip r:embed="rId3">
            <a:alphaModFix/>
          </a:blip>
          <a:srcRect b="31851" l="5148" r="86065" t="45097"/>
          <a:stretch/>
        </p:blipFill>
        <p:spPr>
          <a:xfrm>
            <a:off x="11703437" y="3382263"/>
            <a:ext cx="491219" cy="128823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14"/>
          <p:cNvSpPr txBox="1"/>
          <p:nvPr>
            <p:ph type="title"/>
          </p:nvPr>
        </p:nvSpPr>
        <p:spPr>
          <a:xfrm>
            <a:off x="559572" y="359101"/>
            <a:ext cx="9199890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55BB"/>
              </a:buClr>
              <a:buSzPts val="2800"/>
              <a:buFont typeface="Montserrat"/>
              <a:buNone/>
              <a:defRPr b="1" i="0" sz="2800" u="none" cap="none" strike="noStrike">
                <a:solidFill>
                  <a:srgbClr val="0055BB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7" name="Google Shape;17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985138" y="170399"/>
            <a:ext cx="1656000" cy="8832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14"/>
          <p:cNvSpPr txBox="1"/>
          <p:nvPr>
            <p:ph idx="1" type="body"/>
          </p:nvPr>
        </p:nvSpPr>
        <p:spPr>
          <a:xfrm>
            <a:off x="559572" y="1729294"/>
            <a:ext cx="1348446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BEE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BBE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22A3F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222A3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14"/>
          <p:cNvSpPr txBox="1"/>
          <p:nvPr>
            <p:ph idx="2" type="body"/>
          </p:nvPr>
        </p:nvSpPr>
        <p:spPr>
          <a:xfrm>
            <a:off x="559572" y="2409034"/>
            <a:ext cx="164981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22A3F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222A3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0" name="Google Shape;20;p14"/>
          <p:cNvSpPr/>
          <p:nvPr/>
        </p:nvSpPr>
        <p:spPr>
          <a:xfrm>
            <a:off x="11641138" y="6453188"/>
            <a:ext cx="41549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ru-RU" sz="1400" u="none" cap="none" strike="noStrike">
                <a:solidFill>
                  <a:srgbClr val="8F9092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0" i="0" sz="1400" u="none" cap="none" strike="noStrike">
              <a:solidFill>
                <a:srgbClr val="8F909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ключительный слайд">
  <p:cSld name="Заключительный слайд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439425" y="2898000"/>
            <a:ext cx="4752575" cy="396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18"/>
          <p:cNvSpPr txBox="1"/>
          <p:nvPr>
            <p:ph idx="1" type="body"/>
          </p:nvPr>
        </p:nvSpPr>
        <p:spPr>
          <a:xfrm>
            <a:off x="560194" y="3105834"/>
            <a:ext cx="2936041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55BB"/>
              </a:buClr>
              <a:buSzPts val="3600"/>
              <a:buFont typeface="Arial"/>
              <a:buNone/>
              <a:defRPr b="1" i="0" sz="3600" u="none" cap="none" strike="noStrike">
                <a:solidFill>
                  <a:srgbClr val="0055BB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Шапка с атомом">
  <p:cSld name="Шапка с атомом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2"/>
          <p:cNvSpPr/>
          <p:nvPr/>
        </p:nvSpPr>
        <p:spPr>
          <a:xfrm>
            <a:off x="11641138" y="6453188"/>
            <a:ext cx="41549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ru-RU" sz="1400" u="none" cap="none" strike="noStrike">
                <a:solidFill>
                  <a:srgbClr val="8F9092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0" i="0" sz="1400" u="none" cap="none" strike="noStrike">
              <a:solidFill>
                <a:srgbClr val="8F909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6" name="Google Shape;26;p12"/>
          <p:cNvPicPr preferRelativeResize="0"/>
          <p:nvPr/>
        </p:nvPicPr>
        <p:blipFill rotWithShape="1">
          <a:blip r:embed="rId2">
            <a:alphaModFix/>
          </a:blip>
          <a:srcRect b="40680" l="86780" r="-4360" t="32381"/>
          <a:stretch/>
        </p:blipFill>
        <p:spPr>
          <a:xfrm>
            <a:off x="0" y="1269807"/>
            <a:ext cx="982787" cy="1505489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12"/>
          <p:cNvSpPr/>
          <p:nvPr/>
        </p:nvSpPr>
        <p:spPr>
          <a:xfrm>
            <a:off x="-1" y="-1"/>
            <a:ext cx="12192001" cy="1224000"/>
          </a:xfrm>
          <a:prstGeom prst="rect">
            <a:avLst/>
          </a:prstGeom>
          <a:solidFill>
            <a:srgbClr val="0055B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55B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" name="Google Shape;28;p12"/>
          <p:cNvPicPr preferRelativeResize="0"/>
          <p:nvPr/>
        </p:nvPicPr>
        <p:blipFill rotWithShape="1">
          <a:blip r:embed="rId3">
            <a:alphaModFix/>
          </a:blip>
          <a:srcRect b="46857" l="0" r="0" t="23654"/>
          <a:stretch/>
        </p:blipFill>
        <p:spPr>
          <a:xfrm>
            <a:off x="8040340" y="-1"/>
            <a:ext cx="4151660" cy="1223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29;p12"/>
          <p:cNvPicPr preferRelativeResize="0"/>
          <p:nvPr/>
        </p:nvPicPr>
        <p:blipFill rotWithShape="1">
          <a:blip r:embed="rId2">
            <a:alphaModFix/>
          </a:blip>
          <a:srcRect b="88431" l="61576" r="20842" t="1513"/>
          <a:stretch/>
        </p:blipFill>
        <p:spPr>
          <a:xfrm>
            <a:off x="0" y="6296025"/>
            <a:ext cx="982787" cy="56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12"/>
          <p:cNvPicPr preferRelativeResize="0"/>
          <p:nvPr/>
        </p:nvPicPr>
        <p:blipFill rotWithShape="1">
          <a:blip r:embed="rId4">
            <a:alphaModFix/>
          </a:blip>
          <a:srcRect b="31851" l="5148" r="86065" t="45097"/>
          <a:stretch/>
        </p:blipFill>
        <p:spPr>
          <a:xfrm>
            <a:off x="11703437" y="3382263"/>
            <a:ext cx="491219" cy="1288239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12"/>
          <p:cNvSpPr txBox="1"/>
          <p:nvPr>
            <p:ph type="title"/>
          </p:nvPr>
        </p:nvSpPr>
        <p:spPr>
          <a:xfrm>
            <a:off x="559572" y="359101"/>
            <a:ext cx="11081566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1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2" name="Google Shape;32;p12"/>
          <p:cNvSpPr txBox="1"/>
          <p:nvPr>
            <p:ph idx="1" type="body"/>
          </p:nvPr>
        </p:nvSpPr>
        <p:spPr>
          <a:xfrm>
            <a:off x="559572" y="1729294"/>
            <a:ext cx="1348446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None/>
              <a:defRPr b="1" i="0" sz="1600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22A3F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222A3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" name="Google Shape;33;p12"/>
          <p:cNvSpPr txBox="1"/>
          <p:nvPr>
            <p:ph idx="2" type="body"/>
          </p:nvPr>
        </p:nvSpPr>
        <p:spPr>
          <a:xfrm>
            <a:off x="559572" y="2409034"/>
            <a:ext cx="164981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22A3F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222A3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2">
  <p:cSld name="Титульный слайд 2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7"/>
          <p:cNvSpPr txBox="1"/>
          <p:nvPr>
            <p:ph idx="1" type="body"/>
          </p:nvPr>
        </p:nvSpPr>
        <p:spPr>
          <a:xfrm>
            <a:off x="6418217" y="6083856"/>
            <a:ext cx="164981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A5A5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A5A5A5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17"/>
          <p:cNvSpPr txBox="1"/>
          <p:nvPr>
            <p:ph idx="2" type="body"/>
          </p:nvPr>
        </p:nvSpPr>
        <p:spPr>
          <a:xfrm>
            <a:off x="6418217" y="2567225"/>
            <a:ext cx="2694755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A5A5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A5A5A5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17"/>
          <p:cNvSpPr txBox="1"/>
          <p:nvPr>
            <p:ph idx="3" type="body"/>
          </p:nvPr>
        </p:nvSpPr>
        <p:spPr>
          <a:xfrm>
            <a:off x="6418217" y="3198167"/>
            <a:ext cx="2936041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55BB"/>
              </a:buClr>
              <a:buSzPts val="3600"/>
              <a:buFont typeface="Arial"/>
              <a:buNone/>
              <a:defRPr b="1" i="0" sz="3600" u="none" cap="none" strike="noStrike">
                <a:solidFill>
                  <a:srgbClr val="0055BB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" name="Google Shape;38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1169250"/>
            <a:ext cx="5886994" cy="4088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Шапка с логотипом без коня (синяя)">
  <p:cSld name="Шапка с логотипом без коня (синяя)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3"/>
          <p:cNvSpPr/>
          <p:nvPr/>
        </p:nvSpPr>
        <p:spPr>
          <a:xfrm>
            <a:off x="-1" y="-1"/>
            <a:ext cx="12192001" cy="1224000"/>
          </a:xfrm>
          <a:prstGeom prst="rect">
            <a:avLst/>
          </a:prstGeom>
          <a:solidFill>
            <a:srgbClr val="0055B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1" name="Google Shape;41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992762" y="170399"/>
            <a:ext cx="1656000" cy="88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" name="Google Shape;42;p13"/>
          <p:cNvPicPr preferRelativeResize="0"/>
          <p:nvPr/>
        </p:nvPicPr>
        <p:blipFill rotWithShape="1">
          <a:blip r:embed="rId3">
            <a:alphaModFix/>
          </a:blip>
          <a:srcRect b="40680" l="86780" r="-4360" t="32381"/>
          <a:stretch/>
        </p:blipFill>
        <p:spPr>
          <a:xfrm>
            <a:off x="0" y="1269807"/>
            <a:ext cx="982787" cy="1505489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43;p13"/>
          <p:cNvPicPr preferRelativeResize="0"/>
          <p:nvPr/>
        </p:nvPicPr>
        <p:blipFill rotWithShape="1">
          <a:blip r:embed="rId3">
            <a:alphaModFix/>
          </a:blip>
          <a:srcRect b="88431" l="61576" r="20842" t="1513"/>
          <a:stretch/>
        </p:blipFill>
        <p:spPr>
          <a:xfrm>
            <a:off x="0" y="6296025"/>
            <a:ext cx="982787" cy="56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Google Shape;44;p13"/>
          <p:cNvPicPr preferRelativeResize="0"/>
          <p:nvPr/>
        </p:nvPicPr>
        <p:blipFill rotWithShape="1">
          <a:blip r:embed="rId4">
            <a:alphaModFix/>
          </a:blip>
          <a:srcRect b="31851" l="5148" r="86065" t="45097"/>
          <a:stretch/>
        </p:blipFill>
        <p:spPr>
          <a:xfrm>
            <a:off x="11703437" y="3382263"/>
            <a:ext cx="491219" cy="128823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3"/>
          <p:cNvSpPr txBox="1"/>
          <p:nvPr>
            <p:ph type="title"/>
          </p:nvPr>
        </p:nvSpPr>
        <p:spPr>
          <a:xfrm>
            <a:off x="559572" y="359101"/>
            <a:ext cx="9173513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b="1" i="0" sz="28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6" name="Google Shape;46;p13"/>
          <p:cNvSpPr txBox="1"/>
          <p:nvPr>
            <p:ph idx="1" type="body"/>
          </p:nvPr>
        </p:nvSpPr>
        <p:spPr>
          <a:xfrm>
            <a:off x="559572" y="1729294"/>
            <a:ext cx="1348446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BEE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BBE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22A3F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222A3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7" name="Google Shape;47;p13"/>
          <p:cNvSpPr txBox="1"/>
          <p:nvPr>
            <p:ph idx="2" type="body"/>
          </p:nvPr>
        </p:nvSpPr>
        <p:spPr>
          <a:xfrm>
            <a:off x="559572" y="2409034"/>
            <a:ext cx="164981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22A3F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222A3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" name="Google Shape;48;p13"/>
          <p:cNvSpPr/>
          <p:nvPr/>
        </p:nvSpPr>
        <p:spPr>
          <a:xfrm>
            <a:off x="11641138" y="6453188"/>
            <a:ext cx="41549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ru-RU" sz="1400" u="none" cap="none" strike="noStrike">
                <a:solidFill>
                  <a:srgbClr val="8F9092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0" i="0" sz="1400" u="none" cap="none" strike="noStrike">
              <a:solidFill>
                <a:srgbClr val="8F909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Шапка с логотипом коня (белая)">
  <p:cSld name="Шапка с логотипом коня (белая)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oogle Shape;50;p15"/>
          <p:cNvPicPr preferRelativeResize="0"/>
          <p:nvPr/>
        </p:nvPicPr>
        <p:blipFill rotWithShape="1">
          <a:blip r:embed="rId2">
            <a:alphaModFix/>
          </a:blip>
          <a:srcRect b="40680" l="86780" r="-4360" t="32381"/>
          <a:stretch/>
        </p:blipFill>
        <p:spPr>
          <a:xfrm>
            <a:off x="0" y="1269807"/>
            <a:ext cx="982787" cy="1505489"/>
          </a:xfrm>
          <a:prstGeom prst="rect">
            <a:avLst/>
          </a:prstGeom>
          <a:noFill/>
          <a:ln>
            <a:noFill/>
          </a:ln>
        </p:spPr>
      </p:pic>
      <p:pic>
        <p:nvPicPr>
          <p:cNvPr id="51" name="Google Shape;51;p15"/>
          <p:cNvPicPr preferRelativeResize="0"/>
          <p:nvPr/>
        </p:nvPicPr>
        <p:blipFill rotWithShape="1">
          <a:blip r:embed="rId2">
            <a:alphaModFix/>
          </a:blip>
          <a:srcRect b="88431" l="61576" r="20842" t="1513"/>
          <a:stretch/>
        </p:blipFill>
        <p:spPr>
          <a:xfrm>
            <a:off x="0" y="6296025"/>
            <a:ext cx="982787" cy="56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15"/>
          <p:cNvPicPr preferRelativeResize="0"/>
          <p:nvPr/>
        </p:nvPicPr>
        <p:blipFill rotWithShape="1">
          <a:blip r:embed="rId3">
            <a:alphaModFix/>
          </a:blip>
          <a:srcRect b="31851" l="5148" r="86065" t="45097"/>
          <a:stretch/>
        </p:blipFill>
        <p:spPr>
          <a:xfrm>
            <a:off x="11703437" y="3382263"/>
            <a:ext cx="491219" cy="1288239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5"/>
          <p:cNvSpPr txBox="1"/>
          <p:nvPr>
            <p:ph type="title"/>
          </p:nvPr>
        </p:nvSpPr>
        <p:spPr>
          <a:xfrm>
            <a:off x="559572" y="359101"/>
            <a:ext cx="8900951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46C2A"/>
              </a:buClr>
              <a:buSzPts val="2800"/>
              <a:buFont typeface="Montserrat"/>
              <a:buNone/>
              <a:defRPr b="1" i="0" sz="2800" u="none" cap="none" strike="noStrike">
                <a:solidFill>
                  <a:srgbClr val="E46C2A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5"/>
          <p:cNvSpPr txBox="1"/>
          <p:nvPr>
            <p:ph idx="1" type="body"/>
          </p:nvPr>
        </p:nvSpPr>
        <p:spPr>
          <a:xfrm>
            <a:off x="559572" y="1729294"/>
            <a:ext cx="1348446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BEE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BBE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22A3F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222A3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5"/>
          <p:cNvSpPr txBox="1"/>
          <p:nvPr>
            <p:ph idx="2" type="body"/>
          </p:nvPr>
        </p:nvSpPr>
        <p:spPr>
          <a:xfrm>
            <a:off x="559572" y="2409034"/>
            <a:ext cx="164981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22A3F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222A3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56" name="Google Shape;56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525956" y="-135287"/>
            <a:ext cx="2376074" cy="15120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5"/>
          <p:cNvSpPr/>
          <p:nvPr/>
        </p:nvSpPr>
        <p:spPr>
          <a:xfrm>
            <a:off x="11641138" y="6453188"/>
            <a:ext cx="41549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ru-RU" sz="1400" u="none" cap="none" strike="noStrike">
                <a:solidFill>
                  <a:srgbClr val="8F9092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0" i="0" sz="1400" u="none" cap="none" strike="noStrike">
              <a:solidFill>
                <a:srgbClr val="8F909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Шапка с логотипом коня (серая)">
  <p:cSld name="Шапка с логотипом коня (серая)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/>
          <p:nvPr/>
        </p:nvSpPr>
        <p:spPr>
          <a:xfrm>
            <a:off x="-1" y="-1"/>
            <a:ext cx="12192001" cy="1224000"/>
          </a:xfrm>
          <a:prstGeom prst="rect">
            <a:avLst/>
          </a:prstGeom>
          <a:solidFill>
            <a:srgbClr val="DDDE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" name="Google Shape;60;p16"/>
          <p:cNvPicPr preferRelativeResize="0"/>
          <p:nvPr/>
        </p:nvPicPr>
        <p:blipFill rotWithShape="1">
          <a:blip r:embed="rId2">
            <a:alphaModFix/>
          </a:blip>
          <a:srcRect b="40680" l="86780" r="-4360" t="32381"/>
          <a:stretch/>
        </p:blipFill>
        <p:spPr>
          <a:xfrm>
            <a:off x="0" y="1269807"/>
            <a:ext cx="982787" cy="1505489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16"/>
          <p:cNvPicPr preferRelativeResize="0"/>
          <p:nvPr/>
        </p:nvPicPr>
        <p:blipFill rotWithShape="1">
          <a:blip r:embed="rId2">
            <a:alphaModFix/>
          </a:blip>
          <a:srcRect b="88431" l="61576" r="20842" t="1513"/>
          <a:stretch/>
        </p:blipFill>
        <p:spPr>
          <a:xfrm>
            <a:off x="0" y="6296025"/>
            <a:ext cx="982787" cy="56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16"/>
          <p:cNvPicPr preferRelativeResize="0"/>
          <p:nvPr/>
        </p:nvPicPr>
        <p:blipFill rotWithShape="1">
          <a:blip r:embed="rId3">
            <a:alphaModFix/>
          </a:blip>
          <a:srcRect b="31851" l="5148" r="86065" t="45097"/>
          <a:stretch/>
        </p:blipFill>
        <p:spPr>
          <a:xfrm>
            <a:off x="11703437" y="3382263"/>
            <a:ext cx="491219" cy="1288239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6"/>
          <p:cNvSpPr txBox="1"/>
          <p:nvPr>
            <p:ph type="title"/>
          </p:nvPr>
        </p:nvSpPr>
        <p:spPr>
          <a:xfrm>
            <a:off x="559572" y="359101"/>
            <a:ext cx="9032836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55BB"/>
              </a:buClr>
              <a:buSzPts val="2800"/>
              <a:buFont typeface="Montserrat"/>
              <a:buNone/>
              <a:defRPr b="1" i="0" sz="2800" u="none" cap="none" strike="noStrike">
                <a:solidFill>
                  <a:srgbClr val="0055BB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16"/>
          <p:cNvSpPr txBox="1"/>
          <p:nvPr>
            <p:ph idx="1" type="body"/>
          </p:nvPr>
        </p:nvSpPr>
        <p:spPr>
          <a:xfrm>
            <a:off x="559572" y="1729294"/>
            <a:ext cx="1348446" cy="3385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BEE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BBEE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222A3F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222A3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5" name="Google Shape;65;p16"/>
          <p:cNvSpPr txBox="1"/>
          <p:nvPr>
            <p:ph idx="2" type="body"/>
          </p:nvPr>
        </p:nvSpPr>
        <p:spPr>
          <a:xfrm>
            <a:off x="559572" y="2409034"/>
            <a:ext cx="164981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22A3F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222A3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66" name="Google Shape;6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525956" y="-144001"/>
            <a:ext cx="2376074" cy="151200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6"/>
          <p:cNvSpPr/>
          <p:nvPr/>
        </p:nvSpPr>
        <p:spPr>
          <a:xfrm>
            <a:off x="11641138" y="6453188"/>
            <a:ext cx="415498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b="0" i="0" lang="ru-RU" sz="1400" u="none" cap="none" strike="noStrike">
                <a:solidFill>
                  <a:srgbClr val="8F9092"/>
                </a:solidFill>
                <a:latin typeface="Montserrat"/>
                <a:ea typeface="Montserrat"/>
                <a:cs typeface="Montserrat"/>
                <a:sym typeface="Montserrat"/>
              </a:rPr>
              <a:t>‹#›</a:t>
            </a:fld>
            <a:endParaRPr b="0" i="0" sz="1400" u="none" cap="none" strike="noStrike">
              <a:solidFill>
                <a:srgbClr val="8F909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391">
          <p15:clr>
            <a:srgbClr val="F26B43"/>
          </p15:clr>
        </p15:guide>
        <p15:guide id="4" orient="horz" pos="4065">
          <p15:clr>
            <a:srgbClr val="F26B43"/>
          </p15:clr>
        </p15:guide>
        <p15:guide id="5" pos="347">
          <p15:clr>
            <a:srgbClr val="F26B43"/>
          </p15:clr>
        </p15:guide>
        <p15:guide id="6" pos="733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6.png"/><Relationship Id="rId4" Type="http://schemas.openxmlformats.org/officeDocument/2006/relationships/image" Target="../media/image22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opennet.ru/man.shtml?topic=ltrace&amp;category=1&amp;russian=2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man7.org/linux/man-pages/man1/strace.1.html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www.sourceware.org/gdb/documentation/" TargetMode="External"/><Relationship Id="rId4" Type="http://schemas.openxmlformats.org/officeDocument/2006/relationships/hyperlink" Target="https://github.com/pwndbg/pwndbg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0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4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3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1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3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6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5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9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0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habr.com/ru/articles/535960/" TargetMode="External"/><Relationship Id="rId4" Type="http://schemas.openxmlformats.org/officeDocument/2006/relationships/hyperlink" Target="https://4xura.com/hacktools/gdb-advanced-debugging-skills/" TargetMode="External"/><Relationship Id="rId9" Type="http://schemas.openxmlformats.org/officeDocument/2006/relationships/hyperlink" Target="https://corgi.rip/posts/pwntools-cheatsheet/" TargetMode="External"/><Relationship Id="rId5" Type="http://schemas.openxmlformats.org/officeDocument/2006/relationships/hyperlink" Target="https://pwndbg.re/stable/commands/" TargetMode="External"/><Relationship Id="rId6" Type="http://schemas.openxmlformats.org/officeDocument/2006/relationships/hyperlink" Target="https://pwn.spbctf.ru/tasks" TargetMode="External"/><Relationship Id="rId7" Type="http://schemas.openxmlformats.org/officeDocument/2006/relationships/hyperlink" Target="https://pwn.college/" TargetMode="External"/><Relationship Id="rId8" Type="http://schemas.openxmlformats.org/officeDocument/2006/relationships/hyperlink" Target="http://play.picoctf.org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"/>
          <p:cNvSpPr txBox="1"/>
          <p:nvPr>
            <p:ph idx="2" type="body"/>
          </p:nvPr>
        </p:nvSpPr>
        <p:spPr>
          <a:xfrm>
            <a:off x="560200" y="2567225"/>
            <a:ext cx="3808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A5A5"/>
              </a:buClr>
              <a:buSzPts val="2400"/>
              <a:buNone/>
            </a:pPr>
            <a:r>
              <a:rPr lang="ru-RU"/>
              <a:t>Бинарные уязвимости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3" name="Google Shape;73;p1"/>
          <p:cNvSpPr txBox="1"/>
          <p:nvPr>
            <p:ph idx="3" type="body"/>
          </p:nvPr>
        </p:nvSpPr>
        <p:spPr>
          <a:xfrm>
            <a:off x="560198" y="3198175"/>
            <a:ext cx="7069555" cy="17542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55BB"/>
              </a:buClr>
              <a:buSzPts val="3600"/>
              <a:buNone/>
            </a:pPr>
            <a:r>
              <a:rPr lang="ru-RU"/>
              <a:t>Модуль 2. Динамический анализ. Введение в бинарные уязвимости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6257ea22eb_0_0"/>
          <p:cNvSpPr txBox="1"/>
          <p:nvPr>
            <p:ph type="title"/>
          </p:nvPr>
        </p:nvSpPr>
        <p:spPr>
          <a:xfrm>
            <a:off x="559572" y="359101"/>
            <a:ext cx="9199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55BB"/>
              </a:buClr>
              <a:buSzPts val="2800"/>
              <a:buFont typeface="Montserrat"/>
              <a:buNone/>
            </a:pPr>
            <a:r>
              <a:rPr lang="ru-RU"/>
              <a:t>План занятия</a:t>
            </a:r>
            <a:endParaRPr/>
          </a:p>
        </p:txBody>
      </p:sp>
      <p:sp>
        <p:nvSpPr>
          <p:cNvPr id="79" name="Google Shape;79;g36257ea22eb_0_0"/>
          <p:cNvSpPr txBox="1"/>
          <p:nvPr>
            <p:ph idx="1" type="body"/>
          </p:nvPr>
        </p:nvSpPr>
        <p:spPr>
          <a:xfrm>
            <a:off x="559574" y="1729300"/>
            <a:ext cx="7033604" cy="7694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BEE"/>
              </a:buClr>
              <a:buSzPts val="1600"/>
              <a:buNone/>
            </a:pPr>
            <a:r>
              <a:rPr lang="ru-RU" sz="2200"/>
              <a:t>Динамический анализ. Введение в бинарные уязвимости</a:t>
            </a:r>
            <a:endParaRPr sz="2200"/>
          </a:p>
        </p:txBody>
      </p:sp>
      <p:sp>
        <p:nvSpPr>
          <p:cNvPr id="80" name="Google Shape;80;g36257ea22eb_0_0"/>
          <p:cNvSpPr txBox="1"/>
          <p:nvPr>
            <p:ph idx="2" type="body"/>
          </p:nvPr>
        </p:nvSpPr>
        <p:spPr>
          <a:xfrm>
            <a:off x="559592" y="2481520"/>
            <a:ext cx="11081700" cy="28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683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Montserrat"/>
              <a:buAutoNum type="arabicPeriod"/>
            </a:pPr>
            <a:r>
              <a:rPr lang="ru-RU" sz="2200"/>
              <a:t>Динамический анализ. Основные способы</a:t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Montserrat"/>
              <a:buAutoNum type="arabicPeriod"/>
            </a:pPr>
            <a:r>
              <a:rPr lang="ru-RU" sz="2200"/>
              <a:t>ltrace</a:t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Montserrat"/>
              <a:buAutoNum type="arabicPeriod"/>
            </a:pPr>
            <a:r>
              <a:rPr lang="ru-RU" sz="2200"/>
              <a:t>strace</a:t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ru-RU" sz="2200"/>
              <a:t>GDB + pwndbg</a:t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ru-RU" sz="2200"/>
              <a:t>pwntools</a:t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ru-RU" sz="2200"/>
              <a:t>Введение в бинарные уязвимости</a:t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ru-RU" sz="2200"/>
              <a:t>Типичные кейсы: переписывание строки, указателя, переполнение int</a:t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Montserrat"/>
              <a:buAutoNum type="arabicPeriod"/>
            </a:pPr>
            <a:r>
              <a:rPr lang="ru-RU" sz="2200"/>
              <a:t>Итоги</a:t>
            </a:r>
            <a:endParaRPr sz="2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cc93861824_0_7"/>
          <p:cNvSpPr txBox="1"/>
          <p:nvPr>
            <p:ph idx="1" type="body"/>
          </p:nvPr>
        </p:nvSpPr>
        <p:spPr>
          <a:xfrm>
            <a:off x="560200" y="3105825"/>
            <a:ext cx="6389700" cy="1200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ru-RU"/>
              <a:t>Динамический анализ. Основные способы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"/>
          <p:cNvSpPr txBox="1"/>
          <p:nvPr>
            <p:ph type="title"/>
          </p:nvPr>
        </p:nvSpPr>
        <p:spPr>
          <a:xfrm>
            <a:off x="559572" y="359101"/>
            <a:ext cx="11081566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</a:pPr>
            <a:r>
              <a:rPr lang="ru-RU"/>
              <a:t>Основные подходы к реверсу</a:t>
            </a:r>
            <a:endParaRPr/>
          </a:p>
        </p:txBody>
      </p:sp>
      <p:sp>
        <p:nvSpPr>
          <p:cNvPr id="91" name="Google Shape;91;p2"/>
          <p:cNvSpPr txBox="1"/>
          <p:nvPr>
            <p:ph idx="1" type="body"/>
          </p:nvPr>
        </p:nvSpPr>
        <p:spPr>
          <a:xfrm>
            <a:off x="559573" y="1729300"/>
            <a:ext cx="41574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</a:pPr>
            <a:r>
              <a:rPr lang="ru-RU" sz="2200"/>
              <a:t>Статический анализ</a:t>
            </a:r>
            <a:endParaRPr sz="2200">
              <a:solidFill>
                <a:schemeClr val="accent2"/>
              </a:solidFill>
            </a:endParaRPr>
          </a:p>
        </p:txBody>
      </p:sp>
      <p:sp>
        <p:nvSpPr>
          <p:cNvPr id="92" name="Google Shape;92;p2"/>
          <p:cNvSpPr txBox="1"/>
          <p:nvPr>
            <p:ph idx="2" type="body"/>
          </p:nvPr>
        </p:nvSpPr>
        <p:spPr>
          <a:xfrm>
            <a:off x="559580" y="2409025"/>
            <a:ext cx="4157400" cy="132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lang="ru-RU" sz="2000"/>
              <a:t>Получаем ассемблерный или исходный код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lang="ru-RU" sz="2000"/>
              <a:t>Исследуем код без запуска</a:t>
            </a:r>
            <a:endParaRPr sz="2000"/>
          </a:p>
        </p:txBody>
      </p:sp>
      <p:sp>
        <p:nvSpPr>
          <p:cNvPr id="93" name="Google Shape;93;p2"/>
          <p:cNvSpPr txBox="1"/>
          <p:nvPr>
            <p:ph idx="1" type="body"/>
          </p:nvPr>
        </p:nvSpPr>
        <p:spPr>
          <a:xfrm>
            <a:off x="5989598" y="1729300"/>
            <a:ext cx="41574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</a:pPr>
            <a:r>
              <a:rPr lang="ru-RU" sz="2200"/>
              <a:t>Динамический анализ</a:t>
            </a:r>
            <a:endParaRPr sz="2200">
              <a:solidFill>
                <a:schemeClr val="accent2"/>
              </a:solidFill>
            </a:endParaRPr>
          </a:p>
        </p:txBody>
      </p:sp>
      <p:sp>
        <p:nvSpPr>
          <p:cNvPr id="94" name="Google Shape;94;p2"/>
          <p:cNvSpPr txBox="1"/>
          <p:nvPr>
            <p:ph idx="2" type="body"/>
          </p:nvPr>
        </p:nvSpPr>
        <p:spPr>
          <a:xfrm>
            <a:off x="5989605" y="2409025"/>
            <a:ext cx="4157400" cy="193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lang="ru-RU" sz="2000"/>
              <a:t>Запускаем программу в отладчике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lang="ru-RU" sz="2000"/>
              <a:t>Исследуем, что происходит на каждом шаге (инструкции, память)</a:t>
            </a:r>
            <a:endParaRPr sz="2000"/>
          </a:p>
        </p:txBody>
      </p:sp>
      <p:grpSp>
        <p:nvGrpSpPr>
          <p:cNvPr id="95" name="Google Shape;95;p2"/>
          <p:cNvGrpSpPr/>
          <p:nvPr/>
        </p:nvGrpSpPr>
        <p:grpSpPr>
          <a:xfrm>
            <a:off x="731387" y="4567458"/>
            <a:ext cx="3813763" cy="1706649"/>
            <a:chOff x="268400" y="4181950"/>
            <a:chExt cx="4448575" cy="1990725"/>
          </a:xfrm>
        </p:grpSpPr>
        <p:pic>
          <p:nvPicPr>
            <p:cNvPr id="96" name="Google Shape;96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68400" y="4181950"/>
              <a:ext cx="1619250" cy="19907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7" name="Google Shape;97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2062669" y="4181950"/>
              <a:ext cx="2654306" cy="199072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98" name="Google Shape;98;p2"/>
          <p:cNvGrpSpPr/>
          <p:nvPr/>
        </p:nvGrpSpPr>
        <p:grpSpPr>
          <a:xfrm>
            <a:off x="5203915" y="4597450"/>
            <a:ext cx="5728772" cy="1706650"/>
            <a:chOff x="5081078" y="4746550"/>
            <a:chExt cx="5728772" cy="1706650"/>
          </a:xfrm>
        </p:grpSpPr>
        <p:pic>
          <p:nvPicPr>
            <p:cNvPr id="99" name="Google Shape;99;p2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5081078" y="4746550"/>
              <a:ext cx="1760722" cy="17066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0" name="Google Shape;100;p2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7119175" y="4746550"/>
              <a:ext cx="1706649" cy="170664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1" name="Google Shape;101;p2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9103200" y="4746550"/>
              <a:ext cx="1706650" cy="17066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"/>
          <p:cNvSpPr txBox="1"/>
          <p:nvPr>
            <p:ph type="title"/>
          </p:nvPr>
        </p:nvSpPr>
        <p:spPr>
          <a:xfrm>
            <a:off x="559572" y="359101"/>
            <a:ext cx="11081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</a:pPr>
            <a:r>
              <a:rPr lang="ru-RU"/>
              <a:t>Основные способы</a:t>
            </a:r>
            <a:endParaRPr/>
          </a:p>
        </p:txBody>
      </p:sp>
      <p:sp>
        <p:nvSpPr>
          <p:cNvPr id="107" name="Google Shape;107;p3"/>
          <p:cNvSpPr txBox="1"/>
          <p:nvPr>
            <p:ph idx="2" type="body"/>
          </p:nvPr>
        </p:nvSpPr>
        <p:spPr>
          <a:xfrm>
            <a:off x="559575" y="1771050"/>
            <a:ext cx="6636600" cy="13233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b="1" lang="ru-RU" sz="2000"/>
              <a:t>ltrace</a:t>
            </a:r>
            <a:r>
              <a:rPr lang="ru-RU" sz="2000"/>
              <a:t> – перехват вызовов библиотечных функций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b="1" lang="ru-RU" sz="2000"/>
              <a:t>strace</a:t>
            </a:r>
            <a:r>
              <a:rPr lang="ru-RU" sz="2000"/>
              <a:t> – перехват системных вызовов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b="1" lang="ru-RU" sz="2000"/>
              <a:t>GDB + pwndbg </a:t>
            </a:r>
            <a:r>
              <a:rPr lang="ru-RU" sz="2000"/>
              <a:t>- отладка</a:t>
            </a:r>
            <a:endParaRPr sz="2000"/>
          </a:p>
        </p:txBody>
      </p:sp>
      <p:pic>
        <p:nvPicPr>
          <p:cNvPr descr="Плагин для ранжирования кода по важности или как я пыталась облегчить жизнь  программистам / Хабр" id="108" name="Google Shape;10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36516" y="1771050"/>
            <a:ext cx="2837314" cy="41920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"/>
          <p:cNvSpPr txBox="1"/>
          <p:nvPr>
            <p:ph type="title"/>
          </p:nvPr>
        </p:nvSpPr>
        <p:spPr>
          <a:xfrm>
            <a:off x="559572" y="359101"/>
            <a:ext cx="11081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</a:pPr>
            <a:r>
              <a:rPr lang="ru-RU"/>
              <a:t>ltrace</a:t>
            </a:r>
            <a:endParaRPr/>
          </a:p>
        </p:txBody>
      </p:sp>
      <p:sp>
        <p:nvSpPr>
          <p:cNvPr id="114" name="Google Shape;114;p5"/>
          <p:cNvSpPr txBox="1"/>
          <p:nvPr>
            <p:ph idx="2" type="body"/>
          </p:nvPr>
        </p:nvSpPr>
        <p:spPr>
          <a:xfrm>
            <a:off x="559575" y="1771050"/>
            <a:ext cx="6636600" cy="255450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ltrace ./main</a:t>
            </a:r>
            <a:endParaRPr i="1"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-e ‘f1 + f2’ – </a:t>
            </a:r>
            <a:r>
              <a:rPr lang="ru-RU" sz="2000"/>
              <a:t>только f1, f2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-e ‘!f1’ – </a:t>
            </a:r>
            <a:r>
              <a:rPr lang="ru-RU" sz="2000"/>
              <a:t>исключить f1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-l lib – </a:t>
            </a:r>
            <a:r>
              <a:rPr lang="ru-RU" sz="2000"/>
              <a:t>библиотека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-s N </a:t>
            </a:r>
            <a:r>
              <a:rPr lang="ru-RU" sz="2000"/>
              <a:t>– длины строк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-r </a:t>
            </a:r>
            <a:r>
              <a:rPr lang="ru-RU" sz="2000"/>
              <a:t>– коды возврата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-f </a:t>
            </a:r>
            <a:r>
              <a:rPr lang="ru-RU" sz="2000"/>
              <a:t>– дочерние процессы</a:t>
            </a:r>
            <a:endParaRPr sz="2000"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</a:pPr>
            <a:r>
              <a:t/>
            </a:r>
            <a:endParaRPr i="1" sz="2000"/>
          </a:p>
        </p:txBody>
      </p:sp>
      <p:grpSp>
        <p:nvGrpSpPr>
          <p:cNvPr id="115" name="Google Shape;115;p5"/>
          <p:cNvGrpSpPr/>
          <p:nvPr/>
        </p:nvGrpSpPr>
        <p:grpSpPr>
          <a:xfrm>
            <a:off x="7607808" y="2309440"/>
            <a:ext cx="2998450" cy="3554599"/>
            <a:chOff x="7988198" y="2777613"/>
            <a:chExt cx="2998450" cy="3554599"/>
          </a:xfrm>
        </p:grpSpPr>
        <p:sp>
          <p:nvSpPr>
            <p:cNvPr id="116" name="Google Shape;116;p5"/>
            <p:cNvSpPr/>
            <p:nvPr/>
          </p:nvSpPr>
          <p:spPr>
            <a:xfrm>
              <a:off x="8266175" y="5698540"/>
              <a:ext cx="2720473" cy="633672"/>
            </a:xfrm>
            <a:prstGeom prst="roundRect">
              <a:avLst>
                <a:gd fmla="val 16667" name="adj"/>
              </a:avLst>
            </a:prstGeom>
            <a:solidFill>
              <a:schemeClr val="dk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000"/>
                <a:buFont typeface="Arial"/>
                <a:buNone/>
              </a:pPr>
              <a:r>
                <a:rPr b="1" i="0" lang="ru-RU" sz="30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libc</a:t>
              </a:r>
              <a:endParaRPr b="1" i="0" sz="3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17" name="Google Shape;117;p5"/>
            <p:cNvSpPr/>
            <p:nvPr/>
          </p:nvSpPr>
          <p:spPr>
            <a:xfrm>
              <a:off x="8266175" y="2777613"/>
              <a:ext cx="2720473" cy="633672"/>
            </a:xfrm>
            <a:prstGeom prst="roundRect">
              <a:avLst>
                <a:gd fmla="val 16667" name="adj"/>
              </a:avLst>
            </a:prstGeom>
            <a:solidFill>
              <a:schemeClr val="dk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000"/>
                <a:buFont typeface="Arial"/>
                <a:buNone/>
              </a:pPr>
              <a:r>
                <a:rPr b="1" i="0" lang="ru-RU" sz="30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main</a:t>
              </a:r>
              <a:endParaRPr b="1" i="0" sz="3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18" name="Google Shape;118;p5"/>
            <p:cNvSpPr/>
            <p:nvPr/>
          </p:nvSpPr>
          <p:spPr>
            <a:xfrm>
              <a:off x="8609990" y="4238076"/>
              <a:ext cx="2032842" cy="633672"/>
            </a:xfrm>
            <a:prstGeom prst="roundRect">
              <a:avLst>
                <a:gd fmla="val 16667" name="adj"/>
              </a:avLst>
            </a:prstGeom>
            <a:solidFill>
              <a:schemeClr val="dk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000"/>
                <a:buFont typeface="Arial"/>
                <a:buNone/>
              </a:pPr>
              <a:r>
                <a:rPr b="1" i="0" lang="ru-RU" sz="30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ltrace</a:t>
              </a:r>
              <a:endParaRPr b="1" i="0" sz="3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19" name="Google Shape;119;p5"/>
            <p:cNvSpPr/>
            <p:nvPr/>
          </p:nvSpPr>
          <p:spPr>
            <a:xfrm>
              <a:off x="9443924" y="3411285"/>
              <a:ext cx="351130" cy="826791"/>
            </a:xfrm>
            <a:prstGeom prst="downArrow">
              <a:avLst>
                <a:gd fmla="val 50000" name="adj1"/>
                <a:gd fmla="val 50000" name="adj2"/>
              </a:avLst>
            </a:prstGeom>
            <a:solidFill>
              <a:schemeClr val="accen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"/>
            <p:cNvSpPr/>
            <p:nvPr/>
          </p:nvSpPr>
          <p:spPr>
            <a:xfrm>
              <a:off x="9450846" y="4871748"/>
              <a:ext cx="351130" cy="826791"/>
            </a:xfrm>
            <a:prstGeom prst="downArrow">
              <a:avLst>
                <a:gd fmla="val 50000" name="adj1"/>
                <a:gd fmla="val 50000" name="adj2"/>
              </a:avLst>
            </a:prstGeom>
            <a:solidFill>
              <a:schemeClr val="accen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"/>
            <p:cNvSpPr txBox="1"/>
            <p:nvPr/>
          </p:nvSpPr>
          <p:spPr>
            <a:xfrm>
              <a:off x="7988198" y="3628339"/>
              <a:ext cx="1345997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ru-RU" sz="1800" u="none" cap="none" strike="noStrike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printf()</a:t>
              </a:r>
              <a:endPara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122" name="Google Shape;122;p5"/>
          <p:cNvSpPr txBox="1"/>
          <p:nvPr/>
        </p:nvSpPr>
        <p:spPr>
          <a:xfrm>
            <a:off x="829266" y="6334798"/>
            <a:ext cx="60972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u="sng">
                <a:solidFill>
                  <a:schemeClr val="hlink"/>
                </a:solidFill>
                <a:hlinkClick r:id="rId3"/>
              </a:rPr>
              <a:t>Проект OpenNet: MAN ltrace (1) Команды и прикладные программы пользовательского уровня (FreeBSD и Linux)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"/>
          <p:cNvSpPr txBox="1"/>
          <p:nvPr>
            <p:ph type="title"/>
          </p:nvPr>
        </p:nvSpPr>
        <p:spPr>
          <a:xfrm>
            <a:off x="559572" y="359101"/>
            <a:ext cx="11081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</a:pPr>
            <a:r>
              <a:rPr lang="ru-RU"/>
              <a:t>strace</a:t>
            </a:r>
            <a:endParaRPr/>
          </a:p>
        </p:txBody>
      </p:sp>
      <p:sp>
        <p:nvSpPr>
          <p:cNvPr id="128" name="Google Shape;128;p6"/>
          <p:cNvSpPr txBox="1"/>
          <p:nvPr>
            <p:ph idx="2" type="body"/>
          </p:nvPr>
        </p:nvSpPr>
        <p:spPr>
          <a:xfrm>
            <a:off x="559575" y="1771050"/>
            <a:ext cx="6636600" cy="255450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strace ./main</a:t>
            </a:r>
            <a:endParaRPr i="1"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-f </a:t>
            </a:r>
            <a:r>
              <a:rPr lang="ru-RU" sz="2000"/>
              <a:t>– дочерние процессы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-e trace=read,write </a:t>
            </a:r>
            <a:r>
              <a:rPr lang="ru-RU" sz="2000"/>
              <a:t>– определённые сисколы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-s N </a:t>
            </a:r>
            <a:r>
              <a:rPr lang="ru-RU" sz="2000"/>
              <a:t>– максимальная длина строк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-T </a:t>
            </a:r>
            <a:r>
              <a:rPr lang="ru-RU" sz="2000"/>
              <a:t>– время выполнения сисколов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-o trace.log </a:t>
            </a:r>
            <a:r>
              <a:rPr lang="ru-RU" sz="2000"/>
              <a:t>– записать в файл</a:t>
            </a:r>
            <a:endParaRPr sz="2000"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</a:pPr>
            <a:r>
              <a:t/>
            </a:r>
            <a:endParaRPr sz="2000"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</a:pPr>
            <a:r>
              <a:t/>
            </a:r>
            <a:endParaRPr i="1" sz="2000"/>
          </a:p>
        </p:txBody>
      </p:sp>
      <p:grpSp>
        <p:nvGrpSpPr>
          <p:cNvPr id="129" name="Google Shape;129;p6"/>
          <p:cNvGrpSpPr/>
          <p:nvPr/>
        </p:nvGrpSpPr>
        <p:grpSpPr>
          <a:xfrm>
            <a:off x="7607808" y="2309440"/>
            <a:ext cx="2998450" cy="3554599"/>
            <a:chOff x="7988198" y="2777613"/>
            <a:chExt cx="2998450" cy="3554599"/>
          </a:xfrm>
        </p:grpSpPr>
        <p:sp>
          <p:nvSpPr>
            <p:cNvPr id="130" name="Google Shape;130;p6"/>
            <p:cNvSpPr/>
            <p:nvPr/>
          </p:nvSpPr>
          <p:spPr>
            <a:xfrm>
              <a:off x="8266175" y="5698540"/>
              <a:ext cx="2720473" cy="633672"/>
            </a:xfrm>
            <a:prstGeom prst="roundRect">
              <a:avLst>
                <a:gd fmla="val 16667" name="adj"/>
              </a:avLst>
            </a:prstGeom>
            <a:solidFill>
              <a:schemeClr val="dk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000"/>
                <a:buFont typeface="Arial"/>
                <a:buNone/>
              </a:pPr>
              <a:r>
                <a:rPr b="1" i="0" lang="ru-RU" sz="30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kernel</a:t>
              </a:r>
              <a:endParaRPr b="1" i="0" sz="3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31" name="Google Shape;131;p6"/>
            <p:cNvSpPr/>
            <p:nvPr/>
          </p:nvSpPr>
          <p:spPr>
            <a:xfrm>
              <a:off x="8266175" y="2777613"/>
              <a:ext cx="2720473" cy="633672"/>
            </a:xfrm>
            <a:prstGeom prst="roundRect">
              <a:avLst>
                <a:gd fmla="val 16667" name="adj"/>
              </a:avLst>
            </a:prstGeom>
            <a:solidFill>
              <a:schemeClr val="dk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000"/>
                <a:buFont typeface="Arial"/>
                <a:buNone/>
              </a:pPr>
              <a:r>
                <a:rPr b="1" i="0" lang="ru-RU" sz="30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main</a:t>
              </a:r>
              <a:endParaRPr b="1" i="0" sz="3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32" name="Google Shape;132;p6"/>
            <p:cNvSpPr/>
            <p:nvPr/>
          </p:nvSpPr>
          <p:spPr>
            <a:xfrm>
              <a:off x="8609990" y="4238076"/>
              <a:ext cx="2032842" cy="633672"/>
            </a:xfrm>
            <a:prstGeom prst="roundRect">
              <a:avLst>
                <a:gd fmla="val 16667" name="adj"/>
              </a:avLst>
            </a:prstGeom>
            <a:solidFill>
              <a:schemeClr val="dk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000"/>
                <a:buFont typeface="Arial"/>
                <a:buNone/>
              </a:pPr>
              <a:r>
                <a:rPr b="1" i="0" lang="ru-RU" sz="3000" u="none" cap="none" strike="noStrike">
                  <a:solidFill>
                    <a:schemeClr val="lt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strace</a:t>
              </a:r>
              <a:endParaRPr b="1" i="0" sz="3000" u="none" cap="none" strike="noStrik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  <p:sp>
          <p:nvSpPr>
            <p:cNvPr id="133" name="Google Shape;133;p6"/>
            <p:cNvSpPr/>
            <p:nvPr/>
          </p:nvSpPr>
          <p:spPr>
            <a:xfrm>
              <a:off x="9443924" y="3411285"/>
              <a:ext cx="351130" cy="826791"/>
            </a:xfrm>
            <a:prstGeom prst="downArrow">
              <a:avLst>
                <a:gd fmla="val 50000" name="adj1"/>
                <a:gd fmla="val 50000" name="adj2"/>
              </a:avLst>
            </a:prstGeom>
            <a:solidFill>
              <a:schemeClr val="accen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" name="Google Shape;134;p6"/>
            <p:cNvSpPr/>
            <p:nvPr/>
          </p:nvSpPr>
          <p:spPr>
            <a:xfrm>
              <a:off x="9450846" y="4871748"/>
              <a:ext cx="351130" cy="826791"/>
            </a:xfrm>
            <a:prstGeom prst="downArrow">
              <a:avLst>
                <a:gd fmla="val 50000" name="adj1"/>
                <a:gd fmla="val 50000" name="adj2"/>
              </a:avLst>
            </a:prstGeom>
            <a:solidFill>
              <a:schemeClr val="accent1"/>
            </a:solidFill>
            <a:ln cap="flat" cmpd="sng" w="254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" name="Google Shape;135;p6"/>
            <p:cNvSpPr txBox="1"/>
            <p:nvPr/>
          </p:nvSpPr>
          <p:spPr>
            <a:xfrm>
              <a:off x="7988198" y="3628339"/>
              <a:ext cx="1345997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ru-RU" sz="1800" u="none" cap="none" strike="noStrike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rPr>
                <a:t>write()</a:t>
              </a:r>
              <a:endPara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sp>
        <p:nvSpPr>
          <p:cNvPr id="136" name="Google Shape;136;p6"/>
          <p:cNvSpPr txBox="1"/>
          <p:nvPr/>
        </p:nvSpPr>
        <p:spPr>
          <a:xfrm>
            <a:off x="915916" y="6550198"/>
            <a:ext cx="6097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u="sng">
                <a:solidFill>
                  <a:schemeClr val="hlink"/>
                </a:solidFill>
                <a:hlinkClick r:id="rId3"/>
              </a:rPr>
              <a:t>strace(1) - Linux manual page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7"/>
          <p:cNvSpPr txBox="1"/>
          <p:nvPr>
            <p:ph type="title"/>
          </p:nvPr>
        </p:nvSpPr>
        <p:spPr>
          <a:xfrm>
            <a:off x="559572" y="359101"/>
            <a:ext cx="11081566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</a:pPr>
            <a:r>
              <a:rPr lang="ru-RU"/>
              <a:t>Отладка</a:t>
            </a:r>
            <a:endParaRPr/>
          </a:p>
        </p:txBody>
      </p:sp>
      <p:sp>
        <p:nvSpPr>
          <p:cNvPr id="142" name="Google Shape;142;p7"/>
          <p:cNvSpPr txBox="1"/>
          <p:nvPr>
            <p:ph idx="1" type="body"/>
          </p:nvPr>
        </p:nvSpPr>
        <p:spPr>
          <a:xfrm>
            <a:off x="559573" y="1729300"/>
            <a:ext cx="41574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</a:pPr>
            <a:r>
              <a:rPr lang="ru-RU" sz="2200" u="sng">
                <a:solidFill>
                  <a:schemeClr val="hlink"/>
                </a:solidFill>
                <a:hlinkClick r:id="rId3"/>
              </a:rPr>
              <a:t>GDB</a:t>
            </a:r>
            <a:endParaRPr sz="2200">
              <a:solidFill>
                <a:schemeClr val="accent2"/>
              </a:solidFill>
            </a:endParaRPr>
          </a:p>
        </p:txBody>
      </p:sp>
      <p:sp>
        <p:nvSpPr>
          <p:cNvPr id="143" name="Google Shape;143;p7"/>
          <p:cNvSpPr txBox="1"/>
          <p:nvPr>
            <p:ph idx="2" type="body"/>
          </p:nvPr>
        </p:nvSpPr>
        <p:spPr>
          <a:xfrm>
            <a:off x="559580" y="2409025"/>
            <a:ext cx="4157400" cy="378561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4445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</a:pPr>
            <a:r>
              <a:rPr lang="ru-RU" sz="2000"/>
              <a:t>Основной консольный отладчик в Linux</a:t>
            </a:r>
            <a:endParaRPr/>
          </a:p>
          <a:p>
            <a:pPr indent="-342900" lvl="0" marL="4445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</a:pPr>
            <a:r>
              <a:rPr lang="ru-RU" sz="2000"/>
              <a:t>Позволяет ставить точки останова, выполнять программу по шагам, смотреть память и дизассемблированный код</a:t>
            </a:r>
            <a:endParaRPr/>
          </a:p>
          <a:p>
            <a:pPr indent="-342900" lvl="0" marL="4445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</a:pPr>
            <a:r>
              <a:rPr lang="ru-RU" sz="2000"/>
              <a:t>Если программа с отладочными символами, будет виден исходный код</a:t>
            </a:r>
            <a:endParaRPr sz="2000"/>
          </a:p>
        </p:txBody>
      </p:sp>
      <p:sp>
        <p:nvSpPr>
          <p:cNvPr id="144" name="Google Shape;144;p7"/>
          <p:cNvSpPr txBox="1"/>
          <p:nvPr>
            <p:ph idx="1" type="body"/>
          </p:nvPr>
        </p:nvSpPr>
        <p:spPr>
          <a:xfrm>
            <a:off x="5989598" y="1729300"/>
            <a:ext cx="41574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</a:pPr>
            <a:r>
              <a:rPr lang="ru-RU" sz="2200" u="sng">
                <a:solidFill>
                  <a:schemeClr val="hlink"/>
                </a:solidFill>
                <a:hlinkClick r:id="rId4"/>
              </a:rPr>
              <a:t>pwndbg</a:t>
            </a:r>
            <a:endParaRPr sz="2200">
              <a:solidFill>
                <a:schemeClr val="accent2"/>
              </a:solidFill>
            </a:endParaRPr>
          </a:p>
        </p:txBody>
      </p:sp>
      <p:sp>
        <p:nvSpPr>
          <p:cNvPr id="145" name="Google Shape;145;p7"/>
          <p:cNvSpPr txBox="1"/>
          <p:nvPr>
            <p:ph idx="2" type="body"/>
          </p:nvPr>
        </p:nvSpPr>
        <p:spPr>
          <a:xfrm>
            <a:off x="5989605" y="2409025"/>
            <a:ext cx="4157400" cy="1631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</a:pPr>
            <a:r>
              <a:rPr lang="ru-RU" sz="2000"/>
              <a:t>Плагин для GDB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</a:pPr>
            <a:r>
              <a:rPr lang="ru-RU" sz="2000"/>
              <a:t>Делает анализ нагляднее и удобнее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</a:pPr>
            <a:r>
              <a:rPr lang="ru-RU" sz="2000"/>
              <a:t>Добавляет новые функции</a:t>
            </a:r>
            <a:endParaRPr sz="2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8"/>
          <p:cNvSpPr txBox="1"/>
          <p:nvPr>
            <p:ph type="title"/>
          </p:nvPr>
        </p:nvSpPr>
        <p:spPr>
          <a:xfrm>
            <a:off x="559572" y="359101"/>
            <a:ext cx="11081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</a:pPr>
            <a:r>
              <a:rPr lang="ru-RU"/>
              <a:t>Запуск и подготовка к отладке</a:t>
            </a:r>
            <a:endParaRPr/>
          </a:p>
        </p:txBody>
      </p:sp>
      <p:sp>
        <p:nvSpPr>
          <p:cNvPr id="151" name="Google Shape;151;p8"/>
          <p:cNvSpPr txBox="1"/>
          <p:nvPr>
            <p:ph idx="2" type="body"/>
          </p:nvPr>
        </p:nvSpPr>
        <p:spPr>
          <a:xfrm>
            <a:off x="559575" y="1771050"/>
            <a:ext cx="6636600" cy="317005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gdb ./main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lang="ru-RU" sz="2000"/>
              <a:t>gdb –args ./main secret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lang="ru-RU" sz="2000"/>
              <a:t>set args secret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lang="ru-RU" sz="2000"/>
              <a:t>show args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lang="ru-RU" sz="2000"/>
              <a:t>run / r (далее можно написать аргументы командной строки)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lang="ru-RU" sz="2000"/>
              <a:t>quit / q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</a:pPr>
            <a:r>
              <a:t/>
            </a:r>
            <a:endParaRPr sz="2000"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</a:pPr>
            <a:r>
              <a:t/>
            </a:r>
            <a:endParaRPr sz="2000"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</a:pPr>
            <a:r>
              <a:t/>
            </a:r>
            <a:endParaRPr i="1" sz="2000"/>
          </a:p>
        </p:txBody>
      </p:sp>
      <p:pic>
        <p:nvPicPr>
          <p:cNvPr descr="Devlopment #Developer #Debug #Debugging #Meme #FunnyFriday #FridayFun  #Caddycode" id="152" name="Google Shape;152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12710" y="2417470"/>
            <a:ext cx="3849540" cy="3082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9"/>
          <p:cNvSpPr txBox="1"/>
          <p:nvPr>
            <p:ph type="title"/>
          </p:nvPr>
        </p:nvSpPr>
        <p:spPr>
          <a:xfrm>
            <a:off x="559572" y="359101"/>
            <a:ext cx="11081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</a:pPr>
            <a:r>
              <a:rPr lang="ru-RU"/>
              <a:t>Точки останова (breakpoints)</a:t>
            </a:r>
            <a:endParaRPr/>
          </a:p>
        </p:txBody>
      </p:sp>
      <p:sp>
        <p:nvSpPr>
          <p:cNvPr id="158" name="Google Shape;158;p19"/>
          <p:cNvSpPr txBox="1"/>
          <p:nvPr>
            <p:ph idx="2" type="body"/>
          </p:nvPr>
        </p:nvSpPr>
        <p:spPr>
          <a:xfrm>
            <a:off x="559575" y="1771050"/>
            <a:ext cx="6636600" cy="40933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lang="ru-RU" sz="2000"/>
              <a:t>Программные</a:t>
            </a:r>
            <a:endParaRPr sz="2000"/>
          </a:p>
          <a:p>
            <a:pPr indent="-457200" lvl="1" marL="10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</a:pPr>
            <a:r>
              <a:rPr lang="ru-RU" sz="2000">
                <a:latin typeface="Montserrat"/>
                <a:ea typeface="Montserrat"/>
                <a:cs typeface="Montserrat"/>
                <a:sym typeface="Montserrat"/>
              </a:rPr>
              <a:t>Инструкция запоминается и заменяется на int3 – исключение</a:t>
            </a:r>
            <a:endParaRPr/>
          </a:p>
          <a:p>
            <a:pPr indent="-457200" lvl="1" marL="10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</a:pPr>
            <a:r>
              <a:rPr lang="ru-RU" sz="2000">
                <a:latin typeface="Montserrat"/>
                <a:ea typeface="Montserrat"/>
                <a:cs typeface="Montserrat"/>
                <a:sym typeface="Montserrat"/>
              </a:rPr>
              <a:t>Отладчик обрабатывает исключение и восстанавливает инструкцию</a:t>
            </a:r>
            <a:endParaRPr/>
          </a:p>
          <a:p>
            <a:pPr indent="-457200" lvl="1" marL="10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</a:pPr>
            <a:r>
              <a:rPr lang="ru-RU" sz="2000" u="sng">
                <a:latin typeface="Montserrat"/>
                <a:ea typeface="Montserrat"/>
                <a:cs typeface="Montserrat"/>
                <a:sym typeface="Montserrat"/>
              </a:rPr>
              <a:t>Неограниченное кол-во, любой код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lang="ru-RU" sz="2000"/>
              <a:t>Аппаратные</a:t>
            </a:r>
            <a:endParaRPr/>
          </a:p>
          <a:p>
            <a:pPr indent="-457200" lvl="1" marL="10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</a:pPr>
            <a:r>
              <a:rPr lang="ru-RU" sz="2000">
                <a:latin typeface="Montserrat"/>
                <a:ea typeface="Montserrat"/>
                <a:cs typeface="Montserrat"/>
                <a:sym typeface="Montserrat"/>
              </a:rPr>
              <a:t>Использует debug-регистры процессора </a:t>
            </a:r>
            <a:r>
              <a:rPr b="1" lang="ru-RU" sz="2000">
                <a:latin typeface="Montserrat"/>
                <a:ea typeface="Montserrat"/>
                <a:cs typeface="Montserrat"/>
                <a:sym typeface="Montserrat"/>
              </a:rPr>
              <a:t>DR0-DR7</a:t>
            </a:r>
            <a:endParaRPr/>
          </a:p>
          <a:p>
            <a:pPr indent="-457200" lvl="1" marL="10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</a:pPr>
            <a:r>
              <a:rPr lang="ru-RU" sz="2000">
                <a:latin typeface="Montserrat"/>
                <a:ea typeface="Montserrat"/>
                <a:cs typeface="Montserrat"/>
                <a:sym typeface="Montserrat"/>
              </a:rPr>
              <a:t>4 брейкпоинта, не модифицируют код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lang="ru-RU" sz="2000"/>
              <a:t>На область памяти (watchpoints)</a:t>
            </a:r>
            <a:endParaRPr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</a:pPr>
            <a:r>
              <a:t/>
            </a:r>
            <a:endParaRPr sz="2000"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</a:pPr>
            <a:r>
              <a:t/>
            </a:r>
            <a:endParaRPr i="1" sz="2000"/>
          </a:p>
        </p:txBody>
      </p:sp>
      <p:pic>
        <p:nvPicPr>
          <p:cNvPr descr="This is the right way : r/ProgrammerHumor" id="159" name="Google Shape;159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02829" y="1456184"/>
            <a:ext cx="3087013" cy="44082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0"/>
          <p:cNvSpPr txBox="1"/>
          <p:nvPr>
            <p:ph type="title"/>
          </p:nvPr>
        </p:nvSpPr>
        <p:spPr>
          <a:xfrm>
            <a:off x="559572" y="359101"/>
            <a:ext cx="11081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</a:pPr>
            <a:r>
              <a:rPr lang="ru-RU"/>
              <a:t>Точки останова (breakpoints)</a:t>
            </a:r>
            <a:endParaRPr/>
          </a:p>
        </p:txBody>
      </p:sp>
      <p:sp>
        <p:nvSpPr>
          <p:cNvPr id="165" name="Google Shape;165;p20"/>
          <p:cNvSpPr txBox="1"/>
          <p:nvPr>
            <p:ph idx="2" type="body"/>
          </p:nvPr>
        </p:nvSpPr>
        <p:spPr>
          <a:xfrm>
            <a:off x="559574" y="1771050"/>
            <a:ext cx="7132539" cy="317005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break / b main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b main.c:10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b *0x52525252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info break / i b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delete – </a:t>
            </a:r>
            <a:r>
              <a:rPr lang="ru-RU" sz="2000"/>
              <a:t>удалить все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delete 1 – </a:t>
            </a:r>
            <a:r>
              <a:rPr lang="ru-RU" sz="2000"/>
              <a:t>удалить первый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enable 1 / disable 1 – </a:t>
            </a:r>
            <a:r>
              <a:rPr lang="ru-RU" sz="2000"/>
              <a:t>активировать / деактивировать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condition 1 argc == 5 – </a:t>
            </a:r>
            <a:r>
              <a:rPr lang="ru-RU" sz="2000"/>
              <a:t>условие срабатывания</a:t>
            </a:r>
            <a:endParaRPr sz="2000"/>
          </a:p>
          <a:p>
            <a: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None/>
            </a:pPr>
            <a:r>
              <a:t/>
            </a:r>
            <a:endParaRPr i="1" sz="2000"/>
          </a:p>
        </p:txBody>
      </p:sp>
      <p:pic>
        <p:nvPicPr>
          <p:cNvPr descr="Breakpoints Memes · ProgrammerHumor.io" id="166" name="Google Shape;166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92114" y="1998041"/>
            <a:ext cx="3605072" cy="36394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1"/>
          <p:cNvSpPr txBox="1"/>
          <p:nvPr>
            <p:ph type="title"/>
          </p:nvPr>
        </p:nvSpPr>
        <p:spPr>
          <a:xfrm>
            <a:off x="559572" y="359101"/>
            <a:ext cx="11081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</a:pPr>
            <a:r>
              <a:rPr lang="ru-RU"/>
              <a:t>Управление выполнением</a:t>
            </a:r>
            <a:endParaRPr/>
          </a:p>
        </p:txBody>
      </p:sp>
      <p:sp>
        <p:nvSpPr>
          <p:cNvPr id="172" name="Google Shape;172;p21"/>
          <p:cNvSpPr txBox="1"/>
          <p:nvPr>
            <p:ph idx="2" type="body"/>
          </p:nvPr>
        </p:nvSpPr>
        <p:spPr>
          <a:xfrm>
            <a:off x="559574" y="1771050"/>
            <a:ext cx="7132539" cy="28622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next / n – </a:t>
            </a:r>
            <a:r>
              <a:rPr lang="ru-RU" sz="2000"/>
              <a:t>следующая строка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ni – </a:t>
            </a:r>
            <a:r>
              <a:rPr lang="ru-RU" sz="2000"/>
              <a:t>следующая ассемблерная инструкция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step / s – </a:t>
            </a:r>
            <a:r>
              <a:rPr lang="ru-RU" sz="2000"/>
              <a:t>шаг с заходом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si – </a:t>
            </a:r>
            <a:r>
              <a:rPr lang="ru-RU" sz="2000"/>
              <a:t>следующая инструкция с заходом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continue / c – </a:t>
            </a:r>
            <a:r>
              <a:rPr lang="ru-RU" sz="2000"/>
              <a:t>продолжить выполнение 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finish – </a:t>
            </a:r>
            <a:r>
              <a:rPr lang="ru-RU" sz="2000"/>
              <a:t>выполнить текущую функцию до возврата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until 10 – </a:t>
            </a:r>
            <a:r>
              <a:rPr lang="ru-RU" sz="2000"/>
              <a:t>выполнить до 10 строки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start – </a:t>
            </a:r>
            <a:r>
              <a:rPr lang="ru-RU" sz="2000"/>
              <a:t>выполнить до entrypoint</a:t>
            </a:r>
            <a:endParaRPr sz="2000"/>
          </a:p>
        </p:txBody>
      </p:sp>
      <p:pic>
        <p:nvPicPr>
          <p:cNvPr descr="Step by step debugging : r/ProgrammerHumor" id="173" name="Google Shape;173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8625" y="2573155"/>
            <a:ext cx="4220834" cy="26380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2"/>
          <p:cNvSpPr txBox="1"/>
          <p:nvPr>
            <p:ph type="title"/>
          </p:nvPr>
        </p:nvSpPr>
        <p:spPr>
          <a:xfrm>
            <a:off x="559572" y="359101"/>
            <a:ext cx="11081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</a:pPr>
            <a:r>
              <a:rPr lang="ru-RU"/>
              <a:t>Просмотр исходного кода</a:t>
            </a:r>
            <a:endParaRPr/>
          </a:p>
        </p:txBody>
      </p:sp>
      <p:sp>
        <p:nvSpPr>
          <p:cNvPr id="179" name="Google Shape;179;p22"/>
          <p:cNvSpPr txBox="1"/>
          <p:nvPr>
            <p:ph idx="2" type="body"/>
          </p:nvPr>
        </p:nvSpPr>
        <p:spPr>
          <a:xfrm>
            <a:off x="559574" y="1771050"/>
            <a:ext cx="7132539" cy="1631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list / l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lang="ru-RU" sz="2000"/>
              <a:t>list main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lang="ru-RU" sz="2000"/>
              <a:t>list 1,20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lang="ru-RU" sz="2000"/>
              <a:t>info source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lang="ru-RU" sz="2000"/>
              <a:t>directory src/ </a:t>
            </a:r>
            <a:endParaRPr sz="2000"/>
          </a:p>
        </p:txBody>
      </p:sp>
      <p:pic>
        <p:nvPicPr>
          <p:cNvPr descr="Print statements &amp;gt;&amp;gt;&amp;gt; · ProgrammerHumor.io" id="180" name="Google Shape;180;p22"/>
          <p:cNvPicPr preferRelativeResize="0"/>
          <p:nvPr/>
        </p:nvPicPr>
        <p:blipFill rotWithShape="1">
          <a:blip r:embed="rId3">
            <a:alphaModFix/>
          </a:blip>
          <a:srcRect b="3123" l="0" r="0" t="0"/>
          <a:stretch/>
        </p:blipFill>
        <p:spPr>
          <a:xfrm>
            <a:off x="7358738" y="1771050"/>
            <a:ext cx="3995062" cy="392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3"/>
          <p:cNvSpPr txBox="1"/>
          <p:nvPr>
            <p:ph type="title"/>
          </p:nvPr>
        </p:nvSpPr>
        <p:spPr>
          <a:xfrm>
            <a:off x="559572" y="359101"/>
            <a:ext cx="11081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</a:pPr>
            <a:r>
              <a:rPr lang="ru-RU"/>
              <a:t>Переменные, выражения, память</a:t>
            </a:r>
            <a:endParaRPr/>
          </a:p>
        </p:txBody>
      </p:sp>
      <p:sp>
        <p:nvSpPr>
          <p:cNvPr id="186" name="Google Shape;186;p23"/>
          <p:cNvSpPr txBox="1"/>
          <p:nvPr>
            <p:ph idx="2" type="body"/>
          </p:nvPr>
        </p:nvSpPr>
        <p:spPr>
          <a:xfrm>
            <a:off x="559574" y="1771050"/>
            <a:ext cx="7132539" cy="16311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print / p argc</a:t>
            </a:r>
            <a:endParaRPr i="1"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print &amp;argc</a:t>
            </a:r>
            <a:endParaRPr i="1"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print argv[1]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set var argc = 4</a:t>
            </a:r>
            <a:endParaRPr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x /[n][f][u] &lt;адрес&gt;</a:t>
            </a:r>
            <a:endParaRPr/>
          </a:p>
        </p:txBody>
      </p:sp>
      <p:pic>
        <p:nvPicPr>
          <p:cNvPr descr="Изображение выглядит как текст, снимок экрана&#10;&#10;Содержимое, созданное искусственным интеллектом, может быть неверным." id="187" name="Google Shape;18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238251"/>
            <a:ext cx="3257550" cy="554806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Изображение выглядит как текст, снимок экрана, Шрифт, дизайн&#10;&#10;Содержимое, созданное искусственным интеллектом, может быть неверным." id="188" name="Google Shape;188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67800" y="1242013"/>
            <a:ext cx="2759115" cy="33109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4"/>
          <p:cNvSpPr txBox="1"/>
          <p:nvPr>
            <p:ph type="title"/>
          </p:nvPr>
        </p:nvSpPr>
        <p:spPr>
          <a:xfrm>
            <a:off x="559572" y="359101"/>
            <a:ext cx="11081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</a:pPr>
            <a:r>
              <a:rPr lang="ru-RU"/>
              <a:t>Наблюдение и автоматизация</a:t>
            </a:r>
            <a:endParaRPr/>
          </a:p>
        </p:txBody>
      </p:sp>
      <p:sp>
        <p:nvSpPr>
          <p:cNvPr id="194" name="Google Shape;194;p24"/>
          <p:cNvSpPr txBox="1"/>
          <p:nvPr>
            <p:ph idx="2" type="body"/>
          </p:nvPr>
        </p:nvSpPr>
        <p:spPr>
          <a:xfrm>
            <a:off x="559574" y="1771050"/>
            <a:ext cx="7132539" cy="19389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watch x – </a:t>
            </a:r>
            <a:r>
              <a:rPr lang="ru-RU" sz="2000"/>
              <a:t>на запись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rwatch x – </a:t>
            </a:r>
            <a:r>
              <a:rPr lang="ru-RU" sz="2000"/>
              <a:t>на чтение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awatch x – </a:t>
            </a:r>
            <a:r>
              <a:rPr lang="ru-RU" sz="2000"/>
              <a:t>на чтение и запись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/>
              <a:t>commands 1</a:t>
            </a:r>
            <a:endParaRPr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>
                <a:latin typeface="Montserrat"/>
                <a:ea typeface="Montserrat"/>
                <a:cs typeface="Montserrat"/>
                <a:sym typeface="Montserrat"/>
              </a:rPr>
              <a:t>print x</a:t>
            </a:r>
            <a:endParaRPr/>
          </a:p>
          <a:p>
            <a:pPr indent="-3556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i="1" lang="ru-RU" sz="2000">
                <a:latin typeface="Montserrat"/>
                <a:ea typeface="Montserrat"/>
                <a:cs typeface="Montserrat"/>
                <a:sym typeface="Montserrat"/>
              </a:rPr>
              <a:t>end</a:t>
            </a:r>
            <a:endParaRPr/>
          </a:p>
        </p:txBody>
      </p:sp>
      <p:pic>
        <p:nvPicPr>
          <p:cNvPr descr="Мем: &quot;продолжаю наблюдение&quot; - Все шаблоны - Meme-arsenal.com" id="195" name="Google Shape;195;p24"/>
          <p:cNvPicPr preferRelativeResize="0"/>
          <p:nvPr/>
        </p:nvPicPr>
        <p:blipFill rotWithShape="1">
          <a:blip r:embed="rId3">
            <a:alphaModFix/>
          </a:blip>
          <a:srcRect b="5570" l="0" r="0" t="0"/>
          <a:stretch/>
        </p:blipFill>
        <p:spPr>
          <a:xfrm>
            <a:off x="6380921" y="2230030"/>
            <a:ext cx="5007925" cy="30977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d0496d8fde_0_7"/>
          <p:cNvSpPr txBox="1"/>
          <p:nvPr>
            <p:ph idx="1" type="body"/>
          </p:nvPr>
        </p:nvSpPr>
        <p:spPr>
          <a:xfrm>
            <a:off x="560200" y="3105825"/>
            <a:ext cx="63897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ru-RU"/>
              <a:t>pwntools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0496d8fde_0_69"/>
          <p:cNvSpPr txBox="1"/>
          <p:nvPr>
            <p:ph type="title"/>
          </p:nvPr>
        </p:nvSpPr>
        <p:spPr>
          <a:xfrm>
            <a:off x="559572" y="359101"/>
            <a:ext cx="11081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</a:pPr>
            <a:r>
              <a:rPr lang="ru-RU"/>
              <a:t>Установка библиотеки</a:t>
            </a:r>
            <a:endParaRPr/>
          </a:p>
        </p:txBody>
      </p:sp>
      <p:sp>
        <p:nvSpPr>
          <p:cNvPr id="206" name="Google Shape;206;g3d0496d8fde_0_69"/>
          <p:cNvSpPr txBox="1"/>
          <p:nvPr>
            <p:ph idx="2" type="body"/>
          </p:nvPr>
        </p:nvSpPr>
        <p:spPr>
          <a:xfrm>
            <a:off x="559574" y="1771050"/>
            <a:ext cx="7132500" cy="193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000"/>
              <a:t>pwntools</a:t>
            </a:r>
            <a:r>
              <a:rPr lang="ru-RU" sz="2000"/>
              <a:t> - библиотека для автоматизации pwn-задач и работы с бинарными файлами</a:t>
            </a:r>
            <a:endParaRPr sz="20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pip install pwntools</a:t>
            </a:r>
            <a:endParaRPr i="1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from pwn import *</a:t>
            </a:r>
            <a:endParaRPr i="1" sz="2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d0496d8fde_0_85"/>
          <p:cNvSpPr txBox="1"/>
          <p:nvPr>
            <p:ph type="title"/>
          </p:nvPr>
        </p:nvSpPr>
        <p:spPr>
          <a:xfrm>
            <a:off x="559572" y="359101"/>
            <a:ext cx="11081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</a:pPr>
            <a:r>
              <a:rPr lang="ru-RU"/>
              <a:t>Запуск и подключение</a:t>
            </a:r>
            <a:endParaRPr/>
          </a:p>
        </p:txBody>
      </p:sp>
      <p:sp>
        <p:nvSpPr>
          <p:cNvPr id="212" name="Google Shape;212;g3d0496d8fde_0_85"/>
          <p:cNvSpPr txBox="1"/>
          <p:nvPr>
            <p:ph idx="2" type="body"/>
          </p:nvPr>
        </p:nvSpPr>
        <p:spPr>
          <a:xfrm>
            <a:off x="559574" y="1771050"/>
            <a:ext cx="7132500" cy="132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p = process('./binary') - локальный процесс</a:t>
            </a:r>
            <a:endParaRPr i="1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p = remote('192.168.52.52', 1337) </a:t>
            </a:r>
            <a:r>
              <a:rPr lang="ru-RU" sz="2000"/>
              <a:t>- удалённый процесс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p = remote('ctf.example.com', 5000)</a:t>
            </a:r>
            <a:endParaRPr b="1" sz="20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d0496d8fde_0_77"/>
          <p:cNvSpPr txBox="1"/>
          <p:nvPr>
            <p:ph type="title"/>
          </p:nvPr>
        </p:nvSpPr>
        <p:spPr>
          <a:xfrm>
            <a:off x="559572" y="359101"/>
            <a:ext cx="11081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</a:pPr>
            <a:r>
              <a:rPr lang="ru-RU"/>
              <a:t>Отправка данных</a:t>
            </a:r>
            <a:endParaRPr/>
          </a:p>
        </p:txBody>
      </p:sp>
      <p:sp>
        <p:nvSpPr>
          <p:cNvPr id="218" name="Google Shape;218;g3d0496d8fde_0_77"/>
          <p:cNvSpPr txBox="1"/>
          <p:nvPr>
            <p:ph idx="2" type="body"/>
          </p:nvPr>
        </p:nvSpPr>
        <p:spPr>
          <a:xfrm>
            <a:off x="559575" y="1771050"/>
            <a:ext cx="8727300" cy="286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p.send(data) </a:t>
            </a:r>
            <a:r>
              <a:rPr lang="ru-RU" sz="2000"/>
              <a:t>- отправить байты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p.sendline(data) </a:t>
            </a:r>
            <a:r>
              <a:rPr lang="ru-RU" sz="2000"/>
              <a:t>- отправить + \n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p.sendafter(s, data) </a:t>
            </a:r>
            <a:r>
              <a:rPr lang="ru-RU" sz="2000"/>
              <a:t>- подождать строку s, затем отправить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p.sendlineafter(s, data)</a:t>
            </a:r>
            <a:endParaRPr i="1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000"/>
              <a:t>Примеры:</a:t>
            </a:r>
            <a:endParaRPr b="1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p.sendline(b"test")</a:t>
            </a:r>
            <a:endParaRPr i="1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p.sendlineafter(b"Input:", payload)</a:t>
            </a:r>
            <a:endParaRPr i="1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p.send(b"A" * 16)</a:t>
            </a:r>
            <a:endParaRPr b="1" sz="20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d0496d8fde_0_93"/>
          <p:cNvSpPr txBox="1"/>
          <p:nvPr>
            <p:ph type="title"/>
          </p:nvPr>
        </p:nvSpPr>
        <p:spPr>
          <a:xfrm>
            <a:off x="559572" y="359101"/>
            <a:ext cx="11081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</a:pPr>
            <a:r>
              <a:rPr lang="ru-RU"/>
              <a:t>Чтение данных</a:t>
            </a:r>
            <a:endParaRPr/>
          </a:p>
        </p:txBody>
      </p:sp>
      <p:sp>
        <p:nvSpPr>
          <p:cNvPr id="224" name="Google Shape;224;g3d0496d8fde_0_93"/>
          <p:cNvSpPr txBox="1"/>
          <p:nvPr>
            <p:ph idx="2" type="body"/>
          </p:nvPr>
        </p:nvSpPr>
        <p:spPr>
          <a:xfrm>
            <a:off x="559575" y="1771050"/>
            <a:ext cx="8727300" cy="286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p.recv(n) </a:t>
            </a:r>
            <a:r>
              <a:rPr lang="ru-RU" sz="2000"/>
              <a:t>- прочитать n байт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p.recvline() </a:t>
            </a:r>
            <a:r>
              <a:rPr lang="ru-RU" sz="2000"/>
              <a:t>- прочитать строку до \n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p.recvuntil(s) </a:t>
            </a:r>
            <a:r>
              <a:rPr lang="ru-RU" sz="2000"/>
              <a:t>- читать до строки s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p.recvall() </a:t>
            </a:r>
            <a:r>
              <a:rPr lang="ru-RU" sz="2000"/>
              <a:t>- прочитать всё до EOF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p.interactive() </a:t>
            </a:r>
            <a:r>
              <a:rPr lang="ru-RU" sz="2000"/>
              <a:t>- передать управление пользователю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000"/>
              <a:t>Примеры:</a:t>
            </a:r>
            <a:endParaRPr b="1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data = p.recvline()</a:t>
            </a:r>
            <a:endParaRPr i="1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p.interactive()</a:t>
            </a:r>
            <a:endParaRPr i="1" sz="20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d0496d8fde_0_100"/>
          <p:cNvSpPr txBox="1"/>
          <p:nvPr>
            <p:ph type="title"/>
          </p:nvPr>
        </p:nvSpPr>
        <p:spPr>
          <a:xfrm>
            <a:off x="559572" y="359101"/>
            <a:ext cx="11081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</a:pPr>
            <a:r>
              <a:rPr lang="ru-RU"/>
              <a:t>Упаковка данных</a:t>
            </a:r>
            <a:endParaRPr/>
          </a:p>
        </p:txBody>
      </p:sp>
      <p:sp>
        <p:nvSpPr>
          <p:cNvPr id="230" name="Google Shape;230;g3d0496d8fde_0_100"/>
          <p:cNvSpPr txBox="1"/>
          <p:nvPr>
            <p:ph idx="2" type="body"/>
          </p:nvPr>
        </p:nvSpPr>
        <p:spPr>
          <a:xfrm>
            <a:off x="559575" y="1771050"/>
            <a:ext cx="8727300" cy="3478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p32(addr) </a:t>
            </a:r>
            <a:r>
              <a:rPr lang="ru-RU" sz="2000"/>
              <a:t>- адрес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p32(addr, endian='big')</a:t>
            </a:r>
            <a:endParaRPr i="1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p64(addr) </a:t>
            </a:r>
            <a:r>
              <a:rPr lang="ru-RU" sz="2000"/>
              <a:t>- little-endian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p64(addr, endian='big') </a:t>
            </a:r>
            <a:r>
              <a:rPr lang="ru-RU" sz="2000"/>
              <a:t>- big-endian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/>
              <a:t>u32(data)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/>
              <a:t>u32(data, endian=’big’)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/>
              <a:t>u64(data) - байты в число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/>
              <a:t>u64(data, endian=’big’)</a:t>
            </a:r>
            <a:endParaRPr sz="20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d0689a4217_0_3"/>
          <p:cNvSpPr txBox="1"/>
          <p:nvPr>
            <p:ph type="title"/>
          </p:nvPr>
        </p:nvSpPr>
        <p:spPr>
          <a:xfrm>
            <a:off x="559572" y="359101"/>
            <a:ext cx="11081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</a:pPr>
            <a:r>
              <a:rPr lang="ru-RU"/>
              <a:t>Работа с ELF</a:t>
            </a:r>
            <a:endParaRPr/>
          </a:p>
        </p:txBody>
      </p:sp>
      <p:sp>
        <p:nvSpPr>
          <p:cNvPr id="236" name="Google Shape;236;g3d0689a4217_0_3"/>
          <p:cNvSpPr txBox="1"/>
          <p:nvPr>
            <p:ph idx="2" type="body"/>
          </p:nvPr>
        </p:nvSpPr>
        <p:spPr>
          <a:xfrm>
            <a:off x="559575" y="1771050"/>
            <a:ext cx="8727300" cy="255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elf = ELF('./binary') </a:t>
            </a:r>
            <a:r>
              <a:rPr lang="ru-RU" sz="2000"/>
              <a:t>- загрузка бинаря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elf.symbols['main']</a:t>
            </a:r>
            <a:r>
              <a:rPr lang="ru-RU" sz="2000"/>
              <a:t> - адрес функции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elf.got['puts']</a:t>
            </a:r>
            <a:r>
              <a:rPr lang="ru-RU" sz="2000"/>
              <a:t> - адрес GOT-записи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elf.plt['puts'] </a:t>
            </a:r>
            <a:r>
              <a:rPr lang="ru-RU" sz="2000"/>
              <a:t>- адрес PLT-записи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ru-RU" sz="2000"/>
              <a:t>elf.address </a:t>
            </a:r>
            <a:r>
              <a:rPr lang="ru-RU" sz="2000"/>
              <a:t>- базовый адрес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0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d0496d8fde_0_65"/>
          <p:cNvSpPr txBox="1"/>
          <p:nvPr>
            <p:ph idx="1" type="body"/>
          </p:nvPr>
        </p:nvSpPr>
        <p:spPr>
          <a:xfrm>
            <a:off x="560200" y="3105825"/>
            <a:ext cx="63897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ru-RU"/>
              <a:t>Введение в бинарные уязвимости (PWN)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d0496d8fde_0_0"/>
          <p:cNvSpPr txBox="1"/>
          <p:nvPr>
            <p:ph type="title"/>
          </p:nvPr>
        </p:nvSpPr>
        <p:spPr>
          <a:xfrm>
            <a:off x="559572" y="359101"/>
            <a:ext cx="11081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</a:pPr>
            <a:r>
              <a:rPr lang="ru-RU"/>
              <a:t>Что такое PWN?</a:t>
            </a:r>
            <a:endParaRPr/>
          </a:p>
        </p:txBody>
      </p:sp>
      <p:sp>
        <p:nvSpPr>
          <p:cNvPr id="247" name="Google Shape;247;g3d0496d8fde_0_0"/>
          <p:cNvSpPr txBox="1"/>
          <p:nvPr>
            <p:ph idx="2" type="body"/>
          </p:nvPr>
        </p:nvSpPr>
        <p:spPr>
          <a:xfrm>
            <a:off x="559575" y="1771050"/>
            <a:ext cx="6400800" cy="193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AutoNum type="arabicPeriod"/>
            </a:pPr>
            <a:r>
              <a:rPr lang="ru-RU" sz="2000"/>
              <a:t>Эксплуатация уязвимостей в скомпилированных программах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b="1" lang="ru-RU" sz="2000"/>
              <a:t>Цели обычно: </a:t>
            </a:r>
            <a:r>
              <a:rPr lang="ru-RU" sz="2000"/>
              <a:t>выполнить произвольный код, получить shell, повысить привилегии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b="1" lang="ru-RU" sz="2000"/>
              <a:t>Основа</a:t>
            </a:r>
            <a:r>
              <a:rPr lang="ru-RU" sz="2000"/>
              <a:t> - небезопасная работа с памятью, undefined behaviour</a:t>
            </a:r>
            <a:endParaRPr sz="2000"/>
          </a:p>
        </p:txBody>
      </p:sp>
      <p:pic>
        <p:nvPicPr>
          <p:cNvPr id="248" name="Google Shape;248;g3d0496d8fde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60298" y="2494575"/>
            <a:ext cx="4564875" cy="2526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d0496d8fde_0_17"/>
          <p:cNvSpPr txBox="1"/>
          <p:nvPr>
            <p:ph type="title"/>
          </p:nvPr>
        </p:nvSpPr>
        <p:spPr>
          <a:xfrm>
            <a:off x="559572" y="359101"/>
            <a:ext cx="11081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</a:pPr>
            <a:r>
              <a:rPr lang="ru-RU"/>
              <a:t>Язык С</a:t>
            </a:r>
            <a:endParaRPr/>
          </a:p>
        </p:txBody>
      </p:sp>
      <p:sp>
        <p:nvSpPr>
          <p:cNvPr id="254" name="Google Shape;254;g3d0496d8fde_0_17"/>
          <p:cNvSpPr txBox="1"/>
          <p:nvPr>
            <p:ph idx="2" type="body"/>
          </p:nvPr>
        </p:nvSpPr>
        <p:spPr>
          <a:xfrm>
            <a:off x="559575" y="1771050"/>
            <a:ext cx="6400800" cy="193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ru-RU" sz="2000"/>
              <a:t>Компилируемый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ru-RU" sz="2000"/>
              <a:t>Предоставляет полный контроль над системой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ru-RU" sz="2000"/>
              <a:t>Вся ответственность на разработчике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ru-RU" sz="2000"/>
              <a:t>Все данные - байты в памяти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ru-RU" sz="2000"/>
              <a:t>Доступ к данным по указателям (адресам)</a:t>
            </a:r>
            <a:endParaRPr sz="2000"/>
          </a:p>
        </p:txBody>
      </p:sp>
      <p:pic>
        <p:nvPicPr>
          <p:cNvPr id="255" name="Google Shape;255;g3d0496d8fde_0_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59275" y="1972326"/>
            <a:ext cx="3429000" cy="3857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d0496d8fde_0_31"/>
          <p:cNvSpPr txBox="1"/>
          <p:nvPr>
            <p:ph type="title"/>
          </p:nvPr>
        </p:nvSpPr>
        <p:spPr>
          <a:xfrm>
            <a:off x="559572" y="359101"/>
            <a:ext cx="11081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</a:pPr>
            <a:r>
              <a:rPr lang="ru-RU"/>
              <a:t>Адресное пространство</a:t>
            </a:r>
            <a:endParaRPr/>
          </a:p>
        </p:txBody>
      </p:sp>
      <p:sp>
        <p:nvSpPr>
          <p:cNvPr id="261" name="Google Shape;261;g3d0496d8fde_0_31"/>
          <p:cNvSpPr txBox="1"/>
          <p:nvPr>
            <p:ph idx="2" type="body"/>
          </p:nvPr>
        </p:nvSpPr>
        <p:spPr>
          <a:xfrm>
            <a:off x="550875" y="1351350"/>
            <a:ext cx="10584600" cy="193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/>
              <a:t>Разные части программы находятся в разных частях памяти: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b="1" lang="ru-RU" sz="2000"/>
              <a:t>code (.text)</a:t>
            </a:r>
            <a:r>
              <a:rPr lang="ru-RU" sz="2000"/>
              <a:t> - инструкции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b="1" lang="ru-RU" sz="2000"/>
              <a:t>data (.data, .bss)</a:t>
            </a:r>
            <a:r>
              <a:rPr lang="ru-RU" sz="2000"/>
              <a:t> - глобальные переменные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b="1" lang="ru-RU" sz="2000"/>
              <a:t>stack</a:t>
            </a:r>
            <a:r>
              <a:rPr lang="ru-RU" sz="2000"/>
              <a:t> - локальные переменные, адреса возврата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b="1" lang="ru-RU" sz="2000"/>
              <a:t>heap</a:t>
            </a:r>
            <a:r>
              <a:rPr lang="ru-RU" sz="2000"/>
              <a:t> - динамическая память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b="1" lang="ru-RU" sz="2000"/>
              <a:t>lib</a:t>
            </a:r>
            <a:r>
              <a:rPr lang="ru-RU" sz="2000"/>
              <a:t> - библиотеки (libc…)</a:t>
            </a:r>
            <a:endParaRPr sz="2000"/>
          </a:p>
        </p:txBody>
      </p:sp>
      <p:pic>
        <p:nvPicPr>
          <p:cNvPr id="262" name="Google Shape;262;g3d0496d8fde_0_31"/>
          <p:cNvPicPr preferRelativeResize="0"/>
          <p:nvPr/>
        </p:nvPicPr>
        <p:blipFill rotWithShape="1">
          <a:blip r:embed="rId3">
            <a:alphaModFix/>
          </a:blip>
          <a:srcRect b="13801" l="0" r="0" t="0"/>
          <a:stretch/>
        </p:blipFill>
        <p:spPr>
          <a:xfrm>
            <a:off x="1863780" y="3290850"/>
            <a:ext cx="8464434" cy="338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d0496d8fde_0_37"/>
          <p:cNvSpPr txBox="1"/>
          <p:nvPr>
            <p:ph type="title"/>
          </p:nvPr>
        </p:nvSpPr>
        <p:spPr>
          <a:xfrm>
            <a:off x="559572" y="359101"/>
            <a:ext cx="11081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</a:pPr>
            <a:r>
              <a:rPr lang="ru-RU"/>
              <a:t>Си - не memory-safe</a:t>
            </a:r>
            <a:endParaRPr/>
          </a:p>
        </p:txBody>
      </p:sp>
      <p:sp>
        <p:nvSpPr>
          <p:cNvPr id="268" name="Google Shape;268;g3d0496d8fde_0_37"/>
          <p:cNvSpPr txBox="1"/>
          <p:nvPr>
            <p:ph idx="2" type="body"/>
          </p:nvPr>
        </p:nvSpPr>
        <p:spPr>
          <a:xfrm>
            <a:off x="550875" y="1351350"/>
            <a:ext cx="10584600" cy="37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ru-RU" sz="2000"/>
              <a:t>Ввод без контроля длины: </a:t>
            </a:r>
            <a:r>
              <a:rPr b="1" lang="ru-RU" sz="2000"/>
              <a:t>gets(), scanf(“%s”)</a:t>
            </a:r>
            <a:endParaRPr b="1"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ru-RU" sz="2000"/>
              <a:t>Копирование строк: </a:t>
            </a:r>
            <a:r>
              <a:rPr b="1" lang="ru-RU" sz="2000"/>
              <a:t>strcpy(), strcat()</a:t>
            </a:r>
            <a:endParaRPr b="1"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ru-RU" sz="2000"/>
              <a:t>Форматный вывод: </a:t>
            </a:r>
            <a:r>
              <a:rPr b="1" lang="ru-RU" sz="2000"/>
              <a:t>printf(buf)</a:t>
            </a:r>
            <a:endParaRPr b="1"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ru-RU" sz="2000"/>
              <a:t>…</a:t>
            </a:r>
            <a:endParaRPr sz="20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/>
              <a:t>Функции доверяют программисту и контролируют границы, длину и тд.</a:t>
            </a:r>
            <a:endParaRPr sz="20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/>
              <a:t>Ошибка превращается в memory corruption</a:t>
            </a:r>
            <a:endParaRPr sz="20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 sz="2000"/>
              <a:t>Типичные кейсы:</a:t>
            </a:r>
            <a:endParaRPr b="1"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ru-RU" sz="2000"/>
              <a:t>Переписывание строки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ru-RU" sz="2000"/>
              <a:t>Переписывание указателя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ru-RU" sz="2000"/>
              <a:t>Переполнение int</a:t>
            </a:r>
            <a:endParaRPr sz="20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d0496d8fde_0_43"/>
          <p:cNvSpPr txBox="1"/>
          <p:nvPr>
            <p:ph type="title"/>
          </p:nvPr>
        </p:nvSpPr>
        <p:spPr>
          <a:xfrm>
            <a:off x="559572" y="359101"/>
            <a:ext cx="11081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</a:pPr>
            <a:r>
              <a:rPr lang="ru-RU"/>
              <a:t>Переписывание строки</a:t>
            </a:r>
            <a:endParaRPr/>
          </a:p>
        </p:txBody>
      </p:sp>
      <p:pic>
        <p:nvPicPr>
          <p:cNvPr id="274" name="Google Shape;274;g3d0496d8fde_0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46488" y="1232875"/>
            <a:ext cx="6307876" cy="5625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d0496d8fde_0_53"/>
          <p:cNvSpPr txBox="1"/>
          <p:nvPr>
            <p:ph type="title"/>
          </p:nvPr>
        </p:nvSpPr>
        <p:spPr>
          <a:xfrm>
            <a:off x="559572" y="359101"/>
            <a:ext cx="11081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</a:pPr>
            <a:r>
              <a:rPr lang="ru-RU"/>
              <a:t>Переписывание указателя</a:t>
            </a:r>
            <a:endParaRPr/>
          </a:p>
        </p:txBody>
      </p:sp>
      <p:pic>
        <p:nvPicPr>
          <p:cNvPr id="280" name="Google Shape;280;g3d0496d8fde_0_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84513" y="1231475"/>
            <a:ext cx="4631825" cy="5626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d0496d8fde_0_59"/>
          <p:cNvSpPr txBox="1"/>
          <p:nvPr>
            <p:ph type="title"/>
          </p:nvPr>
        </p:nvSpPr>
        <p:spPr>
          <a:xfrm>
            <a:off x="559572" y="359101"/>
            <a:ext cx="11081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</a:pPr>
            <a:r>
              <a:rPr lang="ru-RU"/>
              <a:t>Переполнение int</a:t>
            </a:r>
            <a:endParaRPr/>
          </a:p>
        </p:txBody>
      </p:sp>
      <p:pic>
        <p:nvPicPr>
          <p:cNvPr id="286" name="Google Shape;286;g3d0496d8fde_0_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74412" y="1231475"/>
            <a:ext cx="4852026" cy="5626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d0496d8fde_0_49"/>
          <p:cNvSpPr txBox="1"/>
          <p:nvPr>
            <p:ph idx="1" type="body"/>
          </p:nvPr>
        </p:nvSpPr>
        <p:spPr>
          <a:xfrm>
            <a:off x="560200" y="3105825"/>
            <a:ext cx="4654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55BB"/>
              </a:buClr>
              <a:buSzPts val="3600"/>
              <a:buNone/>
            </a:pPr>
            <a:r>
              <a:rPr lang="ru-RU"/>
              <a:t>Решение задач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d0689a4217_0_10"/>
          <p:cNvSpPr txBox="1"/>
          <p:nvPr>
            <p:ph type="title"/>
          </p:nvPr>
        </p:nvSpPr>
        <p:spPr>
          <a:xfrm>
            <a:off x="559572" y="359101"/>
            <a:ext cx="11081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Полезные материалы</a:t>
            </a:r>
            <a:endParaRPr/>
          </a:p>
        </p:txBody>
      </p:sp>
      <p:sp>
        <p:nvSpPr>
          <p:cNvPr id="297" name="Google Shape;297;g3d0689a4217_0_10"/>
          <p:cNvSpPr txBox="1"/>
          <p:nvPr>
            <p:ph idx="2" type="body"/>
          </p:nvPr>
        </p:nvSpPr>
        <p:spPr>
          <a:xfrm>
            <a:off x="555150" y="1500650"/>
            <a:ext cx="11081700" cy="22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AutoNum type="arabicPeriod"/>
            </a:pPr>
            <a:r>
              <a:rPr lang="ru-RU" sz="2000" u="sng">
                <a:solidFill>
                  <a:schemeClr val="hlink"/>
                </a:solidFill>
                <a:hlinkClick r:id="rId3"/>
              </a:rPr>
              <a:t>Шпаргалка полезных команд GDB / Хабр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ru-RU" sz="2000" u="sng">
                <a:solidFill>
                  <a:schemeClr val="hlink"/>
                </a:solidFill>
                <a:hlinkClick r:id="rId4"/>
              </a:rPr>
              <a:t>GDB Advanced Debugging Skills | Axura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ru-RU" sz="2000" u="sng">
                <a:solidFill>
                  <a:schemeClr val="hlink"/>
                </a:solidFill>
                <a:hlinkClick r:id="rId5"/>
              </a:rPr>
              <a:t>https://pwndbg.re/stable/commands/</a:t>
            </a:r>
            <a:endParaRPr sz="2000"/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Montserrat"/>
              <a:buAutoNum type="arabicPeriod"/>
            </a:pPr>
            <a:r>
              <a:rPr lang="ru-RU" sz="2000" u="sng">
                <a:solidFill>
                  <a:schemeClr val="hlink"/>
                </a:solidFill>
                <a:hlinkClick r:id="rId6"/>
              </a:rPr>
              <a:t>pwn.spbctf.ru/tasks</a:t>
            </a:r>
            <a:endParaRPr sz="2000" u="sng">
              <a:solidFill>
                <a:srgbClr val="000000"/>
              </a:solidFill>
            </a:endParaRPr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AutoNum type="arabicPeriod"/>
            </a:pPr>
            <a:r>
              <a:rPr lang="ru-RU" sz="2000" u="sng">
                <a:solidFill>
                  <a:schemeClr val="hlink"/>
                </a:solidFill>
                <a:hlinkClick r:id="rId7"/>
              </a:rPr>
              <a:t>pwn.college</a:t>
            </a:r>
            <a:endParaRPr sz="2000" u="sng">
              <a:solidFill>
                <a:srgbClr val="000000"/>
              </a:solidFill>
            </a:endParaRPr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AutoNum type="arabicPeriod"/>
            </a:pPr>
            <a:r>
              <a:rPr lang="ru-RU" sz="2000" u="sng">
                <a:solidFill>
                  <a:schemeClr val="hlink"/>
                </a:solidFill>
                <a:hlinkClick r:id="rId8"/>
              </a:rPr>
              <a:t>play.picoctf.org</a:t>
            </a:r>
            <a:endParaRPr sz="2000" u="sng">
              <a:solidFill>
                <a:srgbClr val="000000"/>
              </a:solidFill>
            </a:endParaRPr>
          </a:p>
          <a:p>
            <a:pPr indent="-355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AutoNum type="arabicPeriod"/>
            </a:pPr>
            <a:r>
              <a:rPr lang="ru-RU" sz="2000" u="sng">
                <a:solidFill>
                  <a:schemeClr val="hlink"/>
                </a:solidFill>
                <a:hlinkClick r:id="rId9"/>
              </a:rPr>
              <a:t>Yet Another Pwntools Cheatsheet | 🐕.🪦</a:t>
            </a:r>
            <a:endParaRPr sz="2000" u="sng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625a4a1d6b_0_0"/>
          <p:cNvSpPr txBox="1"/>
          <p:nvPr>
            <p:ph idx="1" type="body"/>
          </p:nvPr>
        </p:nvSpPr>
        <p:spPr>
          <a:xfrm>
            <a:off x="560200" y="3105825"/>
            <a:ext cx="38844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55BB"/>
              </a:buClr>
              <a:buSzPts val="3600"/>
              <a:buNone/>
            </a:pPr>
            <a:r>
              <a:rPr lang="ru-RU"/>
              <a:t>Спасибо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55BB"/>
              </a:buClr>
              <a:buSzPts val="3600"/>
              <a:buNone/>
            </a:pPr>
            <a:r>
              <a:rPr lang="ru-RU"/>
              <a:t>за внимание!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Шаблон МИФИ">
  <a:themeElements>
    <a:clrScheme name="Другая 7">
      <a:dk1>
        <a:srgbClr val="171616"/>
      </a:dk1>
      <a:lt1>
        <a:srgbClr val="FFFFFF"/>
      </a:lt1>
      <a:dk2>
        <a:srgbClr val="0055BB"/>
      </a:dk2>
      <a:lt2>
        <a:srgbClr val="E2E2E2"/>
      </a:lt2>
      <a:accent1>
        <a:srgbClr val="0055BB"/>
      </a:accent1>
      <a:accent2>
        <a:srgbClr val="00BBEE"/>
      </a:accent2>
      <a:accent3>
        <a:srgbClr val="FF5000"/>
      </a:accent3>
      <a:accent4>
        <a:srgbClr val="00B050"/>
      </a:accent4>
      <a:accent5>
        <a:srgbClr val="00FFCC"/>
      </a:accent5>
      <a:accent6>
        <a:srgbClr val="FF66CC"/>
      </a:accent6>
      <a:hlink>
        <a:srgbClr val="00BBEE"/>
      </a:hlink>
      <a:folHlink>
        <a:srgbClr val="FFAE8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2020-05-28T16:18:16Z</dcterms:created>
  <dc:creator>Влад Замахаев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fs.IsStoryboard">
    <vt:bool>true</vt:bool>
  </property>
</Properties>
</file>