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custom-properties+xml" PartName="/docProps/custom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</p:sldIdLst>
  <p:sldSz cy="6858000" cx="12192000"/>
  <p:notesSz cx="6858000" cy="9144000"/>
  <p:embeddedFontLst>
    <p:embeddedFont>
      <p:font typeface="Montserrat"/>
      <p:regular r:id="rId40"/>
      <p:bold r:id="rId41"/>
      <p:italic r:id="rId42"/>
      <p:boldItalic r:id="rId4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pos="3840">
          <p15:clr>
            <a:srgbClr val="A4A3A4"/>
          </p15:clr>
        </p15:guide>
        <p15:guide id="2" orient="horz" pos="2160">
          <p15:clr>
            <a:srgbClr val="A4A3A4"/>
          </p15:clr>
        </p15:guide>
        <p15:guide id="3" orient="horz" pos="1757">
          <p15:clr>
            <a:srgbClr val="747775"/>
          </p15:clr>
        </p15:guide>
      </p15:sldGuideLst>
    </p:ext>
    <p:ext uri="GoogleSlidesCustomDataVersion2">
      <go:slidesCustomData xmlns:go="http://customooxmlschemas.google.com/" r:id="rId44" roundtripDataSignature="AMtx7mhDtGWhRXpGdSsTdov/iCcZFoyH+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3840"/>
        <p:guide pos="2160" orient="horz"/>
        <p:guide pos="1757" orient="horz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Montserrat-regular.fntdata"/><Relationship Id="rId20" Type="http://schemas.openxmlformats.org/officeDocument/2006/relationships/slide" Target="slides/slide15.xml"/><Relationship Id="rId42" Type="http://schemas.openxmlformats.org/officeDocument/2006/relationships/font" Target="fonts/Montserrat-italic.fntdata"/><Relationship Id="rId41" Type="http://schemas.openxmlformats.org/officeDocument/2006/relationships/font" Target="fonts/Montserrat-bold.fntdata"/><Relationship Id="rId22" Type="http://schemas.openxmlformats.org/officeDocument/2006/relationships/slide" Target="slides/slide17.xml"/><Relationship Id="rId44" Type="http://customschemas.google.com/relationships/presentationmetadata" Target="metadata"/><Relationship Id="rId21" Type="http://schemas.openxmlformats.org/officeDocument/2006/relationships/slide" Target="slides/slide16.xml"/><Relationship Id="rId43" Type="http://schemas.openxmlformats.org/officeDocument/2006/relationships/font" Target="fonts/Montserrat-boldItalic.fntdata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33" Type="http://schemas.openxmlformats.org/officeDocument/2006/relationships/slide" Target="slides/slide28.xml"/><Relationship Id="rId10" Type="http://schemas.openxmlformats.org/officeDocument/2006/relationships/slide" Target="slides/slide5.xml"/><Relationship Id="rId32" Type="http://schemas.openxmlformats.org/officeDocument/2006/relationships/slide" Target="slides/slide27.xml"/><Relationship Id="rId13" Type="http://schemas.openxmlformats.org/officeDocument/2006/relationships/slide" Target="slides/slide8.xml"/><Relationship Id="rId35" Type="http://schemas.openxmlformats.org/officeDocument/2006/relationships/slide" Target="slides/slide30.xml"/><Relationship Id="rId12" Type="http://schemas.openxmlformats.org/officeDocument/2006/relationships/slide" Target="slides/slide7.xml"/><Relationship Id="rId34" Type="http://schemas.openxmlformats.org/officeDocument/2006/relationships/slide" Target="slides/slide29.xml"/><Relationship Id="rId15" Type="http://schemas.openxmlformats.org/officeDocument/2006/relationships/slide" Target="slides/slide10.xml"/><Relationship Id="rId37" Type="http://schemas.openxmlformats.org/officeDocument/2006/relationships/slide" Target="slides/slide32.xml"/><Relationship Id="rId14" Type="http://schemas.openxmlformats.org/officeDocument/2006/relationships/slide" Target="slides/slide9.xml"/><Relationship Id="rId36" Type="http://schemas.openxmlformats.org/officeDocument/2006/relationships/slide" Target="slides/slide31.xml"/><Relationship Id="rId17" Type="http://schemas.openxmlformats.org/officeDocument/2006/relationships/slide" Target="slides/slide12.xml"/><Relationship Id="rId39" Type="http://schemas.openxmlformats.org/officeDocument/2006/relationships/slide" Target="slides/slide34.xml"/><Relationship Id="rId16" Type="http://schemas.openxmlformats.org/officeDocument/2006/relationships/slide" Target="slides/slide11.xml"/><Relationship Id="rId38" Type="http://schemas.openxmlformats.org/officeDocument/2006/relationships/slide" Target="slides/slide33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70" name="Google Shape;70;p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36257ea22eb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76" name="Google Shape;76;g36257ea22eb_0_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3d0689a4217_2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3" name="Google Shape;83;g3d0689a4217_2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3cc93861824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14" name="Google Shape;114;g3cc93861824_0_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19" name="Google Shape;119;p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35" name="Google Shape;135;p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42" name="Google Shape;142;p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56" name="Google Shape;156;p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70" name="Google Shape;170;p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79" name="Google Shape;179;p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86" name="Google Shape;186;p1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93" name="Google Shape;193;p2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00" name="Google Shape;200;p2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07" name="Google Shape;207;p2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14" name="Google Shape;214;p2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22" name="Google Shape;222;p2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g3d0496d8fde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29" name="Google Shape;229;g3d0496d8fde_0_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3d0496d8fde_0_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34" name="Google Shape;234;g3d0496d8fde_0_6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g3d0496d8fde_0_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40" name="Google Shape;240;g3d0496d8fde_0_8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g3d0496d8fde_0_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46" name="Google Shape;246;g3d0496d8fde_0_7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g3d0496d8fde_0_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52" name="Google Shape;252;g3d0496d8fde_0_9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g3d0496d8fde_0_1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58" name="Google Shape;258;g3d0496d8fde_0_10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g3d0689a4217_0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64" name="Google Shape;264;g3d0689a4217_0_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g3d0496d8fde_0_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70" name="Google Shape;270;g3d0496d8fde_0_6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3d0496d8fde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75" name="Google Shape;275;g3d0496d8fde_0_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g3d0496d8fde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82" name="Google Shape;282;g3d0496d8fde_0_1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g3d0496d8fde_0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89" name="Google Shape;289;g3d0496d8fde_0_3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g3d0496d8fde_0_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96" name="Google Shape;296;g3d0496d8fde_0_3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g3d0496d8fde_0_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02" name="Google Shape;302;g3d0496d8fde_0_4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g3d0496d8fde_0_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08" name="Google Shape;308;g3d0496d8fde_0_5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g3d0496d8fde_0_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14" name="Google Shape;314;g3d0496d8fde_0_5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g3d0496d8fde_0_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20" name="Google Shape;320;g3d0496d8fde_0_4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3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g3d0689a4217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25" name="Google Shape;325;g3d0689a4217_0_1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9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g3625a4a1d6b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31" name="Google Shape;331;g3625a4a1d6b_0_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8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11.png"/><Relationship Id="rId4" Type="http://schemas.openxmlformats.org/officeDocument/2006/relationships/image" Target="../media/image4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17.png"/><Relationship Id="rId4" Type="http://schemas.openxmlformats.org/officeDocument/2006/relationships/image" Target="../media/image11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8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9.png"/><Relationship Id="rId3" Type="http://schemas.openxmlformats.org/officeDocument/2006/relationships/image" Target="../media/image6.png"/><Relationship Id="rId4" Type="http://schemas.openxmlformats.org/officeDocument/2006/relationships/image" Target="../media/image11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11.png"/><Relationship Id="rId4" Type="http://schemas.openxmlformats.org/officeDocument/2006/relationships/image" Target="../media/image24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11.png"/><Relationship Id="rId4" Type="http://schemas.openxmlformats.org/officeDocument/2006/relationships/image" Target="../media/image23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Титульный слайд 1">
  <p:cSld name="Титульный слайд 1">
    <p:spTree>
      <p:nvGrpSpPr>
        <p:cNvPr id="6" name="Shape 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oogle Shape;7;p1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439425" y="2898000"/>
            <a:ext cx="4752575" cy="396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Google Shape;8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60194" y="558606"/>
            <a:ext cx="2484000" cy="1656000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Google Shape;9;p11"/>
          <p:cNvSpPr txBox="1"/>
          <p:nvPr>
            <p:ph idx="1" type="body"/>
          </p:nvPr>
        </p:nvSpPr>
        <p:spPr>
          <a:xfrm>
            <a:off x="560194" y="6083856"/>
            <a:ext cx="1649811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5A5A5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A5A5A5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1"/>
          <p:cNvSpPr txBox="1"/>
          <p:nvPr>
            <p:ph idx="2" type="body"/>
          </p:nvPr>
        </p:nvSpPr>
        <p:spPr>
          <a:xfrm>
            <a:off x="560194" y="2567225"/>
            <a:ext cx="2694755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5A5A5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A5A5A5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1" name="Google Shape;11;p11"/>
          <p:cNvSpPr txBox="1"/>
          <p:nvPr>
            <p:ph idx="3" type="body"/>
          </p:nvPr>
        </p:nvSpPr>
        <p:spPr>
          <a:xfrm>
            <a:off x="560194" y="3198167"/>
            <a:ext cx="2936041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55BB"/>
              </a:buClr>
              <a:buSzPts val="3600"/>
              <a:buFont typeface="Arial"/>
              <a:buNone/>
              <a:defRPr b="1" i="0" sz="3600" u="none" cap="none" strike="noStrike">
                <a:solidFill>
                  <a:srgbClr val="0055BB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Шапка с логотипом без коня (белая)">
  <p:cSld name="Шапка с логотипом без коня (белая)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Google Shape;13;p14"/>
          <p:cNvPicPr preferRelativeResize="0"/>
          <p:nvPr/>
        </p:nvPicPr>
        <p:blipFill rotWithShape="1">
          <a:blip r:embed="rId2">
            <a:alphaModFix/>
          </a:blip>
          <a:srcRect b="40680" l="86780" r="-4360" t="32381"/>
          <a:stretch/>
        </p:blipFill>
        <p:spPr>
          <a:xfrm>
            <a:off x="0" y="1269807"/>
            <a:ext cx="982787" cy="1505489"/>
          </a:xfrm>
          <a:prstGeom prst="rect">
            <a:avLst/>
          </a:prstGeom>
          <a:noFill/>
          <a:ln>
            <a:noFill/>
          </a:ln>
        </p:spPr>
      </p:pic>
      <p:pic>
        <p:nvPicPr>
          <p:cNvPr id="14" name="Google Shape;14;p14"/>
          <p:cNvPicPr preferRelativeResize="0"/>
          <p:nvPr/>
        </p:nvPicPr>
        <p:blipFill rotWithShape="1">
          <a:blip r:embed="rId2">
            <a:alphaModFix/>
          </a:blip>
          <a:srcRect b="88431" l="61576" r="20842" t="1513"/>
          <a:stretch/>
        </p:blipFill>
        <p:spPr>
          <a:xfrm>
            <a:off x="0" y="6296025"/>
            <a:ext cx="982787" cy="561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" name="Google Shape;15;p14"/>
          <p:cNvPicPr preferRelativeResize="0"/>
          <p:nvPr/>
        </p:nvPicPr>
        <p:blipFill rotWithShape="1">
          <a:blip r:embed="rId3">
            <a:alphaModFix/>
          </a:blip>
          <a:srcRect b="31851" l="5148" r="86065" t="45097"/>
          <a:stretch/>
        </p:blipFill>
        <p:spPr>
          <a:xfrm>
            <a:off x="11703437" y="3382263"/>
            <a:ext cx="491219" cy="1288239"/>
          </a:xfrm>
          <a:prstGeom prst="rect">
            <a:avLst/>
          </a:prstGeom>
          <a:noFill/>
          <a:ln>
            <a:noFill/>
          </a:ln>
        </p:spPr>
      </p:pic>
      <p:sp>
        <p:nvSpPr>
          <p:cNvPr id="16" name="Google Shape;16;p14"/>
          <p:cNvSpPr txBox="1"/>
          <p:nvPr>
            <p:ph type="title"/>
          </p:nvPr>
        </p:nvSpPr>
        <p:spPr>
          <a:xfrm>
            <a:off x="559572" y="359101"/>
            <a:ext cx="9199890" cy="5232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55BB"/>
              </a:buClr>
              <a:buSzPts val="2800"/>
              <a:buFont typeface="Montserrat"/>
              <a:buNone/>
              <a:defRPr b="1" i="0" sz="2800" u="none" cap="none" strike="noStrike">
                <a:solidFill>
                  <a:srgbClr val="0055BB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pic>
        <p:nvPicPr>
          <p:cNvPr id="17" name="Google Shape;17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985138" y="170399"/>
            <a:ext cx="1656000" cy="883200"/>
          </a:xfrm>
          <a:prstGeom prst="rect">
            <a:avLst/>
          </a:prstGeom>
          <a:noFill/>
          <a:ln>
            <a:noFill/>
          </a:ln>
        </p:spPr>
      </p:pic>
      <p:sp>
        <p:nvSpPr>
          <p:cNvPr id="18" name="Google Shape;18;p14"/>
          <p:cNvSpPr txBox="1"/>
          <p:nvPr>
            <p:ph idx="1" type="body"/>
          </p:nvPr>
        </p:nvSpPr>
        <p:spPr>
          <a:xfrm>
            <a:off x="559572" y="1729294"/>
            <a:ext cx="1348446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BBEE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00BBEE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-317500" lvl="1" marL="9144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222A3F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rgbClr val="222A3F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9" name="Google Shape;19;p14"/>
          <p:cNvSpPr txBox="1"/>
          <p:nvPr>
            <p:ph idx="2" type="body"/>
          </p:nvPr>
        </p:nvSpPr>
        <p:spPr>
          <a:xfrm>
            <a:off x="559572" y="2409034"/>
            <a:ext cx="1649811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22A3F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222A3F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0" name="Google Shape;20;p14"/>
          <p:cNvSpPr/>
          <p:nvPr/>
        </p:nvSpPr>
        <p:spPr>
          <a:xfrm>
            <a:off x="11641138" y="6453188"/>
            <a:ext cx="415498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ru-RU" sz="1400" u="none" cap="none" strike="noStrike">
                <a:solidFill>
                  <a:srgbClr val="8F9092"/>
                </a:solidFill>
                <a:latin typeface="Montserrat"/>
                <a:ea typeface="Montserrat"/>
                <a:cs typeface="Montserrat"/>
                <a:sym typeface="Montserrat"/>
              </a:rPr>
              <a:t>‹#›</a:t>
            </a:fld>
            <a:endParaRPr b="0" i="0" sz="1400" u="none" cap="none" strike="noStrike">
              <a:solidFill>
                <a:srgbClr val="8F909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Заключительный слайд">
  <p:cSld name="Заключительный слайд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Google Shape;22;p1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439425" y="2898000"/>
            <a:ext cx="4752575" cy="3960000"/>
          </a:xfrm>
          <a:prstGeom prst="rect">
            <a:avLst/>
          </a:prstGeom>
          <a:noFill/>
          <a:ln>
            <a:noFill/>
          </a:ln>
        </p:spPr>
      </p:pic>
      <p:sp>
        <p:nvSpPr>
          <p:cNvPr id="23" name="Google Shape;23;p18"/>
          <p:cNvSpPr txBox="1"/>
          <p:nvPr>
            <p:ph idx="1" type="body"/>
          </p:nvPr>
        </p:nvSpPr>
        <p:spPr>
          <a:xfrm>
            <a:off x="560194" y="3105834"/>
            <a:ext cx="2936041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55BB"/>
              </a:buClr>
              <a:buSzPts val="3600"/>
              <a:buFont typeface="Arial"/>
              <a:buNone/>
              <a:defRPr b="1" i="0" sz="3600" u="none" cap="none" strike="noStrike">
                <a:solidFill>
                  <a:srgbClr val="0055BB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Шапка с атомом">
  <p:cSld name="Шапка с атомом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12"/>
          <p:cNvSpPr/>
          <p:nvPr/>
        </p:nvSpPr>
        <p:spPr>
          <a:xfrm>
            <a:off x="11641138" y="6453188"/>
            <a:ext cx="415498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ru-RU" sz="1400" u="none" cap="none" strike="noStrike">
                <a:solidFill>
                  <a:srgbClr val="8F9092"/>
                </a:solidFill>
                <a:latin typeface="Montserrat"/>
                <a:ea typeface="Montserrat"/>
                <a:cs typeface="Montserrat"/>
                <a:sym typeface="Montserrat"/>
              </a:rPr>
              <a:t>‹#›</a:t>
            </a:fld>
            <a:endParaRPr b="0" i="0" sz="1400" u="none" cap="none" strike="noStrike">
              <a:solidFill>
                <a:srgbClr val="8F909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26" name="Google Shape;26;p12"/>
          <p:cNvPicPr preferRelativeResize="0"/>
          <p:nvPr/>
        </p:nvPicPr>
        <p:blipFill rotWithShape="1">
          <a:blip r:embed="rId2">
            <a:alphaModFix/>
          </a:blip>
          <a:srcRect b="40680" l="86780" r="-4360" t="32381"/>
          <a:stretch/>
        </p:blipFill>
        <p:spPr>
          <a:xfrm>
            <a:off x="0" y="1269807"/>
            <a:ext cx="982787" cy="1505489"/>
          </a:xfrm>
          <a:prstGeom prst="rect">
            <a:avLst/>
          </a:prstGeom>
          <a:noFill/>
          <a:ln>
            <a:noFill/>
          </a:ln>
        </p:spPr>
      </p:pic>
      <p:sp>
        <p:nvSpPr>
          <p:cNvPr id="27" name="Google Shape;27;p12"/>
          <p:cNvSpPr/>
          <p:nvPr/>
        </p:nvSpPr>
        <p:spPr>
          <a:xfrm>
            <a:off x="-1" y="-1"/>
            <a:ext cx="12192001" cy="1224000"/>
          </a:xfrm>
          <a:prstGeom prst="rect">
            <a:avLst/>
          </a:prstGeom>
          <a:solidFill>
            <a:srgbClr val="0055B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55BB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8" name="Google Shape;28;p12"/>
          <p:cNvPicPr preferRelativeResize="0"/>
          <p:nvPr/>
        </p:nvPicPr>
        <p:blipFill rotWithShape="1">
          <a:blip r:embed="rId3">
            <a:alphaModFix/>
          </a:blip>
          <a:srcRect b="46857" l="0" r="0" t="23654"/>
          <a:stretch/>
        </p:blipFill>
        <p:spPr>
          <a:xfrm>
            <a:off x="8040340" y="-1"/>
            <a:ext cx="4151660" cy="1223999"/>
          </a:xfrm>
          <a:prstGeom prst="rect">
            <a:avLst/>
          </a:prstGeom>
          <a:noFill/>
          <a:ln>
            <a:noFill/>
          </a:ln>
        </p:spPr>
      </p:pic>
      <p:pic>
        <p:nvPicPr>
          <p:cNvPr id="29" name="Google Shape;29;p12"/>
          <p:cNvPicPr preferRelativeResize="0"/>
          <p:nvPr/>
        </p:nvPicPr>
        <p:blipFill rotWithShape="1">
          <a:blip r:embed="rId2">
            <a:alphaModFix/>
          </a:blip>
          <a:srcRect b="88431" l="61576" r="20842" t="1513"/>
          <a:stretch/>
        </p:blipFill>
        <p:spPr>
          <a:xfrm>
            <a:off x="0" y="6296025"/>
            <a:ext cx="982787" cy="561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0" name="Google Shape;30;p12"/>
          <p:cNvPicPr preferRelativeResize="0"/>
          <p:nvPr/>
        </p:nvPicPr>
        <p:blipFill rotWithShape="1">
          <a:blip r:embed="rId4">
            <a:alphaModFix/>
          </a:blip>
          <a:srcRect b="31851" l="5148" r="86065" t="45097"/>
          <a:stretch/>
        </p:blipFill>
        <p:spPr>
          <a:xfrm>
            <a:off x="11703437" y="3382263"/>
            <a:ext cx="491219" cy="1288239"/>
          </a:xfrm>
          <a:prstGeom prst="rect">
            <a:avLst/>
          </a:prstGeom>
          <a:noFill/>
          <a:ln>
            <a:noFill/>
          </a:ln>
        </p:spPr>
      </p:pic>
      <p:sp>
        <p:nvSpPr>
          <p:cNvPr id="31" name="Google Shape;31;p12"/>
          <p:cNvSpPr txBox="1"/>
          <p:nvPr>
            <p:ph type="title"/>
          </p:nvPr>
        </p:nvSpPr>
        <p:spPr>
          <a:xfrm>
            <a:off x="559572" y="359101"/>
            <a:ext cx="11081566" cy="5232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b="1" i="0" sz="28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2" name="Google Shape;32;p12"/>
          <p:cNvSpPr txBox="1"/>
          <p:nvPr>
            <p:ph idx="1" type="body"/>
          </p:nvPr>
        </p:nvSpPr>
        <p:spPr>
          <a:xfrm>
            <a:off x="559572" y="1729294"/>
            <a:ext cx="1348446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accent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-317500" lvl="1" marL="9144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222A3F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rgbClr val="222A3F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3" name="Google Shape;33;p12"/>
          <p:cNvSpPr txBox="1"/>
          <p:nvPr>
            <p:ph idx="2" type="body"/>
          </p:nvPr>
        </p:nvSpPr>
        <p:spPr>
          <a:xfrm>
            <a:off x="559572" y="2409034"/>
            <a:ext cx="1649811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22A3F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222A3F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Титульный слайд 2">
  <p:cSld name="Титульный слайд 2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17"/>
          <p:cNvSpPr txBox="1"/>
          <p:nvPr>
            <p:ph idx="1" type="body"/>
          </p:nvPr>
        </p:nvSpPr>
        <p:spPr>
          <a:xfrm>
            <a:off x="6418217" y="6083856"/>
            <a:ext cx="1649811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5A5A5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A5A5A5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6" name="Google Shape;36;p17"/>
          <p:cNvSpPr txBox="1"/>
          <p:nvPr>
            <p:ph idx="2" type="body"/>
          </p:nvPr>
        </p:nvSpPr>
        <p:spPr>
          <a:xfrm>
            <a:off x="6418217" y="2567225"/>
            <a:ext cx="2694755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5A5A5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A5A5A5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7" name="Google Shape;37;p17"/>
          <p:cNvSpPr txBox="1"/>
          <p:nvPr>
            <p:ph idx="3" type="body"/>
          </p:nvPr>
        </p:nvSpPr>
        <p:spPr>
          <a:xfrm>
            <a:off x="6418217" y="3198167"/>
            <a:ext cx="2936041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55BB"/>
              </a:buClr>
              <a:buSzPts val="3600"/>
              <a:buFont typeface="Arial"/>
              <a:buNone/>
              <a:defRPr b="1" i="0" sz="3600" u="none" cap="none" strike="noStrike">
                <a:solidFill>
                  <a:srgbClr val="0055BB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pic>
        <p:nvPicPr>
          <p:cNvPr id="38" name="Google Shape;38;p1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1169250"/>
            <a:ext cx="5886994" cy="4088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Шапка с логотипом без коня (синяя)">
  <p:cSld name="Шапка с логотипом без коня (синяя)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13"/>
          <p:cNvSpPr/>
          <p:nvPr/>
        </p:nvSpPr>
        <p:spPr>
          <a:xfrm>
            <a:off x="-1" y="-1"/>
            <a:ext cx="12192001" cy="1224000"/>
          </a:xfrm>
          <a:prstGeom prst="rect">
            <a:avLst/>
          </a:prstGeom>
          <a:solidFill>
            <a:srgbClr val="0055B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1" name="Google Shape;41;p1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992762" y="170399"/>
            <a:ext cx="1656000" cy="883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2" name="Google Shape;42;p13"/>
          <p:cNvPicPr preferRelativeResize="0"/>
          <p:nvPr/>
        </p:nvPicPr>
        <p:blipFill rotWithShape="1">
          <a:blip r:embed="rId3">
            <a:alphaModFix/>
          </a:blip>
          <a:srcRect b="40680" l="86780" r="-4360" t="32381"/>
          <a:stretch/>
        </p:blipFill>
        <p:spPr>
          <a:xfrm>
            <a:off x="0" y="1269807"/>
            <a:ext cx="982787" cy="1505489"/>
          </a:xfrm>
          <a:prstGeom prst="rect">
            <a:avLst/>
          </a:prstGeom>
          <a:noFill/>
          <a:ln>
            <a:noFill/>
          </a:ln>
        </p:spPr>
      </p:pic>
      <p:pic>
        <p:nvPicPr>
          <p:cNvPr id="43" name="Google Shape;43;p13"/>
          <p:cNvPicPr preferRelativeResize="0"/>
          <p:nvPr/>
        </p:nvPicPr>
        <p:blipFill rotWithShape="1">
          <a:blip r:embed="rId3">
            <a:alphaModFix/>
          </a:blip>
          <a:srcRect b="88431" l="61576" r="20842" t="1513"/>
          <a:stretch/>
        </p:blipFill>
        <p:spPr>
          <a:xfrm>
            <a:off x="0" y="6296025"/>
            <a:ext cx="982787" cy="561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44" name="Google Shape;44;p13"/>
          <p:cNvPicPr preferRelativeResize="0"/>
          <p:nvPr/>
        </p:nvPicPr>
        <p:blipFill rotWithShape="1">
          <a:blip r:embed="rId4">
            <a:alphaModFix/>
          </a:blip>
          <a:srcRect b="31851" l="5148" r="86065" t="45097"/>
          <a:stretch/>
        </p:blipFill>
        <p:spPr>
          <a:xfrm>
            <a:off x="11703437" y="3382263"/>
            <a:ext cx="491219" cy="1288239"/>
          </a:xfrm>
          <a:prstGeom prst="rect">
            <a:avLst/>
          </a:prstGeom>
          <a:noFill/>
          <a:ln>
            <a:noFill/>
          </a:ln>
        </p:spPr>
      </p:pic>
      <p:sp>
        <p:nvSpPr>
          <p:cNvPr id="45" name="Google Shape;45;p13"/>
          <p:cNvSpPr txBox="1"/>
          <p:nvPr>
            <p:ph type="title"/>
          </p:nvPr>
        </p:nvSpPr>
        <p:spPr>
          <a:xfrm>
            <a:off x="559572" y="359101"/>
            <a:ext cx="9173513" cy="5232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b="1" i="0" sz="28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6" name="Google Shape;46;p13"/>
          <p:cNvSpPr txBox="1"/>
          <p:nvPr>
            <p:ph idx="1" type="body"/>
          </p:nvPr>
        </p:nvSpPr>
        <p:spPr>
          <a:xfrm>
            <a:off x="559572" y="1729294"/>
            <a:ext cx="1348446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BBEE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00BBEE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-317500" lvl="1" marL="9144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222A3F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rgbClr val="222A3F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7" name="Google Shape;47;p13"/>
          <p:cNvSpPr txBox="1"/>
          <p:nvPr>
            <p:ph idx="2" type="body"/>
          </p:nvPr>
        </p:nvSpPr>
        <p:spPr>
          <a:xfrm>
            <a:off x="559572" y="2409034"/>
            <a:ext cx="1649811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22A3F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222A3F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8" name="Google Shape;48;p13"/>
          <p:cNvSpPr/>
          <p:nvPr/>
        </p:nvSpPr>
        <p:spPr>
          <a:xfrm>
            <a:off x="11641138" y="6453188"/>
            <a:ext cx="415498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ru-RU" sz="1400" u="none" cap="none" strike="noStrike">
                <a:solidFill>
                  <a:srgbClr val="8F9092"/>
                </a:solidFill>
                <a:latin typeface="Montserrat"/>
                <a:ea typeface="Montserrat"/>
                <a:cs typeface="Montserrat"/>
                <a:sym typeface="Montserrat"/>
              </a:rPr>
              <a:t>‹#›</a:t>
            </a:fld>
            <a:endParaRPr b="0" i="0" sz="1400" u="none" cap="none" strike="noStrike">
              <a:solidFill>
                <a:srgbClr val="8F909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Шапка с логотипом коня (белая)">
  <p:cSld name="Шапка с логотипом коня (белая)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" name="Google Shape;50;p15"/>
          <p:cNvPicPr preferRelativeResize="0"/>
          <p:nvPr/>
        </p:nvPicPr>
        <p:blipFill rotWithShape="1">
          <a:blip r:embed="rId2">
            <a:alphaModFix/>
          </a:blip>
          <a:srcRect b="40680" l="86780" r="-4360" t="32381"/>
          <a:stretch/>
        </p:blipFill>
        <p:spPr>
          <a:xfrm>
            <a:off x="0" y="1269807"/>
            <a:ext cx="982787" cy="1505489"/>
          </a:xfrm>
          <a:prstGeom prst="rect">
            <a:avLst/>
          </a:prstGeom>
          <a:noFill/>
          <a:ln>
            <a:noFill/>
          </a:ln>
        </p:spPr>
      </p:pic>
      <p:pic>
        <p:nvPicPr>
          <p:cNvPr id="51" name="Google Shape;51;p15"/>
          <p:cNvPicPr preferRelativeResize="0"/>
          <p:nvPr/>
        </p:nvPicPr>
        <p:blipFill rotWithShape="1">
          <a:blip r:embed="rId2">
            <a:alphaModFix/>
          </a:blip>
          <a:srcRect b="88431" l="61576" r="20842" t="1513"/>
          <a:stretch/>
        </p:blipFill>
        <p:spPr>
          <a:xfrm>
            <a:off x="0" y="6296025"/>
            <a:ext cx="982787" cy="561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52" name="Google Shape;52;p15"/>
          <p:cNvPicPr preferRelativeResize="0"/>
          <p:nvPr/>
        </p:nvPicPr>
        <p:blipFill rotWithShape="1">
          <a:blip r:embed="rId3">
            <a:alphaModFix/>
          </a:blip>
          <a:srcRect b="31851" l="5148" r="86065" t="45097"/>
          <a:stretch/>
        </p:blipFill>
        <p:spPr>
          <a:xfrm>
            <a:off x="11703437" y="3382263"/>
            <a:ext cx="491219" cy="1288239"/>
          </a:xfrm>
          <a:prstGeom prst="rect">
            <a:avLst/>
          </a:prstGeom>
          <a:noFill/>
          <a:ln>
            <a:noFill/>
          </a:ln>
        </p:spPr>
      </p:pic>
      <p:sp>
        <p:nvSpPr>
          <p:cNvPr id="53" name="Google Shape;53;p15"/>
          <p:cNvSpPr txBox="1"/>
          <p:nvPr>
            <p:ph type="title"/>
          </p:nvPr>
        </p:nvSpPr>
        <p:spPr>
          <a:xfrm>
            <a:off x="559572" y="359101"/>
            <a:ext cx="8900951" cy="5232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46C2A"/>
              </a:buClr>
              <a:buSzPts val="2800"/>
              <a:buFont typeface="Montserrat"/>
              <a:buNone/>
              <a:defRPr b="1" i="0" sz="2800" u="none" cap="none" strike="noStrike">
                <a:solidFill>
                  <a:srgbClr val="E46C2A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4" name="Google Shape;54;p15"/>
          <p:cNvSpPr txBox="1"/>
          <p:nvPr>
            <p:ph idx="1" type="body"/>
          </p:nvPr>
        </p:nvSpPr>
        <p:spPr>
          <a:xfrm>
            <a:off x="559572" y="1729294"/>
            <a:ext cx="1348446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BBEE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00BBEE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-317500" lvl="1" marL="9144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222A3F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rgbClr val="222A3F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5" name="Google Shape;55;p15"/>
          <p:cNvSpPr txBox="1"/>
          <p:nvPr>
            <p:ph idx="2" type="body"/>
          </p:nvPr>
        </p:nvSpPr>
        <p:spPr>
          <a:xfrm>
            <a:off x="559572" y="2409034"/>
            <a:ext cx="1649811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22A3F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222A3F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pic>
        <p:nvPicPr>
          <p:cNvPr id="56" name="Google Shape;56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525956" y="-135287"/>
            <a:ext cx="2376074" cy="1512000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15"/>
          <p:cNvSpPr/>
          <p:nvPr/>
        </p:nvSpPr>
        <p:spPr>
          <a:xfrm>
            <a:off x="11641138" y="6453188"/>
            <a:ext cx="415498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ru-RU" sz="1400" u="none" cap="none" strike="noStrike">
                <a:solidFill>
                  <a:srgbClr val="8F9092"/>
                </a:solidFill>
                <a:latin typeface="Montserrat"/>
                <a:ea typeface="Montserrat"/>
                <a:cs typeface="Montserrat"/>
                <a:sym typeface="Montserrat"/>
              </a:rPr>
              <a:t>‹#›</a:t>
            </a:fld>
            <a:endParaRPr b="0" i="0" sz="1400" u="none" cap="none" strike="noStrike">
              <a:solidFill>
                <a:srgbClr val="8F909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Шапка с логотипом коня (серая)">
  <p:cSld name="Шапка с логотипом коня (серая)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6"/>
          <p:cNvSpPr/>
          <p:nvPr/>
        </p:nvSpPr>
        <p:spPr>
          <a:xfrm>
            <a:off x="-1" y="-1"/>
            <a:ext cx="12192001" cy="1224000"/>
          </a:xfrm>
          <a:prstGeom prst="rect">
            <a:avLst/>
          </a:prstGeom>
          <a:solidFill>
            <a:srgbClr val="DDDED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0" name="Google Shape;60;p16"/>
          <p:cNvPicPr preferRelativeResize="0"/>
          <p:nvPr/>
        </p:nvPicPr>
        <p:blipFill rotWithShape="1">
          <a:blip r:embed="rId2">
            <a:alphaModFix/>
          </a:blip>
          <a:srcRect b="40680" l="86780" r="-4360" t="32381"/>
          <a:stretch/>
        </p:blipFill>
        <p:spPr>
          <a:xfrm>
            <a:off x="0" y="1269807"/>
            <a:ext cx="982787" cy="1505489"/>
          </a:xfrm>
          <a:prstGeom prst="rect">
            <a:avLst/>
          </a:prstGeom>
          <a:noFill/>
          <a:ln>
            <a:noFill/>
          </a:ln>
        </p:spPr>
      </p:pic>
      <p:pic>
        <p:nvPicPr>
          <p:cNvPr id="61" name="Google Shape;61;p16"/>
          <p:cNvPicPr preferRelativeResize="0"/>
          <p:nvPr/>
        </p:nvPicPr>
        <p:blipFill rotWithShape="1">
          <a:blip r:embed="rId2">
            <a:alphaModFix/>
          </a:blip>
          <a:srcRect b="88431" l="61576" r="20842" t="1513"/>
          <a:stretch/>
        </p:blipFill>
        <p:spPr>
          <a:xfrm>
            <a:off x="0" y="6296025"/>
            <a:ext cx="982787" cy="561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62" name="Google Shape;62;p16"/>
          <p:cNvPicPr preferRelativeResize="0"/>
          <p:nvPr/>
        </p:nvPicPr>
        <p:blipFill rotWithShape="1">
          <a:blip r:embed="rId3">
            <a:alphaModFix/>
          </a:blip>
          <a:srcRect b="31851" l="5148" r="86065" t="45097"/>
          <a:stretch/>
        </p:blipFill>
        <p:spPr>
          <a:xfrm>
            <a:off x="11703437" y="3382263"/>
            <a:ext cx="491219" cy="1288239"/>
          </a:xfrm>
          <a:prstGeom prst="rect">
            <a:avLst/>
          </a:prstGeom>
          <a:noFill/>
          <a:ln>
            <a:noFill/>
          </a:ln>
        </p:spPr>
      </p:pic>
      <p:sp>
        <p:nvSpPr>
          <p:cNvPr id="63" name="Google Shape;63;p16"/>
          <p:cNvSpPr txBox="1"/>
          <p:nvPr>
            <p:ph type="title"/>
          </p:nvPr>
        </p:nvSpPr>
        <p:spPr>
          <a:xfrm>
            <a:off x="559572" y="359101"/>
            <a:ext cx="9032836" cy="5232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55BB"/>
              </a:buClr>
              <a:buSzPts val="2800"/>
              <a:buFont typeface="Montserrat"/>
              <a:buNone/>
              <a:defRPr b="1" i="0" sz="2800" u="none" cap="none" strike="noStrike">
                <a:solidFill>
                  <a:srgbClr val="0055BB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4" name="Google Shape;64;p16"/>
          <p:cNvSpPr txBox="1"/>
          <p:nvPr>
            <p:ph idx="1" type="body"/>
          </p:nvPr>
        </p:nvSpPr>
        <p:spPr>
          <a:xfrm>
            <a:off x="559572" y="1729294"/>
            <a:ext cx="1348446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BBEE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00BBEE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-317500" lvl="1" marL="9144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222A3F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rgbClr val="222A3F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5" name="Google Shape;65;p16"/>
          <p:cNvSpPr txBox="1"/>
          <p:nvPr>
            <p:ph idx="2" type="body"/>
          </p:nvPr>
        </p:nvSpPr>
        <p:spPr>
          <a:xfrm>
            <a:off x="559572" y="2409034"/>
            <a:ext cx="1649811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22A3F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222A3F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pic>
        <p:nvPicPr>
          <p:cNvPr id="66" name="Google Shape;66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525956" y="-144001"/>
            <a:ext cx="2376074" cy="1512000"/>
          </a:xfrm>
          <a:prstGeom prst="rect">
            <a:avLst/>
          </a:prstGeom>
          <a:noFill/>
          <a:ln>
            <a:noFill/>
          </a:ln>
        </p:spPr>
      </p:pic>
      <p:sp>
        <p:nvSpPr>
          <p:cNvPr id="67" name="Google Shape;67;p16"/>
          <p:cNvSpPr/>
          <p:nvPr/>
        </p:nvSpPr>
        <p:spPr>
          <a:xfrm>
            <a:off x="11641138" y="6453188"/>
            <a:ext cx="415498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ru-RU" sz="1400" u="none" cap="none" strike="noStrike">
                <a:solidFill>
                  <a:srgbClr val="8F9092"/>
                </a:solidFill>
                <a:latin typeface="Montserrat"/>
                <a:ea typeface="Montserrat"/>
                <a:cs typeface="Montserrat"/>
                <a:sym typeface="Montserrat"/>
              </a:rPr>
              <a:t>‹#›</a:t>
            </a:fld>
            <a:endParaRPr b="0" i="0" sz="1400" u="none" cap="none" strike="noStrike">
              <a:solidFill>
                <a:srgbClr val="8F909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2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  <p15:guide id="3" orient="horz" pos="391">
          <p15:clr>
            <a:srgbClr val="F26B43"/>
          </p15:clr>
        </p15:guide>
        <p15:guide id="4" orient="horz" pos="4065">
          <p15:clr>
            <a:srgbClr val="F26B43"/>
          </p15:clr>
        </p15:guide>
        <p15:guide id="5" pos="347">
          <p15:clr>
            <a:srgbClr val="F26B43"/>
          </p15:clr>
        </p15:guide>
        <p15:guide id="6" pos="7333">
          <p15:clr>
            <a:srgbClr val="F26B43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7.png"/><Relationship Id="rId4" Type="http://schemas.openxmlformats.org/officeDocument/2006/relationships/image" Target="../media/image15.png"/><Relationship Id="rId5" Type="http://schemas.openxmlformats.org/officeDocument/2006/relationships/image" Target="../media/image5.png"/><Relationship Id="rId6" Type="http://schemas.openxmlformats.org/officeDocument/2006/relationships/image" Target="../media/image13.png"/><Relationship Id="rId7" Type="http://schemas.openxmlformats.org/officeDocument/2006/relationships/image" Target="../media/image9.png"/><Relationship Id="rId8" Type="http://schemas.openxmlformats.org/officeDocument/2006/relationships/image" Target="../media/image1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4.png"/><Relationship Id="rId4" Type="http://schemas.openxmlformats.org/officeDocument/2006/relationships/image" Target="../media/image16.png"/><Relationship Id="rId5" Type="http://schemas.openxmlformats.org/officeDocument/2006/relationships/image" Target="../media/image21.png"/><Relationship Id="rId6" Type="http://schemas.openxmlformats.org/officeDocument/2006/relationships/image" Target="../media/image20.png"/><Relationship Id="rId7" Type="http://schemas.openxmlformats.org/officeDocument/2006/relationships/image" Target="../media/image2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6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Relationship Id="rId3" Type="http://schemas.openxmlformats.org/officeDocument/2006/relationships/hyperlink" Target="https://www.opennet.ru/man.shtml?topic=ltrace&amp;category=1&amp;russian=2" TargetMode="Externa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Relationship Id="rId3" Type="http://schemas.openxmlformats.org/officeDocument/2006/relationships/hyperlink" Target="https://man7.org/linux/man-pages/man1/strace.1.html" TargetMode="Externa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Relationship Id="rId3" Type="http://schemas.openxmlformats.org/officeDocument/2006/relationships/hyperlink" Target="https://www.sourceware.org/gdb/documentation/" TargetMode="External"/><Relationship Id="rId4" Type="http://schemas.openxmlformats.org/officeDocument/2006/relationships/hyperlink" Target="https://github.com/pwndbg/pwndbg" TargetMode="Externa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7.jp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0.jp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2.jp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38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5.jp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36.png"/><Relationship Id="rId4" Type="http://schemas.openxmlformats.org/officeDocument/2006/relationships/image" Target="../media/image39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33.jp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37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34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31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35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28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29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3.xml"/><Relationship Id="rId3" Type="http://schemas.openxmlformats.org/officeDocument/2006/relationships/hyperlink" Target="https://habr.com/ru/articles/535960/" TargetMode="External"/><Relationship Id="rId4" Type="http://schemas.openxmlformats.org/officeDocument/2006/relationships/hyperlink" Target="https://4xura.com/hacktools/gdb-advanced-debugging-skills/" TargetMode="External"/><Relationship Id="rId9" Type="http://schemas.openxmlformats.org/officeDocument/2006/relationships/hyperlink" Target="https://corgi.rip/posts/pwntools-cheatsheet/" TargetMode="External"/><Relationship Id="rId5" Type="http://schemas.openxmlformats.org/officeDocument/2006/relationships/hyperlink" Target="https://pwndbg.re/stable/commands/" TargetMode="External"/><Relationship Id="rId6" Type="http://schemas.openxmlformats.org/officeDocument/2006/relationships/hyperlink" Target="https://pwn.spbctf.ru/tasks" TargetMode="External"/><Relationship Id="rId7" Type="http://schemas.openxmlformats.org/officeDocument/2006/relationships/hyperlink" Target="https://pwn.college/" TargetMode="External"/><Relationship Id="rId8" Type="http://schemas.openxmlformats.org/officeDocument/2006/relationships/hyperlink" Target="http://play.picoctf.org" TargetMode="Externa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"/>
          <p:cNvSpPr txBox="1"/>
          <p:nvPr>
            <p:ph idx="2" type="body"/>
          </p:nvPr>
        </p:nvSpPr>
        <p:spPr>
          <a:xfrm>
            <a:off x="560200" y="2567225"/>
            <a:ext cx="7829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5A5A5"/>
              </a:buClr>
              <a:buSzPts val="2400"/>
              <a:buNone/>
            </a:pPr>
            <a:r>
              <a:rPr lang="ru-RU"/>
              <a:t>Модуль “Бинарные уязвимости”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3" name="Google Shape;73;p1"/>
          <p:cNvSpPr txBox="1"/>
          <p:nvPr>
            <p:ph idx="3" type="body"/>
          </p:nvPr>
        </p:nvSpPr>
        <p:spPr>
          <a:xfrm>
            <a:off x="560198" y="3198175"/>
            <a:ext cx="7069500" cy="1754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55BB"/>
              </a:buClr>
              <a:buSzPts val="3600"/>
              <a:buNone/>
            </a:pPr>
            <a:r>
              <a:rPr lang="ru-RU"/>
              <a:t>Урок 2. Динамический анализ. Введение в бинарные уязвимости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36257ea22eb_0_0"/>
          <p:cNvSpPr txBox="1"/>
          <p:nvPr>
            <p:ph type="title"/>
          </p:nvPr>
        </p:nvSpPr>
        <p:spPr>
          <a:xfrm>
            <a:off x="559572" y="359101"/>
            <a:ext cx="91998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55BB"/>
              </a:buClr>
              <a:buSzPts val="2800"/>
              <a:buFont typeface="Montserrat"/>
              <a:buNone/>
            </a:pPr>
            <a:r>
              <a:rPr lang="ru-RU"/>
              <a:t>План занятия</a:t>
            </a:r>
            <a:endParaRPr/>
          </a:p>
        </p:txBody>
      </p:sp>
      <p:sp>
        <p:nvSpPr>
          <p:cNvPr id="79" name="Google Shape;79;g36257ea22eb_0_0"/>
          <p:cNvSpPr txBox="1"/>
          <p:nvPr>
            <p:ph idx="1" type="body"/>
          </p:nvPr>
        </p:nvSpPr>
        <p:spPr>
          <a:xfrm>
            <a:off x="559574" y="1729300"/>
            <a:ext cx="7033604" cy="7694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BBEE"/>
              </a:buClr>
              <a:buSzPts val="1600"/>
              <a:buNone/>
            </a:pPr>
            <a:r>
              <a:rPr lang="ru-RU" sz="2200"/>
              <a:t>Динамический анализ. Введение в бинарные уязвимости</a:t>
            </a:r>
            <a:endParaRPr sz="2200"/>
          </a:p>
        </p:txBody>
      </p:sp>
      <p:sp>
        <p:nvSpPr>
          <p:cNvPr id="80" name="Google Shape;80;g36257ea22eb_0_0"/>
          <p:cNvSpPr txBox="1"/>
          <p:nvPr>
            <p:ph idx="2" type="body"/>
          </p:nvPr>
        </p:nvSpPr>
        <p:spPr>
          <a:xfrm>
            <a:off x="559592" y="2481520"/>
            <a:ext cx="11081700" cy="2801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683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Montserrat"/>
              <a:buAutoNum type="arabicPeriod"/>
            </a:pPr>
            <a:r>
              <a:rPr lang="ru-RU" sz="2200"/>
              <a:t>Динамический анализ. Основные способы</a:t>
            </a:r>
            <a:endParaRPr sz="2200"/>
          </a:p>
          <a:p>
            <a:pPr indent="-3683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Montserrat"/>
              <a:buAutoNum type="arabicPeriod"/>
            </a:pPr>
            <a:r>
              <a:rPr lang="ru-RU" sz="2200"/>
              <a:t>ltrace</a:t>
            </a:r>
            <a:endParaRPr sz="2200"/>
          </a:p>
          <a:p>
            <a:pPr indent="-3683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Montserrat"/>
              <a:buAutoNum type="arabicPeriod"/>
            </a:pPr>
            <a:r>
              <a:rPr lang="ru-RU" sz="2200"/>
              <a:t>strace</a:t>
            </a:r>
            <a:endParaRPr sz="2200"/>
          </a:p>
          <a:p>
            <a:pPr indent="-3683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AutoNum type="arabicPeriod"/>
            </a:pPr>
            <a:r>
              <a:rPr lang="ru-RU" sz="2200"/>
              <a:t>GDB + pwndbg</a:t>
            </a:r>
            <a:endParaRPr sz="2200"/>
          </a:p>
          <a:p>
            <a:pPr indent="-3683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AutoNum type="arabicPeriod"/>
            </a:pPr>
            <a:r>
              <a:rPr lang="ru-RU" sz="2200"/>
              <a:t>pwntools</a:t>
            </a:r>
            <a:endParaRPr sz="2200"/>
          </a:p>
          <a:p>
            <a:pPr indent="-3683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AutoNum type="arabicPeriod"/>
            </a:pPr>
            <a:r>
              <a:rPr lang="ru-RU" sz="2200"/>
              <a:t>Введение в бинарные уязвимости</a:t>
            </a:r>
            <a:endParaRPr sz="2200"/>
          </a:p>
          <a:p>
            <a:pPr indent="-3683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AutoNum type="arabicPeriod"/>
            </a:pPr>
            <a:r>
              <a:rPr lang="ru-RU" sz="2200"/>
              <a:t>Типичные кейсы: переписывание строки, указателя, переполнение int</a:t>
            </a:r>
            <a:endParaRPr sz="2200"/>
          </a:p>
          <a:p>
            <a:pPr indent="-3683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Montserrat"/>
              <a:buAutoNum type="arabicPeriod"/>
            </a:pPr>
            <a:r>
              <a:rPr lang="ru-RU" sz="2200"/>
              <a:t>Итоги</a:t>
            </a:r>
            <a:endParaRPr sz="22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d0689a4217_2_0"/>
          <p:cNvSpPr/>
          <p:nvPr/>
        </p:nvSpPr>
        <p:spPr>
          <a:xfrm>
            <a:off x="2034675" y="5098800"/>
            <a:ext cx="4248300" cy="1131000"/>
          </a:xfrm>
          <a:prstGeom prst="roundRect">
            <a:avLst>
              <a:gd fmla="val 16667" name="adj"/>
            </a:avLst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ru-RU" sz="30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МАШИННЫЙ КОД</a:t>
            </a:r>
            <a:endParaRPr b="1" sz="30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6" name="Google Shape;86;g3d0689a4217_2_0"/>
          <p:cNvSpPr/>
          <p:nvPr/>
        </p:nvSpPr>
        <p:spPr>
          <a:xfrm>
            <a:off x="6529375" y="5454000"/>
            <a:ext cx="1087500" cy="4206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g3d0689a4217_2_0"/>
          <p:cNvSpPr/>
          <p:nvPr/>
        </p:nvSpPr>
        <p:spPr>
          <a:xfrm>
            <a:off x="7950250" y="5098700"/>
            <a:ext cx="3479700" cy="11310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ru-RU" sz="2000">
                <a:latin typeface="Montserrat"/>
                <a:ea typeface="Montserrat"/>
                <a:cs typeface="Montserrat"/>
                <a:sym typeface="Montserrat"/>
              </a:rPr>
              <a:t>Опкоды</a:t>
            </a:r>
            <a:endParaRPr b="1" sz="20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ru-RU" sz="2000">
                <a:latin typeface="Montserrat"/>
                <a:ea typeface="Montserrat"/>
                <a:cs typeface="Montserrat"/>
                <a:sym typeface="Montserrat"/>
              </a:rPr>
              <a:t>(номера команд)</a:t>
            </a:r>
            <a:endParaRPr b="1" sz="2000">
              <a:latin typeface="Montserrat"/>
              <a:ea typeface="Montserrat"/>
              <a:cs typeface="Montserrat"/>
              <a:sym typeface="Montserrat"/>
            </a:endParaRPr>
          </a:p>
        </p:txBody>
      </p:sp>
      <p:grpSp>
        <p:nvGrpSpPr>
          <p:cNvPr id="88" name="Google Shape;88;g3d0689a4217_2_0"/>
          <p:cNvGrpSpPr/>
          <p:nvPr/>
        </p:nvGrpSpPr>
        <p:grpSpPr>
          <a:xfrm>
            <a:off x="197329" y="5329041"/>
            <a:ext cx="1590947" cy="670526"/>
            <a:chOff x="90654" y="5204078"/>
            <a:chExt cx="1590947" cy="670526"/>
          </a:xfrm>
        </p:grpSpPr>
        <p:pic>
          <p:nvPicPr>
            <p:cNvPr id="89" name="Google Shape;89;g3d0689a4217_2_0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90654" y="5204079"/>
              <a:ext cx="670525" cy="6705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90" name="Google Shape;90;g3d0689a4217_2_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11075" y="5204078"/>
              <a:ext cx="670525" cy="67052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91" name="Google Shape;91;g3d0689a4217_2_0"/>
          <p:cNvSpPr/>
          <p:nvPr/>
        </p:nvSpPr>
        <p:spPr>
          <a:xfrm>
            <a:off x="2034675" y="3235848"/>
            <a:ext cx="4248300" cy="1131000"/>
          </a:xfrm>
          <a:prstGeom prst="roundRect">
            <a:avLst>
              <a:gd fmla="val 16667" name="adj"/>
            </a:avLst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ru-RU" sz="30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ЯЗЫК АССЕМБЛЕРА</a:t>
            </a:r>
            <a:endParaRPr b="1" sz="30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2" name="Google Shape;92;g3d0689a4217_2_0"/>
          <p:cNvSpPr/>
          <p:nvPr/>
        </p:nvSpPr>
        <p:spPr>
          <a:xfrm>
            <a:off x="6529375" y="3591048"/>
            <a:ext cx="1087500" cy="4206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g3d0689a4217_2_0"/>
          <p:cNvSpPr/>
          <p:nvPr/>
        </p:nvSpPr>
        <p:spPr>
          <a:xfrm>
            <a:off x="7950250" y="3235748"/>
            <a:ext cx="3479700" cy="11310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ru-RU" sz="2000">
                <a:latin typeface="Montserrat"/>
                <a:ea typeface="Montserrat"/>
                <a:cs typeface="Montserrat"/>
                <a:sym typeface="Montserrat"/>
              </a:rPr>
              <a:t>Мнемоники команд</a:t>
            </a:r>
            <a:endParaRPr b="1" sz="2000">
              <a:latin typeface="Montserrat"/>
              <a:ea typeface="Montserrat"/>
              <a:cs typeface="Montserrat"/>
              <a:sym typeface="Montserrat"/>
            </a:endParaRPr>
          </a:p>
        </p:txBody>
      </p:sp>
      <p:grpSp>
        <p:nvGrpSpPr>
          <p:cNvPr id="94" name="Google Shape;94;g3d0689a4217_2_0"/>
          <p:cNvGrpSpPr/>
          <p:nvPr/>
        </p:nvGrpSpPr>
        <p:grpSpPr>
          <a:xfrm>
            <a:off x="3887601" y="4453677"/>
            <a:ext cx="542450" cy="558300"/>
            <a:chOff x="4033576" y="4453677"/>
            <a:chExt cx="542450" cy="558300"/>
          </a:xfrm>
        </p:grpSpPr>
        <p:sp>
          <p:nvSpPr>
            <p:cNvPr id="95" name="Google Shape;95;g3d0689a4217_2_0"/>
            <p:cNvSpPr/>
            <p:nvPr/>
          </p:nvSpPr>
          <p:spPr>
            <a:xfrm rot="-5400000">
              <a:off x="4171626" y="4607577"/>
              <a:ext cx="558300" cy="250500"/>
            </a:xfrm>
            <a:prstGeom prst="rightArrow">
              <a:avLst>
                <a:gd fmla="val 50000" name="adj1"/>
                <a:gd fmla="val 50000" name="adj2"/>
              </a:avLst>
            </a:prstGeom>
            <a:solidFill>
              <a:schemeClr val="dk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" name="Google Shape;96;g3d0689a4217_2_0"/>
            <p:cNvSpPr/>
            <p:nvPr/>
          </p:nvSpPr>
          <p:spPr>
            <a:xfrm rot="5400000">
              <a:off x="3879676" y="4607577"/>
              <a:ext cx="558300" cy="250500"/>
            </a:xfrm>
            <a:prstGeom prst="rightArrow">
              <a:avLst>
                <a:gd fmla="val 50000" name="adj1"/>
                <a:gd fmla="val 50000" name="adj2"/>
              </a:avLst>
            </a:prstGeom>
            <a:solidFill>
              <a:schemeClr val="dk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7" name="Google Shape;97;g3d0689a4217_2_0"/>
          <p:cNvSpPr txBox="1"/>
          <p:nvPr/>
        </p:nvSpPr>
        <p:spPr>
          <a:xfrm>
            <a:off x="4499504" y="4433721"/>
            <a:ext cx="2537400" cy="2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ru-RU" sz="2000">
                <a:latin typeface="Montserrat"/>
                <a:ea typeface="Montserrat"/>
                <a:cs typeface="Montserrat"/>
                <a:sym typeface="Montserrat"/>
              </a:rPr>
              <a:t>Дизассемблер</a:t>
            </a:r>
            <a:endParaRPr b="1" sz="20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8" name="Google Shape;98;g3d0689a4217_2_0"/>
          <p:cNvSpPr txBox="1"/>
          <p:nvPr/>
        </p:nvSpPr>
        <p:spPr>
          <a:xfrm>
            <a:off x="1715699" y="4438217"/>
            <a:ext cx="2186400" cy="2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ru-RU" sz="2000">
                <a:latin typeface="Montserrat"/>
                <a:ea typeface="Montserrat"/>
                <a:cs typeface="Montserrat"/>
                <a:sym typeface="Montserrat"/>
              </a:rPr>
              <a:t>Ассемблер</a:t>
            </a:r>
            <a:endParaRPr b="1" sz="2000">
              <a:latin typeface="Montserrat"/>
              <a:ea typeface="Montserrat"/>
              <a:cs typeface="Montserrat"/>
              <a:sym typeface="Montserrat"/>
            </a:endParaRPr>
          </a:p>
        </p:txBody>
      </p:sp>
      <p:grpSp>
        <p:nvGrpSpPr>
          <p:cNvPr id="99" name="Google Shape;99;g3d0689a4217_2_0"/>
          <p:cNvGrpSpPr/>
          <p:nvPr/>
        </p:nvGrpSpPr>
        <p:grpSpPr>
          <a:xfrm>
            <a:off x="215586" y="3465975"/>
            <a:ext cx="1580075" cy="670649"/>
            <a:chOff x="215586" y="3465975"/>
            <a:chExt cx="1580075" cy="670649"/>
          </a:xfrm>
        </p:grpSpPr>
        <p:pic>
          <p:nvPicPr>
            <p:cNvPr id="100" name="Google Shape;100;g3d0689a4217_2_0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215586" y="3465975"/>
              <a:ext cx="670525" cy="6705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01" name="Google Shape;101;g3d0689a4217_2_0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>
              <a:off x="1125136" y="3466098"/>
              <a:ext cx="670525" cy="67052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02" name="Google Shape;102;g3d0689a4217_2_0"/>
          <p:cNvSpPr/>
          <p:nvPr/>
        </p:nvSpPr>
        <p:spPr>
          <a:xfrm>
            <a:off x="2034675" y="1372798"/>
            <a:ext cx="4248300" cy="1131000"/>
          </a:xfrm>
          <a:prstGeom prst="roundRect">
            <a:avLst>
              <a:gd fmla="val 16667" name="adj"/>
            </a:avLst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ru-RU" sz="30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ЯП ВЫСОКОГО УРОВНЯ</a:t>
            </a:r>
            <a:endParaRPr b="1" sz="30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3" name="Google Shape;103;g3d0689a4217_2_0"/>
          <p:cNvSpPr/>
          <p:nvPr/>
        </p:nvSpPr>
        <p:spPr>
          <a:xfrm>
            <a:off x="6529375" y="1727998"/>
            <a:ext cx="1087500" cy="4206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g3d0689a4217_2_0"/>
          <p:cNvSpPr/>
          <p:nvPr/>
        </p:nvSpPr>
        <p:spPr>
          <a:xfrm>
            <a:off x="7950250" y="1372698"/>
            <a:ext cx="3479700" cy="11310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ru-RU" sz="2000">
                <a:latin typeface="Montserrat"/>
                <a:ea typeface="Montserrat"/>
                <a:cs typeface="Montserrat"/>
                <a:sym typeface="Montserrat"/>
              </a:rPr>
              <a:t>Понятный высокоуровневый код (циклы, классы…)</a:t>
            </a:r>
            <a:endParaRPr b="1" sz="2000">
              <a:latin typeface="Montserrat"/>
              <a:ea typeface="Montserrat"/>
              <a:cs typeface="Montserrat"/>
              <a:sym typeface="Montserrat"/>
            </a:endParaRPr>
          </a:p>
        </p:txBody>
      </p:sp>
      <p:grpSp>
        <p:nvGrpSpPr>
          <p:cNvPr id="105" name="Google Shape;105;g3d0689a4217_2_0"/>
          <p:cNvGrpSpPr/>
          <p:nvPr/>
        </p:nvGrpSpPr>
        <p:grpSpPr>
          <a:xfrm>
            <a:off x="3887601" y="2590677"/>
            <a:ext cx="542450" cy="558300"/>
            <a:chOff x="4033576" y="4453677"/>
            <a:chExt cx="542450" cy="558300"/>
          </a:xfrm>
        </p:grpSpPr>
        <p:sp>
          <p:nvSpPr>
            <p:cNvPr id="106" name="Google Shape;106;g3d0689a4217_2_0"/>
            <p:cNvSpPr/>
            <p:nvPr/>
          </p:nvSpPr>
          <p:spPr>
            <a:xfrm rot="-5400000">
              <a:off x="4171626" y="4607577"/>
              <a:ext cx="558300" cy="250500"/>
            </a:xfrm>
            <a:prstGeom prst="rightArrow">
              <a:avLst>
                <a:gd fmla="val 50000" name="adj1"/>
                <a:gd fmla="val 50000" name="adj2"/>
              </a:avLst>
            </a:prstGeom>
            <a:solidFill>
              <a:schemeClr val="dk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" name="Google Shape;107;g3d0689a4217_2_0"/>
            <p:cNvSpPr/>
            <p:nvPr/>
          </p:nvSpPr>
          <p:spPr>
            <a:xfrm rot="5400000">
              <a:off x="3879676" y="4607577"/>
              <a:ext cx="558300" cy="250500"/>
            </a:xfrm>
            <a:prstGeom prst="rightArrow">
              <a:avLst>
                <a:gd fmla="val 50000" name="adj1"/>
                <a:gd fmla="val 50000" name="adj2"/>
              </a:avLst>
            </a:prstGeom>
            <a:solidFill>
              <a:schemeClr val="dk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pic>
        <p:nvPicPr>
          <p:cNvPr id="108" name="Google Shape;108;g3d0689a4217_2_0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1245825" y="1606150"/>
            <a:ext cx="542450" cy="542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9" name="Google Shape;109;g3d0689a4217_2_0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456975" y="1606150"/>
            <a:ext cx="542450" cy="542450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g3d0689a4217_2_0"/>
          <p:cNvSpPr txBox="1"/>
          <p:nvPr/>
        </p:nvSpPr>
        <p:spPr>
          <a:xfrm>
            <a:off x="405886" y="2618772"/>
            <a:ext cx="3344100" cy="54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ru-RU" sz="1600">
                <a:latin typeface="Montserrat"/>
                <a:ea typeface="Montserrat"/>
                <a:cs typeface="Montserrat"/>
                <a:sym typeface="Montserrat"/>
              </a:rPr>
              <a:t>Компилятор/интерпретатор</a:t>
            </a:r>
            <a:endParaRPr b="1" sz="16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1" name="Google Shape;111;g3d0689a4217_2_0"/>
          <p:cNvSpPr txBox="1"/>
          <p:nvPr/>
        </p:nvSpPr>
        <p:spPr>
          <a:xfrm>
            <a:off x="4492416" y="2585267"/>
            <a:ext cx="2537400" cy="2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ru-RU" sz="2000">
                <a:latin typeface="Montserrat"/>
                <a:ea typeface="Montserrat"/>
                <a:cs typeface="Montserrat"/>
                <a:sym typeface="Montserrat"/>
              </a:rPr>
              <a:t>Декомпилятор</a:t>
            </a:r>
            <a:endParaRPr b="1" sz="2000"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3cc93861824_0_7"/>
          <p:cNvSpPr txBox="1"/>
          <p:nvPr>
            <p:ph idx="1" type="body"/>
          </p:nvPr>
        </p:nvSpPr>
        <p:spPr>
          <a:xfrm>
            <a:off x="560200" y="3105825"/>
            <a:ext cx="6389700" cy="1200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ru-RU"/>
              <a:t>Динамический анализ. Основные способы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2"/>
          <p:cNvSpPr txBox="1"/>
          <p:nvPr>
            <p:ph type="title"/>
          </p:nvPr>
        </p:nvSpPr>
        <p:spPr>
          <a:xfrm>
            <a:off x="559572" y="359101"/>
            <a:ext cx="11081566" cy="5232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</a:pPr>
            <a:r>
              <a:rPr lang="ru-RU"/>
              <a:t>Основные подходы к реверсу</a:t>
            </a:r>
            <a:endParaRPr/>
          </a:p>
        </p:txBody>
      </p:sp>
      <p:sp>
        <p:nvSpPr>
          <p:cNvPr id="122" name="Google Shape;122;p2"/>
          <p:cNvSpPr txBox="1"/>
          <p:nvPr>
            <p:ph idx="1" type="body"/>
          </p:nvPr>
        </p:nvSpPr>
        <p:spPr>
          <a:xfrm>
            <a:off x="559573" y="1729300"/>
            <a:ext cx="4157400" cy="4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</a:pPr>
            <a:r>
              <a:rPr lang="ru-RU" sz="2200"/>
              <a:t>Статический анализ</a:t>
            </a:r>
            <a:endParaRPr sz="2200">
              <a:solidFill>
                <a:schemeClr val="accent2"/>
              </a:solidFill>
            </a:endParaRPr>
          </a:p>
        </p:txBody>
      </p:sp>
      <p:sp>
        <p:nvSpPr>
          <p:cNvPr id="123" name="Google Shape;123;p2"/>
          <p:cNvSpPr txBox="1"/>
          <p:nvPr>
            <p:ph idx="2" type="body"/>
          </p:nvPr>
        </p:nvSpPr>
        <p:spPr>
          <a:xfrm>
            <a:off x="559580" y="2409025"/>
            <a:ext cx="4157400" cy="1323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55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AutoNum type="arabicPeriod"/>
            </a:pPr>
            <a:r>
              <a:rPr lang="ru-RU" sz="2000"/>
              <a:t>Получаем ассемблерный или исходный код</a:t>
            </a:r>
            <a:endParaRPr sz="2000"/>
          </a:p>
          <a:p>
            <a:pPr indent="-355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AutoNum type="arabicPeriod"/>
            </a:pPr>
            <a:r>
              <a:rPr lang="ru-RU" sz="2000"/>
              <a:t>Исследуем код без запуска</a:t>
            </a:r>
            <a:endParaRPr sz="2000"/>
          </a:p>
        </p:txBody>
      </p:sp>
      <p:sp>
        <p:nvSpPr>
          <p:cNvPr id="124" name="Google Shape;124;p2"/>
          <p:cNvSpPr txBox="1"/>
          <p:nvPr>
            <p:ph idx="1" type="body"/>
          </p:nvPr>
        </p:nvSpPr>
        <p:spPr>
          <a:xfrm>
            <a:off x="5989598" y="1729300"/>
            <a:ext cx="4157400" cy="4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</a:pPr>
            <a:r>
              <a:rPr lang="ru-RU" sz="2200"/>
              <a:t>Динамический анализ</a:t>
            </a:r>
            <a:endParaRPr sz="2200">
              <a:solidFill>
                <a:schemeClr val="accent2"/>
              </a:solidFill>
            </a:endParaRPr>
          </a:p>
        </p:txBody>
      </p:sp>
      <p:sp>
        <p:nvSpPr>
          <p:cNvPr id="125" name="Google Shape;125;p2"/>
          <p:cNvSpPr txBox="1"/>
          <p:nvPr>
            <p:ph idx="2" type="body"/>
          </p:nvPr>
        </p:nvSpPr>
        <p:spPr>
          <a:xfrm>
            <a:off x="5989605" y="2409025"/>
            <a:ext cx="4157400" cy="1939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55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AutoNum type="arabicPeriod"/>
            </a:pPr>
            <a:r>
              <a:rPr lang="ru-RU" sz="2000"/>
              <a:t>Запускаем программу в отладчике</a:t>
            </a:r>
            <a:endParaRPr sz="2000"/>
          </a:p>
          <a:p>
            <a:pPr indent="-355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AutoNum type="arabicPeriod"/>
            </a:pPr>
            <a:r>
              <a:rPr lang="ru-RU" sz="2000"/>
              <a:t>Исследуем, что происходит на каждом шаге (инструкции, память)</a:t>
            </a:r>
            <a:endParaRPr sz="2000"/>
          </a:p>
        </p:txBody>
      </p:sp>
      <p:grpSp>
        <p:nvGrpSpPr>
          <p:cNvPr id="126" name="Google Shape;126;p2"/>
          <p:cNvGrpSpPr/>
          <p:nvPr/>
        </p:nvGrpSpPr>
        <p:grpSpPr>
          <a:xfrm>
            <a:off x="731387" y="4567458"/>
            <a:ext cx="3813763" cy="1706649"/>
            <a:chOff x="268400" y="4181950"/>
            <a:chExt cx="4448575" cy="1990725"/>
          </a:xfrm>
        </p:grpSpPr>
        <p:pic>
          <p:nvPicPr>
            <p:cNvPr id="127" name="Google Shape;127;p2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268400" y="4181950"/>
              <a:ext cx="1619250" cy="19907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28" name="Google Shape;128;p2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2062669" y="4181950"/>
              <a:ext cx="2654306" cy="1990725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29" name="Google Shape;129;p2"/>
          <p:cNvGrpSpPr/>
          <p:nvPr/>
        </p:nvGrpSpPr>
        <p:grpSpPr>
          <a:xfrm>
            <a:off x="5203915" y="4597450"/>
            <a:ext cx="5728772" cy="1706650"/>
            <a:chOff x="5081078" y="4746550"/>
            <a:chExt cx="5728772" cy="1706650"/>
          </a:xfrm>
        </p:grpSpPr>
        <p:pic>
          <p:nvPicPr>
            <p:cNvPr id="130" name="Google Shape;130;p2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5081078" y="4746550"/>
              <a:ext cx="1760722" cy="17066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31" name="Google Shape;131;p2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7119175" y="4746550"/>
              <a:ext cx="1706649" cy="170664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32" name="Google Shape;132;p2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9103200" y="4746550"/>
              <a:ext cx="1706650" cy="170665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3"/>
          <p:cNvSpPr txBox="1"/>
          <p:nvPr>
            <p:ph type="title"/>
          </p:nvPr>
        </p:nvSpPr>
        <p:spPr>
          <a:xfrm>
            <a:off x="559572" y="359101"/>
            <a:ext cx="110817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</a:pPr>
            <a:r>
              <a:rPr lang="ru-RU"/>
              <a:t>Основные способы</a:t>
            </a:r>
            <a:endParaRPr/>
          </a:p>
        </p:txBody>
      </p:sp>
      <p:sp>
        <p:nvSpPr>
          <p:cNvPr id="138" name="Google Shape;138;p3"/>
          <p:cNvSpPr txBox="1"/>
          <p:nvPr>
            <p:ph idx="2" type="body"/>
          </p:nvPr>
        </p:nvSpPr>
        <p:spPr>
          <a:xfrm>
            <a:off x="559575" y="1771050"/>
            <a:ext cx="6636600" cy="13233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55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AutoNum type="arabicPeriod"/>
            </a:pPr>
            <a:r>
              <a:rPr b="1" lang="ru-RU" sz="2000"/>
              <a:t>ltrace</a:t>
            </a:r>
            <a:r>
              <a:rPr lang="ru-RU" sz="2000"/>
              <a:t> – перехват вызовов библиотечных функций</a:t>
            </a:r>
            <a:endParaRPr/>
          </a:p>
          <a:p>
            <a:pPr indent="-355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AutoNum type="arabicPeriod"/>
            </a:pPr>
            <a:r>
              <a:rPr b="1" lang="ru-RU" sz="2000"/>
              <a:t>strace</a:t>
            </a:r>
            <a:r>
              <a:rPr lang="ru-RU" sz="2000"/>
              <a:t> – перехват системных вызовов</a:t>
            </a:r>
            <a:endParaRPr/>
          </a:p>
          <a:p>
            <a:pPr indent="-355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AutoNum type="arabicPeriod"/>
            </a:pPr>
            <a:r>
              <a:rPr b="1" lang="ru-RU" sz="2000"/>
              <a:t>GDB + pwndbg </a:t>
            </a:r>
            <a:r>
              <a:rPr lang="ru-RU" sz="2000"/>
              <a:t>- отладка</a:t>
            </a:r>
            <a:endParaRPr sz="2000"/>
          </a:p>
        </p:txBody>
      </p:sp>
      <p:pic>
        <p:nvPicPr>
          <p:cNvPr descr="Плагин для ранжирования кода по важности или как я пыталась облегчить жизнь  программистам / Хабр" id="139" name="Google Shape;139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836516" y="1771050"/>
            <a:ext cx="2837314" cy="419206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5"/>
          <p:cNvSpPr txBox="1"/>
          <p:nvPr>
            <p:ph type="title"/>
          </p:nvPr>
        </p:nvSpPr>
        <p:spPr>
          <a:xfrm>
            <a:off x="559572" y="359101"/>
            <a:ext cx="110817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</a:pPr>
            <a:r>
              <a:rPr lang="ru-RU"/>
              <a:t>ltrace</a:t>
            </a:r>
            <a:endParaRPr/>
          </a:p>
        </p:txBody>
      </p:sp>
      <p:sp>
        <p:nvSpPr>
          <p:cNvPr id="145" name="Google Shape;145;p5"/>
          <p:cNvSpPr txBox="1"/>
          <p:nvPr>
            <p:ph idx="2" type="body"/>
          </p:nvPr>
        </p:nvSpPr>
        <p:spPr>
          <a:xfrm>
            <a:off x="559575" y="1771050"/>
            <a:ext cx="6636600" cy="255450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55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AutoNum type="arabicPeriod"/>
            </a:pPr>
            <a:r>
              <a:rPr i="1" lang="ru-RU" sz="2000"/>
              <a:t>ltrace ./main</a:t>
            </a:r>
            <a:endParaRPr i="1" sz="2000"/>
          </a:p>
          <a:p>
            <a:pPr indent="-355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AutoNum type="arabicPeriod"/>
            </a:pPr>
            <a:r>
              <a:rPr i="1" lang="ru-RU" sz="2000"/>
              <a:t>-e ‘f1 + f2’ – </a:t>
            </a:r>
            <a:r>
              <a:rPr lang="ru-RU" sz="2000"/>
              <a:t>только f1, f2</a:t>
            </a:r>
            <a:endParaRPr/>
          </a:p>
          <a:p>
            <a:pPr indent="-355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AutoNum type="arabicPeriod"/>
            </a:pPr>
            <a:r>
              <a:rPr i="1" lang="ru-RU" sz="2000"/>
              <a:t>-e ‘!f1’ – </a:t>
            </a:r>
            <a:r>
              <a:rPr lang="ru-RU" sz="2000"/>
              <a:t>исключить f1</a:t>
            </a:r>
            <a:endParaRPr/>
          </a:p>
          <a:p>
            <a:pPr indent="-355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AutoNum type="arabicPeriod"/>
            </a:pPr>
            <a:r>
              <a:rPr i="1" lang="ru-RU" sz="2000"/>
              <a:t>-l lib – </a:t>
            </a:r>
            <a:r>
              <a:rPr lang="ru-RU" sz="2000"/>
              <a:t>библиотека</a:t>
            </a:r>
            <a:endParaRPr/>
          </a:p>
          <a:p>
            <a:pPr indent="-355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AutoNum type="arabicPeriod"/>
            </a:pPr>
            <a:r>
              <a:rPr i="1" lang="ru-RU" sz="2000"/>
              <a:t>-s N </a:t>
            </a:r>
            <a:r>
              <a:rPr lang="ru-RU" sz="2000"/>
              <a:t>– длины строк</a:t>
            </a:r>
            <a:endParaRPr/>
          </a:p>
          <a:p>
            <a:pPr indent="-355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AutoNum type="arabicPeriod"/>
            </a:pPr>
            <a:r>
              <a:rPr i="1" lang="ru-RU" sz="2000"/>
              <a:t>-r </a:t>
            </a:r>
            <a:r>
              <a:rPr lang="ru-RU" sz="2000"/>
              <a:t>– коды возврата</a:t>
            </a:r>
            <a:endParaRPr/>
          </a:p>
          <a:p>
            <a:pPr indent="-355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AutoNum type="arabicPeriod"/>
            </a:pPr>
            <a:r>
              <a:rPr i="1" lang="ru-RU" sz="2000"/>
              <a:t>-f </a:t>
            </a:r>
            <a:r>
              <a:rPr lang="ru-RU" sz="2000"/>
              <a:t>– дочерние процессы</a:t>
            </a:r>
            <a:endParaRPr sz="2000"/>
          </a:p>
          <a:p>
            <a:pPr indent="-228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</a:pPr>
            <a:r>
              <a:t/>
            </a:r>
            <a:endParaRPr i="1" sz="2000"/>
          </a:p>
        </p:txBody>
      </p:sp>
      <p:grpSp>
        <p:nvGrpSpPr>
          <p:cNvPr id="146" name="Google Shape;146;p5"/>
          <p:cNvGrpSpPr/>
          <p:nvPr/>
        </p:nvGrpSpPr>
        <p:grpSpPr>
          <a:xfrm>
            <a:off x="7607808" y="2309440"/>
            <a:ext cx="2998450" cy="3554599"/>
            <a:chOff x="7988198" y="2777613"/>
            <a:chExt cx="2998450" cy="3554599"/>
          </a:xfrm>
        </p:grpSpPr>
        <p:sp>
          <p:nvSpPr>
            <p:cNvPr id="147" name="Google Shape;147;p5"/>
            <p:cNvSpPr/>
            <p:nvPr/>
          </p:nvSpPr>
          <p:spPr>
            <a:xfrm>
              <a:off x="8266175" y="5698540"/>
              <a:ext cx="2720473" cy="633672"/>
            </a:xfrm>
            <a:prstGeom prst="roundRect">
              <a:avLst>
                <a:gd fmla="val 16667" name="adj"/>
              </a:avLst>
            </a:prstGeom>
            <a:solidFill>
              <a:schemeClr val="dk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000"/>
                <a:buFont typeface="Arial"/>
                <a:buNone/>
              </a:pPr>
              <a:r>
                <a:rPr b="1" i="0" lang="ru-RU" sz="3000" u="none" cap="none" strike="noStrike">
                  <a:solidFill>
                    <a:schemeClr val="lt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libc</a:t>
              </a:r>
              <a:endParaRPr b="1" i="0" sz="30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148" name="Google Shape;148;p5"/>
            <p:cNvSpPr/>
            <p:nvPr/>
          </p:nvSpPr>
          <p:spPr>
            <a:xfrm>
              <a:off x="8266175" y="2777613"/>
              <a:ext cx="2720473" cy="633672"/>
            </a:xfrm>
            <a:prstGeom prst="roundRect">
              <a:avLst>
                <a:gd fmla="val 16667" name="adj"/>
              </a:avLst>
            </a:prstGeom>
            <a:solidFill>
              <a:schemeClr val="dk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000"/>
                <a:buFont typeface="Arial"/>
                <a:buNone/>
              </a:pPr>
              <a:r>
                <a:rPr b="1" i="0" lang="ru-RU" sz="3000" u="none" cap="none" strike="noStrike">
                  <a:solidFill>
                    <a:schemeClr val="lt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main</a:t>
              </a:r>
              <a:endParaRPr b="1" i="0" sz="30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149" name="Google Shape;149;p5"/>
            <p:cNvSpPr/>
            <p:nvPr/>
          </p:nvSpPr>
          <p:spPr>
            <a:xfrm>
              <a:off x="8609990" y="4238076"/>
              <a:ext cx="2032842" cy="633672"/>
            </a:xfrm>
            <a:prstGeom prst="roundRect">
              <a:avLst>
                <a:gd fmla="val 16667" name="adj"/>
              </a:avLst>
            </a:prstGeom>
            <a:solidFill>
              <a:schemeClr val="dk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000"/>
                <a:buFont typeface="Arial"/>
                <a:buNone/>
              </a:pPr>
              <a:r>
                <a:rPr b="1" i="0" lang="ru-RU" sz="3000" u="none" cap="none" strike="noStrike">
                  <a:solidFill>
                    <a:schemeClr val="lt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ltrace</a:t>
              </a:r>
              <a:endParaRPr b="1" i="0" sz="30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150" name="Google Shape;150;p5"/>
            <p:cNvSpPr/>
            <p:nvPr/>
          </p:nvSpPr>
          <p:spPr>
            <a:xfrm>
              <a:off x="9443924" y="3411285"/>
              <a:ext cx="351130" cy="826791"/>
            </a:xfrm>
            <a:prstGeom prst="downArrow">
              <a:avLst>
                <a:gd fmla="val 50000" name="adj1"/>
                <a:gd fmla="val 50000" name="adj2"/>
              </a:avLst>
            </a:prstGeom>
            <a:solidFill>
              <a:schemeClr val="accent1"/>
            </a:solidFill>
            <a:ln cap="flat" cmpd="sng" w="2540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1" name="Google Shape;151;p5"/>
            <p:cNvSpPr/>
            <p:nvPr/>
          </p:nvSpPr>
          <p:spPr>
            <a:xfrm>
              <a:off x="9450846" y="4871748"/>
              <a:ext cx="351130" cy="826791"/>
            </a:xfrm>
            <a:prstGeom prst="downArrow">
              <a:avLst>
                <a:gd fmla="val 50000" name="adj1"/>
                <a:gd fmla="val 50000" name="adj2"/>
              </a:avLst>
            </a:prstGeom>
            <a:solidFill>
              <a:schemeClr val="accent1"/>
            </a:solidFill>
            <a:ln cap="flat" cmpd="sng" w="2540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2" name="Google Shape;152;p5"/>
            <p:cNvSpPr txBox="1"/>
            <p:nvPr/>
          </p:nvSpPr>
          <p:spPr>
            <a:xfrm>
              <a:off x="7988198" y="3628339"/>
              <a:ext cx="1345997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ru-RU" sz="1800" u="none" cap="none" strike="noStrike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printf()</a:t>
              </a:r>
              <a:endParaRPr b="1" i="0" sz="18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  <p:sp>
        <p:nvSpPr>
          <p:cNvPr id="153" name="Google Shape;153;p5"/>
          <p:cNvSpPr txBox="1"/>
          <p:nvPr/>
        </p:nvSpPr>
        <p:spPr>
          <a:xfrm>
            <a:off x="829266" y="6334798"/>
            <a:ext cx="60972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u="sng">
                <a:solidFill>
                  <a:schemeClr val="hlink"/>
                </a:solidFill>
                <a:hlinkClick r:id="rId3"/>
              </a:rPr>
              <a:t>Проект OpenNet: MAN ltrace (1) Команды и прикладные программы пользовательского уровня (FreeBSD и Linux)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6"/>
          <p:cNvSpPr txBox="1"/>
          <p:nvPr>
            <p:ph type="title"/>
          </p:nvPr>
        </p:nvSpPr>
        <p:spPr>
          <a:xfrm>
            <a:off x="559572" y="359101"/>
            <a:ext cx="110817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</a:pPr>
            <a:r>
              <a:rPr lang="ru-RU"/>
              <a:t>strace</a:t>
            </a:r>
            <a:endParaRPr/>
          </a:p>
        </p:txBody>
      </p:sp>
      <p:sp>
        <p:nvSpPr>
          <p:cNvPr id="159" name="Google Shape;159;p6"/>
          <p:cNvSpPr txBox="1"/>
          <p:nvPr>
            <p:ph idx="2" type="body"/>
          </p:nvPr>
        </p:nvSpPr>
        <p:spPr>
          <a:xfrm>
            <a:off x="559575" y="1771050"/>
            <a:ext cx="6636600" cy="255450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55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AutoNum type="arabicPeriod"/>
            </a:pPr>
            <a:r>
              <a:rPr i="1" lang="ru-RU" sz="2000"/>
              <a:t>strace ./main</a:t>
            </a:r>
            <a:endParaRPr i="1" sz="2000"/>
          </a:p>
          <a:p>
            <a:pPr indent="-355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AutoNum type="arabicPeriod"/>
            </a:pPr>
            <a:r>
              <a:rPr i="1" lang="ru-RU" sz="2000"/>
              <a:t>-f </a:t>
            </a:r>
            <a:r>
              <a:rPr lang="ru-RU" sz="2000"/>
              <a:t>– дочерние процессы</a:t>
            </a:r>
            <a:endParaRPr/>
          </a:p>
          <a:p>
            <a:pPr indent="-355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AutoNum type="arabicPeriod"/>
            </a:pPr>
            <a:r>
              <a:rPr i="1" lang="ru-RU" sz="2000"/>
              <a:t>-e trace=read,write </a:t>
            </a:r>
            <a:r>
              <a:rPr lang="ru-RU" sz="2000"/>
              <a:t>– определённые сисколы</a:t>
            </a:r>
            <a:endParaRPr sz="2000"/>
          </a:p>
          <a:p>
            <a:pPr indent="-355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AutoNum type="arabicPeriod"/>
            </a:pPr>
            <a:r>
              <a:rPr i="1" lang="ru-RU" sz="2000"/>
              <a:t>-s N </a:t>
            </a:r>
            <a:r>
              <a:rPr lang="ru-RU" sz="2000"/>
              <a:t>– максимальная длина строк</a:t>
            </a:r>
            <a:endParaRPr/>
          </a:p>
          <a:p>
            <a:pPr indent="-355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AutoNum type="arabicPeriod"/>
            </a:pPr>
            <a:r>
              <a:rPr i="1" lang="ru-RU" sz="2000"/>
              <a:t>-T </a:t>
            </a:r>
            <a:r>
              <a:rPr lang="ru-RU" sz="2000"/>
              <a:t>– время выполнения сисколов</a:t>
            </a:r>
            <a:endParaRPr sz="2000"/>
          </a:p>
          <a:p>
            <a:pPr indent="-355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AutoNum type="arabicPeriod"/>
            </a:pPr>
            <a:r>
              <a:rPr i="1" lang="ru-RU" sz="2000"/>
              <a:t>-o trace.log </a:t>
            </a:r>
            <a:r>
              <a:rPr lang="ru-RU" sz="2000"/>
              <a:t>– записать в файл</a:t>
            </a:r>
            <a:endParaRPr sz="2000"/>
          </a:p>
          <a:p>
            <a:pPr indent="-228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</a:pPr>
            <a:r>
              <a:t/>
            </a:r>
            <a:endParaRPr sz="2000"/>
          </a:p>
          <a:p>
            <a:pPr indent="-228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</a:pPr>
            <a:r>
              <a:t/>
            </a:r>
            <a:endParaRPr i="1" sz="2000"/>
          </a:p>
        </p:txBody>
      </p:sp>
      <p:grpSp>
        <p:nvGrpSpPr>
          <p:cNvPr id="160" name="Google Shape;160;p6"/>
          <p:cNvGrpSpPr/>
          <p:nvPr/>
        </p:nvGrpSpPr>
        <p:grpSpPr>
          <a:xfrm>
            <a:off x="7607808" y="2309440"/>
            <a:ext cx="2998450" cy="3554599"/>
            <a:chOff x="7988198" y="2777613"/>
            <a:chExt cx="2998450" cy="3554599"/>
          </a:xfrm>
        </p:grpSpPr>
        <p:sp>
          <p:nvSpPr>
            <p:cNvPr id="161" name="Google Shape;161;p6"/>
            <p:cNvSpPr/>
            <p:nvPr/>
          </p:nvSpPr>
          <p:spPr>
            <a:xfrm>
              <a:off x="8266175" y="5698540"/>
              <a:ext cx="2720473" cy="633672"/>
            </a:xfrm>
            <a:prstGeom prst="roundRect">
              <a:avLst>
                <a:gd fmla="val 16667" name="adj"/>
              </a:avLst>
            </a:prstGeom>
            <a:solidFill>
              <a:schemeClr val="dk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000"/>
                <a:buFont typeface="Arial"/>
                <a:buNone/>
              </a:pPr>
              <a:r>
                <a:rPr b="1" i="0" lang="ru-RU" sz="3000" u="none" cap="none" strike="noStrike">
                  <a:solidFill>
                    <a:schemeClr val="lt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kernel</a:t>
              </a:r>
              <a:endParaRPr b="1" i="0" sz="30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162" name="Google Shape;162;p6"/>
            <p:cNvSpPr/>
            <p:nvPr/>
          </p:nvSpPr>
          <p:spPr>
            <a:xfrm>
              <a:off x="8266175" y="2777613"/>
              <a:ext cx="2720473" cy="633672"/>
            </a:xfrm>
            <a:prstGeom prst="roundRect">
              <a:avLst>
                <a:gd fmla="val 16667" name="adj"/>
              </a:avLst>
            </a:prstGeom>
            <a:solidFill>
              <a:schemeClr val="dk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000"/>
                <a:buFont typeface="Arial"/>
                <a:buNone/>
              </a:pPr>
              <a:r>
                <a:rPr b="1" i="0" lang="ru-RU" sz="3000" u="none" cap="none" strike="noStrike">
                  <a:solidFill>
                    <a:schemeClr val="lt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main</a:t>
              </a:r>
              <a:endParaRPr b="1" i="0" sz="30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163" name="Google Shape;163;p6"/>
            <p:cNvSpPr/>
            <p:nvPr/>
          </p:nvSpPr>
          <p:spPr>
            <a:xfrm>
              <a:off x="8609990" y="4238076"/>
              <a:ext cx="2032842" cy="633672"/>
            </a:xfrm>
            <a:prstGeom prst="roundRect">
              <a:avLst>
                <a:gd fmla="val 16667" name="adj"/>
              </a:avLst>
            </a:prstGeom>
            <a:solidFill>
              <a:schemeClr val="dk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000"/>
                <a:buFont typeface="Arial"/>
                <a:buNone/>
              </a:pPr>
              <a:r>
                <a:rPr b="1" i="0" lang="ru-RU" sz="3000" u="none" cap="none" strike="noStrike">
                  <a:solidFill>
                    <a:schemeClr val="lt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strace</a:t>
              </a:r>
              <a:endParaRPr b="1" i="0" sz="30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164" name="Google Shape;164;p6"/>
            <p:cNvSpPr/>
            <p:nvPr/>
          </p:nvSpPr>
          <p:spPr>
            <a:xfrm>
              <a:off x="9443924" y="3411285"/>
              <a:ext cx="351130" cy="826791"/>
            </a:xfrm>
            <a:prstGeom prst="downArrow">
              <a:avLst>
                <a:gd fmla="val 50000" name="adj1"/>
                <a:gd fmla="val 50000" name="adj2"/>
              </a:avLst>
            </a:prstGeom>
            <a:solidFill>
              <a:schemeClr val="accent1"/>
            </a:solidFill>
            <a:ln cap="flat" cmpd="sng" w="2540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5" name="Google Shape;165;p6"/>
            <p:cNvSpPr/>
            <p:nvPr/>
          </p:nvSpPr>
          <p:spPr>
            <a:xfrm>
              <a:off x="9450846" y="4871748"/>
              <a:ext cx="351130" cy="826791"/>
            </a:xfrm>
            <a:prstGeom prst="downArrow">
              <a:avLst>
                <a:gd fmla="val 50000" name="adj1"/>
                <a:gd fmla="val 50000" name="adj2"/>
              </a:avLst>
            </a:prstGeom>
            <a:solidFill>
              <a:schemeClr val="accent1"/>
            </a:solidFill>
            <a:ln cap="flat" cmpd="sng" w="2540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6" name="Google Shape;166;p6"/>
            <p:cNvSpPr txBox="1"/>
            <p:nvPr/>
          </p:nvSpPr>
          <p:spPr>
            <a:xfrm>
              <a:off x="7988198" y="3628339"/>
              <a:ext cx="1345997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ru-RU" sz="1800" u="none" cap="none" strike="noStrike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write()</a:t>
              </a:r>
              <a:endParaRPr b="1" i="0" sz="18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  <p:sp>
        <p:nvSpPr>
          <p:cNvPr id="167" name="Google Shape;167;p6"/>
          <p:cNvSpPr txBox="1"/>
          <p:nvPr/>
        </p:nvSpPr>
        <p:spPr>
          <a:xfrm>
            <a:off x="915916" y="6550198"/>
            <a:ext cx="60972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u="sng">
                <a:solidFill>
                  <a:schemeClr val="hlink"/>
                </a:solidFill>
                <a:hlinkClick r:id="rId3"/>
              </a:rPr>
              <a:t>strace(1) - Linux manual page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7"/>
          <p:cNvSpPr txBox="1"/>
          <p:nvPr>
            <p:ph type="title"/>
          </p:nvPr>
        </p:nvSpPr>
        <p:spPr>
          <a:xfrm>
            <a:off x="559572" y="359101"/>
            <a:ext cx="11081566" cy="5232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</a:pPr>
            <a:r>
              <a:rPr lang="ru-RU"/>
              <a:t>Отладка</a:t>
            </a:r>
            <a:endParaRPr/>
          </a:p>
        </p:txBody>
      </p:sp>
      <p:sp>
        <p:nvSpPr>
          <p:cNvPr id="173" name="Google Shape;173;p7"/>
          <p:cNvSpPr txBox="1"/>
          <p:nvPr>
            <p:ph idx="1" type="body"/>
          </p:nvPr>
        </p:nvSpPr>
        <p:spPr>
          <a:xfrm>
            <a:off x="559573" y="1729300"/>
            <a:ext cx="4157400" cy="4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</a:pPr>
            <a:r>
              <a:rPr lang="ru-RU" sz="2200" u="sng">
                <a:solidFill>
                  <a:schemeClr val="hlink"/>
                </a:solidFill>
                <a:hlinkClick r:id="rId3"/>
              </a:rPr>
              <a:t>GDB</a:t>
            </a:r>
            <a:endParaRPr sz="2200">
              <a:solidFill>
                <a:schemeClr val="accent2"/>
              </a:solidFill>
            </a:endParaRPr>
          </a:p>
        </p:txBody>
      </p:sp>
      <p:sp>
        <p:nvSpPr>
          <p:cNvPr id="174" name="Google Shape;174;p7"/>
          <p:cNvSpPr txBox="1"/>
          <p:nvPr>
            <p:ph idx="2" type="body"/>
          </p:nvPr>
        </p:nvSpPr>
        <p:spPr>
          <a:xfrm>
            <a:off x="559580" y="2409025"/>
            <a:ext cx="4157400" cy="378561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4445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Arial"/>
              <a:buChar char="•"/>
            </a:pPr>
            <a:r>
              <a:rPr lang="ru-RU" sz="2000"/>
              <a:t>Основной консольный отладчик в Linux</a:t>
            </a:r>
            <a:endParaRPr/>
          </a:p>
          <a:p>
            <a:pPr indent="-342900" lvl="0" marL="4445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Arial"/>
              <a:buChar char="•"/>
            </a:pPr>
            <a:r>
              <a:rPr lang="ru-RU" sz="2000"/>
              <a:t>Позволяет ставить точки останова, выполнять программу по шагам, смотреть память и дизассемблированный код</a:t>
            </a:r>
            <a:endParaRPr/>
          </a:p>
          <a:p>
            <a:pPr indent="-342900" lvl="0" marL="4445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Arial"/>
              <a:buChar char="•"/>
            </a:pPr>
            <a:r>
              <a:rPr lang="ru-RU" sz="2000"/>
              <a:t>Если программа с отладочными символами, будет виден исходный код</a:t>
            </a:r>
            <a:endParaRPr sz="2000"/>
          </a:p>
        </p:txBody>
      </p:sp>
      <p:sp>
        <p:nvSpPr>
          <p:cNvPr id="175" name="Google Shape;175;p7"/>
          <p:cNvSpPr txBox="1"/>
          <p:nvPr>
            <p:ph idx="1" type="body"/>
          </p:nvPr>
        </p:nvSpPr>
        <p:spPr>
          <a:xfrm>
            <a:off x="5989598" y="1729300"/>
            <a:ext cx="4157400" cy="4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</a:pPr>
            <a:r>
              <a:rPr lang="ru-RU" sz="2200" u="sng">
                <a:solidFill>
                  <a:schemeClr val="hlink"/>
                </a:solidFill>
                <a:hlinkClick r:id="rId4"/>
              </a:rPr>
              <a:t>pwndbg</a:t>
            </a:r>
            <a:endParaRPr sz="2200">
              <a:solidFill>
                <a:schemeClr val="accent2"/>
              </a:solidFill>
            </a:endParaRPr>
          </a:p>
        </p:txBody>
      </p:sp>
      <p:sp>
        <p:nvSpPr>
          <p:cNvPr id="176" name="Google Shape;176;p7"/>
          <p:cNvSpPr txBox="1"/>
          <p:nvPr>
            <p:ph idx="2" type="body"/>
          </p:nvPr>
        </p:nvSpPr>
        <p:spPr>
          <a:xfrm>
            <a:off x="5989605" y="2409025"/>
            <a:ext cx="4157400" cy="163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55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Arial"/>
              <a:buChar char="•"/>
            </a:pPr>
            <a:r>
              <a:rPr lang="ru-RU" sz="2000"/>
              <a:t>Плагин для GDB</a:t>
            </a:r>
            <a:endParaRPr/>
          </a:p>
          <a:p>
            <a:pPr indent="-355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Arial"/>
              <a:buChar char="•"/>
            </a:pPr>
            <a:r>
              <a:rPr lang="ru-RU" sz="2000"/>
              <a:t>Делает анализ нагляднее и удобнее</a:t>
            </a:r>
            <a:endParaRPr/>
          </a:p>
          <a:p>
            <a:pPr indent="-355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Arial"/>
              <a:buChar char="•"/>
            </a:pPr>
            <a:r>
              <a:rPr lang="ru-RU" sz="2000"/>
              <a:t>Добавляет новые функции</a:t>
            </a:r>
            <a:endParaRPr sz="20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8"/>
          <p:cNvSpPr txBox="1"/>
          <p:nvPr>
            <p:ph type="title"/>
          </p:nvPr>
        </p:nvSpPr>
        <p:spPr>
          <a:xfrm>
            <a:off x="559572" y="359101"/>
            <a:ext cx="110817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</a:pPr>
            <a:r>
              <a:rPr lang="ru-RU"/>
              <a:t>Запуск и подготовка к отладке</a:t>
            </a:r>
            <a:endParaRPr/>
          </a:p>
        </p:txBody>
      </p:sp>
      <p:sp>
        <p:nvSpPr>
          <p:cNvPr id="182" name="Google Shape;182;p8"/>
          <p:cNvSpPr txBox="1"/>
          <p:nvPr>
            <p:ph idx="2" type="body"/>
          </p:nvPr>
        </p:nvSpPr>
        <p:spPr>
          <a:xfrm>
            <a:off x="559575" y="1771050"/>
            <a:ext cx="6636600" cy="317005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55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AutoNum type="arabicPeriod"/>
            </a:pPr>
            <a:r>
              <a:rPr i="1" lang="ru-RU" sz="2000"/>
              <a:t>gdb ./main</a:t>
            </a:r>
            <a:endParaRPr/>
          </a:p>
          <a:p>
            <a:pPr indent="-355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AutoNum type="arabicPeriod"/>
            </a:pPr>
            <a:r>
              <a:rPr lang="ru-RU" sz="2000"/>
              <a:t>gdb –args ./main secret</a:t>
            </a:r>
            <a:endParaRPr/>
          </a:p>
          <a:p>
            <a:pPr indent="-355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AutoNum type="arabicPeriod"/>
            </a:pPr>
            <a:r>
              <a:rPr lang="ru-RU" sz="2000"/>
              <a:t>set args secret</a:t>
            </a:r>
            <a:endParaRPr/>
          </a:p>
          <a:p>
            <a:pPr indent="-355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AutoNum type="arabicPeriod"/>
            </a:pPr>
            <a:r>
              <a:rPr lang="ru-RU" sz="2000"/>
              <a:t>show args</a:t>
            </a:r>
            <a:endParaRPr sz="2000"/>
          </a:p>
          <a:p>
            <a:pPr indent="-355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AutoNum type="arabicPeriod"/>
            </a:pPr>
            <a:r>
              <a:rPr lang="ru-RU" sz="2000"/>
              <a:t>run / r (далее можно написать аргументы командной строки)</a:t>
            </a:r>
            <a:endParaRPr sz="2000"/>
          </a:p>
          <a:p>
            <a:pPr indent="-355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AutoNum type="arabicPeriod"/>
            </a:pPr>
            <a:r>
              <a:rPr lang="ru-RU" sz="2000"/>
              <a:t>quit / q</a:t>
            </a:r>
            <a:endParaRPr/>
          </a:p>
          <a:p>
            <a:pPr indent="-228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</a:pPr>
            <a:r>
              <a:t/>
            </a:r>
            <a:endParaRPr sz="2000"/>
          </a:p>
          <a:p>
            <a:pPr indent="-228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</a:pPr>
            <a:r>
              <a:t/>
            </a:r>
            <a:endParaRPr sz="2000"/>
          </a:p>
          <a:p>
            <a:pPr indent="-228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</a:pPr>
            <a:r>
              <a:t/>
            </a:r>
            <a:endParaRPr i="1" sz="2000"/>
          </a:p>
        </p:txBody>
      </p:sp>
      <p:pic>
        <p:nvPicPr>
          <p:cNvPr descr="Devlopment #Developer #Debug #Debugging #Meme #FunnyFriday #FridayFun  #Caddycode" id="183" name="Google Shape;183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512710" y="2417470"/>
            <a:ext cx="3849540" cy="30826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19"/>
          <p:cNvSpPr txBox="1"/>
          <p:nvPr>
            <p:ph type="title"/>
          </p:nvPr>
        </p:nvSpPr>
        <p:spPr>
          <a:xfrm>
            <a:off x="559572" y="359101"/>
            <a:ext cx="110817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</a:pPr>
            <a:r>
              <a:rPr lang="ru-RU"/>
              <a:t>Точки останова (breakpoints)</a:t>
            </a:r>
            <a:endParaRPr/>
          </a:p>
        </p:txBody>
      </p:sp>
      <p:sp>
        <p:nvSpPr>
          <p:cNvPr id="189" name="Google Shape;189;p19"/>
          <p:cNvSpPr txBox="1"/>
          <p:nvPr>
            <p:ph idx="2" type="body"/>
          </p:nvPr>
        </p:nvSpPr>
        <p:spPr>
          <a:xfrm>
            <a:off x="559575" y="1771050"/>
            <a:ext cx="6636600" cy="40933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55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AutoNum type="arabicPeriod"/>
            </a:pPr>
            <a:r>
              <a:rPr lang="ru-RU" sz="2000"/>
              <a:t>Программные</a:t>
            </a:r>
            <a:endParaRPr sz="2000"/>
          </a:p>
          <a:p>
            <a:pPr indent="-457200" lvl="1" marL="1016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Char char="•"/>
            </a:pPr>
            <a:r>
              <a:rPr lang="ru-RU" sz="2000">
                <a:latin typeface="Montserrat"/>
                <a:ea typeface="Montserrat"/>
                <a:cs typeface="Montserrat"/>
                <a:sym typeface="Montserrat"/>
              </a:rPr>
              <a:t>Инструкция запоминается и заменяется на int3 – исключение</a:t>
            </a:r>
            <a:endParaRPr/>
          </a:p>
          <a:p>
            <a:pPr indent="-457200" lvl="1" marL="1016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Char char="•"/>
            </a:pPr>
            <a:r>
              <a:rPr lang="ru-RU" sz="2000">
                <a:latin typeface="Montserrat"/>
                <a:ea typeface="Montserrat"/>
                <a:cs typeface="Montserrat"/>
                <a:sym typeface="Montserrat"/>
              </a:rPr>
              <a:t>Отладчик обрабатывает исключение и восстанавливает инструкцию</a:t>
            </a:r>
            <a:endParaRPr/>
          </a:p>
          <a:p>
            <a:pPr indent="-457200" lvl="1" marL="1016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Char char="•"/>
            </a:pPr>
            <a:r>
              <a:rPr lang="ru-RU" sz="2000" u="sng">
                <a:latin typeface="Montserrat"/>
                <a:ea typeface="Montserrat"/>
                <a:cs typeface="Montserrat"/>
                <a:sym typeface="Montserrat"/>
              </a:rPr>
              <a:t>Неограниченное кол-во, любой код</a:t>
            </a:r>
            <a:endParaRPr/>
          </a:p>
          <a:p>
            <a:pPr indent="-355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AutoNum type="arabicPeriod"/>
            </a:pPr>
            <a:r>
              <a:rPr lang="ru-RU" sz="2000"/>
              <a:t>Аппаратные</a:t>
            </a:r>
            <a:endParaRPr/>
          </a:p>
          <a:p>
            <a:pPr indent="-457200" lvl="1" marL="1016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Char char="•"/>
            </a:pPr>
            <a:r>
              <a:rPr lang="ru-RU" sz="2000">
                <a:latin typeface="Montserrat"/>
                <a:ea typeface="Montserrat"/>
                <a:cs typeface="Montserrat"/>
                <a:sym typeface="Montserrat"/>
              </a:rPr>
              <a:t>Использует debug-регистры процессора </a:t>
            </a:r>
            <a:r>
              <a:rPr b="1" lang="ru-RU" sz="2000">
                <a:latin typeface="Montserrat"/>
                <a:ea typeface="Montserrat"/>
                <a:cs typeface="Montserrat"/>
                <a:sym typeface="Montserrat"/>
              </a:rPr>
              <a:t>DR0-DR7</a:t>
            </a:r>
            <a:endParaRPr/>
          </a:p>
          <a:p>
            <a:pPr indent="-457200" lvl="1" marL="1016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Char char="•"/>
            </a:pPr>
            <a:r>
              <a:rPr lang="ru-RU" sz="2000">
                <a:latin typeface="Montserrat"/>
                <a:ea typeface="Montserrat"/>
                <a:cs typeface="Montserrat"/>
                <a:sym typeface="Montserrat"/>
              </a:rPr>
              <a:t>4 брейкпоинта, не модифицируют код</a:t>
            </a:r>
            <a:endParaRPr/>
          </a:p>
          <a:p>
            <a:pPr indent="-355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AutoNum type="arabicPeriod"/>
            </a:pPr>
            <a:r>
              <a:rPr lang="ru-RU" sz="2000"/>
              <a:t>На область памяти (watchpoints)</a:t>
            </a:r>
            <a:endParaRPr/>
          </a:p>
          <a:p>
            <a:pPr indent="-228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</a:pPr>
            <a:r>
              <a:t/>
            </a:r>
            <a:endParaRPr sz="2000"/>
          </a:p>
          <a:p>
            <a:pPr indent="-228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</a:pPr>
            <a:r>
              <a:t/>
            </a:r>
            <a:endParaRPr i="1" sz="2000"/>
          </a:p>
        </p:txBody>
      </p:sp>
      <p:pic>
        <p:nvPicPr>
          <p:cNvPr descr="This is the right way : r/ProgrammerHumor" id="190" name="Google Shape;190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002829" y="1456184"/>
            <a:ext cx="3087013" cy="440825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20"/>
          <p:cNvSpPr txBox="1"/>
          <p:nvPr>
            <p:ph type="title"/>
          </p:nvPr>
        </p:nvSpPr>
        <p:spPr>
          <a:xfrm>
            <a:off x="559572" y="359101"/>
            <a:ext cx="110817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</a:pPr>
            <a:r>
              <a:rPr lang="ru-RU"/>
              <a:t>Точки останова (breakpoints)</a:t>
            </a:r>
            <a:endParaRPr/>
          </a:p>
        </p:txBody>
      </p:sp>
      <p:sp>
        <p:nvSpPr>
          <p:cNvPr id="196" name="Google Shape;196;p20"/>
          <p:cNvSpPr txBox="1"/>
          <p:nvPr>
            <p:ph idx="2" type="body"/>
          </p:nvPr>
        </p:nvSpPr>
        <p:spPr>
          <a:xfrm>
            <a:off x="559574" y="1771050"/>
            <a:ext cx="7132539" cy="317005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55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AutoNum type="arabicPeriod"/>
            </a:pPr>
            <a:r>
              <a:rPr i="1" lang="ru-RU" sz="2000"/>
              <a:t>break / b main</a:t>
            </a:r>
            <a:endParaRPr/>
          </a:p>
          <a:p>
            <a:pPr indent="-355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AutoNum type="arabicPeriod"/>
            </a:pPr>
            <a:r>
              <a:rPr i="1" lang="ru-RU" sz="2000"/>
              <a:t>b main.c:10</a:t>
            </a:r>
            <a:endParaRPr/>
          </a:p>
          <a:p>
            <a:pPr indent="-355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AutoNum type="arabicPeriod"/>
            </a:pPr>
            <a:r>
              <a:rPr i="1" lang="ru-RU" sz="2000"/>
              <a:t>b *0x52525252</a:t>
            </a:r>
            <a:endParaRPr/>
          </a:p>
          <a:p>
            <a:pPr indent="-355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AutoNum type="arabicPeriod"/>
            </a:pPr>
            <a:r>
              <a:rPr i="1" lang="ru-RU" sz="2000"/>
              <a:t>info break / i b</a:t>
            </a:r>
            <a:endParaRPr/>
          </a:p>
          <a:p>
            <a:pPr indent="-355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AutoNum type="arabicPeriod"/>
            </a:pPr>
            <a:r>
              <a:rPr i="1" lang="ru-RU" sz="2000"/>
              <a:t>delete – </a:t>
            </a:r>
            <a:r>
              <a:rPr lang="ru-RU" sz="2000"/>
              <a:t>удалить все</a:t>
            </a:r>
            <a:endParaRPr/>
          </a:p>
          <a:p>
            <a:pPr indent="-355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AutoNum type="arabicPeriod"/>
            </a:pPr>
            <a:r>
              <a:rPr i="1" lang="ru-RU" sz="2000"/>
              <a:t>delete 1 – </a:t>
            </a:r>
            <a:r>
              <a:rPr lang="ru-RU" sz="2000"/>
              <a:t>удалить первый</a:t>
            </a:r>
            <a:endParaRPr/>
          </a:p>
          <a:p>
            <a:pPr indent="-355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AutoNum type="arabicPeriod"/>
            </a:pPr>
            <a:r>
              <a:rPr i="1" lang="ru-RU" sz="2000"/>
              <a:t>enable 1 / disable 1 – </a:t>
            </a:r>
            <a:r>
              <a:rPr lang="ru-RU" sz="2000"/>
              <a:t>активировать / деактивировать</a:t>
            </a:r>
            <a:endParaRPr/>
          </a:p>
          <a:p>
            <a:pPr indent="-355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AutoNum type="arabicPeriod"/>
            </a:pPr>
            <a:r>
              <a:rPr i="1" lang="ru-RU" sz="2000"/>
              <a:t>condition 1 argc == 5 – </a:t>
            </a:r>
            <a:r>
              <a:rPr lang="ru-RU" sz="2000"/>
              <a:t>условие срабатывания</a:t>
            </a:r>
            <a:endParaRPr sz="2000"/>
          </a:p>
          <a:p>
            <a:pPr indent="-228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</a:pPr>
            <a:r>
              <a:t/>
            </a:r>
            <a:endParaRPr i="1" sz="2000"/>
          </a:p>
        </p:txBody>
      </p:sp>
      <p:pic>
        <p:nvPicPr>
          <p:cNvPr descr="Breakpoints Memes · ProgrammerHumor.io" id="197" name="Google Shape;197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2114" y="1998041"/>
            <a:ext cx="3605072" cy="363940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21"/>
          <p:cNvSpPr txBox="1"/>
          <p:nvPr>
            <p:ph type="title"/>
          </p:nvPr>
        </p:nvSpPr>
        <p:spPr>
          <a:xfrm>
            <a:off x="559572" y="359101"/>
            <a:ext cx="110817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</a:pPr>
            <a:r>
              <a:rPr lang="ru-RU"/>
              <a:t>Управление выполнением</a:t>
            </a:r>
            <a:endParaRPr/>
          </a:p>
        </p:txBody>
      </p:sp>
      <p:sp>
        <p:nvSpPr>
          <p:cNvPr id="203" name="Google Shape;203;p21"/>
          <p:cNvSpPr txBox="1"/>
          <p:nvPr>
            <p:ph idx="2" type="body"/>
          </p:nvPr>
        </p:nvSpPr>
        <p:spPr>
          <a:xfrm>
            <a:off x="559574" y="1771050"/>
            <a:ext cx="7132539" cy="286228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55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AutoNum type="arabicPeriod"/>
            </a:pPr>
            <a:r>
              <a:rPr i="1" lang="ru-RU" sz="2000"/>
              <a:t>next / n – </a:t>
            </a:r>
            <a:r>
              <a:rPr lang="ru-RU" sz="2000"/>
              <a:t>следующая строка</a:t>
            </a:r>
            <a:endParaRPr sz="2000"/>
          </a:p>
          <a:p>
            <a:pPr indent="-355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AutoNum type="arabicPeriod"/>
            </a:pPr>
            <a:r>
              <a:rPr i="1" lang="ru-RU" sz="2000"/>
              <a:t>ni – </a:t>
            </a:r>
            <a:r>
              <a:rPr lang="ru-RU" sz="2000"/>
              <a:t>следующая ассемблерная инструкция</a:t>
            </a:r>
            <a:endParaRPr/>
          </a:p>
          <a:p>
            <a:pPr indent="-355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AutoNum type="arabicPeriod"/>
            </a:pPr>
            <a:r>
              <a:rPr i="1" lang="ru-RU" sz="2000"/>
              <a:t>step / s – </a:t>
            </a:r>
            <a:r>
              <a:rPr lang="ru-RU" sz="2000"/>
              <a:t>шаг с заходом</a:t>
            </a:r>
            <a:endParaRPr/>
          </a:p>
          <a:p>
            <a:pPr indent="-355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AutoNum type="arabicPeriod"/>
            </a:pPr>
            <a:r>
              <a:rPr i="1" lang="ru-RU" sz="2000"/>
              <a:t>si – </a:t>
            </a:r>
            <a:r>
              <a:rPr lang="ru-RU" sz="2000"/>
              <a:t>следующая инструкция с заходом</a:t>
            </a:r>
            <a:endParaRPr sz="2000"/>
          </a:p>
          <a:p>
            <a:pPr indent="-355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AutoNum type="arabicPeriod"/>
            </a:pPr>
            <a:r>
              <a:rPr i="1" lang="ru-RU" sz="2000"/>
              <a:t>continue / c – </a:t>
            </a:r>
            <a:r>
              <a:rPr lang="ru-RU" sz="2000"/>
              <a:t>продолжить выполнение </a:t>
            </a:r>
            <a:endParaRPr/>
          </a:p>
          <a:p>
            <a:pPr indent="-355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AutoNum type="arabicPeriod"/>
            </a:pPr>
            <a:r>
              <a:rPr i="1" lang="ru-RU" sz="2000"/>
              <a:t>finish – </a:t>
            </a:r>
            <a:r>
              <a:rPr lang="ru-RU" sz="2000"/>
              <a:t>выполнить текущую функцию до возврата</a:t>
            </a:r>
            <a:endParaRPr sz="2000"/>
          </a:p>
          <a:p>
            <a:pPr indent="-355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AutoNum type="arabicPeriod"/>
            </a:pPr>
            <a:r>
              <a:rPr i="1" lang="ru-RU" sz="2000"/>
              <a:t>until 10 – </a:t>
            </a:r>
            <a:r>
              <a:rPr lang="ru-RU" sz="2000"/>
              <a:t>выполнить до 10 строки</a:t>
            </a:r>
            <a:endParaRPr sz="2000"/>
          </a:p>
          <a:p>
            <a:pPr indent="-355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AutoNum type="arabicPeriod"/>
            </a:pPr>
            <a:r>
              <a:rPr i="1" lang="ru-RU" sz="2000"/>
              <a:t>start – </a:t>
            </a:r>
            <a:r>
              <a:rPr lang="ru-RU" sz="2000"/>
              <a:t>выполнить до entrypoint</a:t>
            </a:r>
            <a:endParaRPr sz="2000"/>
          </a:p>
        </p:txBody>
      </p:sp>
      <p:pic>
        <p:nvPicPr>
          <p:cNvPr descr="Step by step debugging : r/ProgrammerHumor" id="204" name="Google Shape;204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278625" y="2573155"/>
            <a:ext cx="4220834" cy="263802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22"/>
          <p:cNvSpPr txBox="1"/>
          <p:nvPr>
            <p:ph type="title"/>
          </p:nvPr>
        </p:nvSpPr>
        <p:spPr>
          <a:xfrm>
            <a:off x="559572" y="359101"/>
            <a:ext cx="110817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</a:pPr>
            <a:r>
              <a:rPr lang="ru-RU"/>
              <a:t>Просмотр исходного кода</a:t>
            </a:r>
            <a:endParaRPr/>
          </a:p>
        </p:txBody>
      </p:sp>
      <p:sp>
        <p:nvSpPr>
          <p:cNvPr id="210" name="Google Shape;210;p22"/>
          <p:cNvSpPr txBox="1"/>
          <p:nvPr>
            <p:ph idx="2" type="body"/>
          </p:nvPr>
        </p:nvSpPr>
        <p:spPr>
          <a:xfrm>
            <a:off x="559574" y="1771050"/>
            <a:ext cx="7132539" cy="163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55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AutoNum type="arabicPeriod"/>
            </a:pPr>
            <a:r>
              <a:rPr i="1" lang="ru-RU" sz="2000"/>
              <a:t>list / l</a:t>
            </a:r>
            <a:endParaRPr/>
          </a:p>
          <a:p>
            <a:pPr indent="-355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AutoNum type="arabicPeriod"/>
            </a:pPr>
            <a:r>
              <a:rPr lang="ru-RU" sz="2000"/>
              <a:t>list main</a:t>
            </a:r>
            <a:endParaRPr/>
          </a:p>
          <a:p>
            <a:pPr indent="-355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AutoNum type="arabicPeriod"/>
            </a:pPr>
            <a:r>
              <a:rPr lang="ru-RU" sz="2000"/>
              <a:t>list 1,20</a:t>
            </a:r>
            <a:endParaRPr/>
          </a:p>
          <a:p>
            <a:pPr indent="-355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AutoNum type="arabicPeriod"/>
            </a:pPr>
            <a:r>
              <a:rPr lang="ru-RU" sz="2000"/>
              <a:t>info source</a:t>
            </a:r>
            <a:endParaRPr/>
          </a:p>
          <a:p>
            <a:pPr indent="-355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AutoNum type="arabicPeriod"/>
            </a:pPr>
            <a:r>
              <a:rPr lang="ru-RU" sz="2000"/>
              <a:t>directory src/ </a:t>
            </a:r>
            <a:endParaRPr sz="2000"/>
          </a:p>
        </p:txBody>
      </p:sp>
      <p:pic>
        <p:nvPicPr>
          <p:cNvPr descr="Print statements &amp;gt;&amp;gt;&amp;gt; · ProgrammerHumor.io" id="211" name="Google Shape;211;p22"/>
          <p:cNvPicPr preferRelativeResize="0"/>
          <p:nvPr/>
        </p:nvPicPr>
        <p:blipFill rotWithShape="1">
          <a:blip r:embed="rId3">
            <a:alphaModFix/>
          </a:blip>
          <a:srcRect b="3123" l="0" r="0" t="0"/>
          <a:stretch/>
        </p:blipFill>
        <p:spPr>
          <a:xfrm>
            <a:off x="7358738" y="1771050"/>
            <a:ext cx="3995062" cy="39234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23"/>
          <p:cNvSpPr txBox="1"/>
          <p:nvPr>
            <p:ph type="title"/>
          </p:nvPr>
        </p:nvSpPr>
        <p:spPr>
          <a:xfrm>
            <a:off x="559572" y="359101"/>
            <a:ext cx="110817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</a:pPr>
            <a:r>
              <a:rPr lang="ru-RU"/>
              <a:t>Переменные, выражения, память</a:t>
            </a:r>
            <a:endParaRPr/>
          </a:p>
        </p:txBody>
      </p:sp>
      <p:sp>
        <p:nvSpPr>
          <p:cNvPr id="217" name="Google Shape;217;p23"/>
          <p:cNvSpPr txBox="1"/>
          <p:nvPr>
            <p:ph idx="2" type="body"/>
          </p:nvPr>
        </p:nvSpPr>
        <p:spPr>
          <a:xfrm>
            <a:off x="559574" y="1771050"/>
            <a:ext cx="7132539" cy="163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55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AutoNum type="arabicPeriod"/>
            </a:pPr>
            <a:r>
              <a:rPr i="1" lang="ru-RU" sz="2000"/>
              <a:t>print / p argc</a:t>
            </a:r>
            <a:endParaRPr i="1" sz="2000"/>
          </a:p>
          <a:p>
            <a:pPr indent="-355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AutoNum type="arabicPeriod"/>
            </a:pPr>
            <a:r>
              <a:rPr i="1" lang="ru-RU" sz="2000"/>
              <a:t>print &amp;argc</a:t>
            </a:r>
            <a:endParaRPr i="1" sz="2000"/>
          </a:p>
          <a:p>
            <a:pPr indent="-355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AutoNum type="arabicPeriod"/>
            </a:pPr>
            <a:r>
              <a:rPr i="1" lang="ru-RU" sz="2000"/>
              <a:t>print argv[1]</a:t>
            </a:r>
            <a:endParaRPr/>
          </a:p>
          <a:p>
            <a:pPr indent="-355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AutoNum type="arabicPeriod"/>
            </a:pPr>
            <a:r>
              <a:rPr i="1" lang="ru-RU" sz="2000"/>
              <a:t>set var argc = 4</a:t>
            </a:r>
            <a:endParaRPr/>
          </a:p>
          <a:p>
            <a:pPr indent="-355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AutoNum type="arabicPeriod"/>
            </a:pPr>
            <a:r>
              <a:rPr i="1" lang="ru-RU" sz="2000"/>
              <a:t>x /[n][f][u] &lt;адрес&gt;</a:t>
            </a:r>
            <a:endParaRPr/>
          </a:p>
        </p:txBody>
      </p:sp>
      <p:pic>
        <p:nvPicPr>
          <p:cNvPr descr="Изображение выглядит как текст, снимок экрана&#10;&#10;Содержимое, созданное искусственным интеллектом, может быть неверным." id="218" name="Google Shape;218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810250" y="1238251"/>
            <a:ext cx="3257550" cy="554806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Изображение выглядит как текст, снимок экрана, Шрифт, дизайн&#10;&#10;Содержимое, созданное искусственным интеллектом, может быть неверным." id="219" name="Google Shape;219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067800" y="1242013"/>
            <a:ext cx="2759115" cy="33109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24"/>
          <p:cNvSpPr txBox="1"/>
          <p:nvPr>
            <p:ph type="title"/>
          </p:nvPr>
        </p:nvSpPr>
        <p:spPr>
          <a:xfrm>
            <a:off x="559572" y="359101"/>
            <a:ext cx="110817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</a:pPr>
            <a:r>
              <a:rPr lang="ru-RU"/>
              <a:t>Наблюдение и автоматизация</a:t>
            </a:r>
            <a:endParaRPr/>
          </a:p>
        </p:txBody>
      </p:sp>
      <p:sp>
        <p:nvSpPr>
          <p:cNvPr id="225" name="Google Shape;225;p24"/>
          <p:cNvSpPr txBox="1"/>
          <p:nvPr>
            <p:ph idx="2" type="body"/>
          </p:nvPr>
        </p:nvSpPr>
        <p:spPr>
          <a:xfrm>
            <a:off x="559574" y="1771050"/>
            <a:ext cx="7132539" cy="19389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55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AutoNum type="arabicPeriod"/>
            </a:pPr>
            <a:r>
              <a:rPr i="1" lang="ru-RU" sz="2000"/>
              <a:t>watch x – </a:t>
            </a:r>
            <a:r>
              <a:rPr lang="ru-RU" sz="2000"/>
              <a:t>на запись</a:t>
            </a:r>
            <a:endParaRPr sz="2000"/>
          </a:p>
          <a:p>
            <a:pPr indent="-355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AutoNum type="arabicPeriod"/>
            </a:pPr>
            <a:r>
              <a:rPr i="1" lang="ru-RU" sz="2000"/>
              <a:t>rwatch x – </a:t>
            </a:r>
            <a:r>
              <a:rPr lang="ru-RU" sz="2000"/>
              <a:t>на чтение</a:t>
            </a:r>
            <a:endParaRPr sz="2000"/>
          </a:p>
          <a:p>
            <a:pPr indent="-355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AutoNum type="arabicPeriod"/>
            </a:pPr>
            <a:r>
              <a:rPr i="1" lang="ru-RU" sz="2000"/>
              <a:t>awatch x – </a:t>
            </a:r>
            <a:r>
              <a:rPr lang="ru-RU" sz="2000"/>
              <a:t>на чтение и запись</a:t>
            </a:r>
            <a:endParaRPr sz="2000"/>
          </a:p>
          <a:p>
            <a:pPr indent="-355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AutoNum type="arabicPeriod"/>
            </a:pPr>
            <a:r>
              <a:rPr i="1" lang="ru-RU" sz="2000"/>
              <a:t>commands 1</a:t>
            </a:r>
            <a:endParaRPr/>
          </a:p>
          <a:p>
            <a:pPr indent="-3556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AutoNum type="arabicPeriod"/>
            </a:pPr>
            <a:r>
              <a:rPr i="1" lang="ru-RU" sz="2000">
                <a:latin typeface="Montserrat"/>
                <a:ea typeface="Montserrat"/>
                <a:cs typeface="Montserrat"/>
                <a:sym typeface="Montserrat"/>
              </a:rPr>
              <a:t>print x</a:t>
            </a:r>
            <a:endParaRPr/>
          </a:p>
          <a:p>
            <a:pPr indent="-3556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AutoNum type="arabicPeriod"/>
            </a:pPr>
            <a:r>
              <a:rPr i="1" lang="ru-RU" sz="2000">
                <a:latin typeface="Montserrat"/>
                <a:ea typeface="Montserrat"/>
                <a:cs typeface="Montserrat"/>
                <a:sym typeface="Montserrat"/>
              </a:rPr>
              <a:t>end</a:t>
            </a:r>
            <a:endParaRPr/>
          </a:p>
        </p:txBody>
      </p:sp>
      <p:pic>
        <p:nvPicPr>
          <p:cNvPr descr="Мем: &quot;продолжаю наблюдение&quot; - Все шаблоны - Meme-arsenal.com" id="226" name="Google Shape;226;p24"/>
          <p:cNvPicPr preferRelativeResize="0"/>
          <p:nvPr/>
        </p:nvPicPr>
        <p:blipFill rotWithShape="1">
          <a:blip r:embed="rId3">
            <a:alphaModFix/>
          </a:blip>
          <a:srcRect b="5570" l="0" r="0" t="0"/>
          <a:stretch/>
        </p:blipFill>
        <p:spPr>
          <a:xfrm>
            <a:off x="6380921" y="2230030"/>
            <a:ext cx="5007925" cy="309778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g3d0496d8fde_0_7"/>
          <p:cNvSpPr txBox="1"/>
          <p:nvPr>
            <p:ph idx="1" type="body"/>
          </p:nvPr>
        </p:nvSpPr>
        <p:spPr>
          <a:xfrm>
            <a:off x="560200" y="3105825"/>
            <a:ext cx="63897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ru-RU"/>
              <a:t>pwntools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3d0496d8fde_0_69"/>
          <p:cNvSpPr txBox="1"/>
          <p:nvPr>
            <p:ph type="title"/>
          </p:nvPr>
        </p:nvSpPr>
        <p:spPr>
          <a:xfrm>
            <a:off x="559572" y="359101"/>
            <a:ext cx="110817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</a:pPr>
            <a:r>
              <a:rPr lang="ru-RU"/>
              <a:t>Установка библиотеки</a:t>
            </a:r>
            <a:endParaRPr/>
          </a:p>
        </p:txBody>
      </p:sp>
      <p:sp>
        <p:nvSpPr>
          <p:cNvPr id="237" name="Google Shape;237;g3d0496d8fde_0_69"/>
          <p:cNvSpPr txBox="1"/>
          <p:nvPr>
            <p:ph idx="2" type="body"/>
          </p:nvPr>
        </p:nvSpPr>
        <p:spPr>
          <a:xfrm>
            <a:off x="559574" y="1771050"/>
            <a:ext cx="7132500" cy="1939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ru-RU" sz="2000"/>
              <a:t>pwntools</a:t>
            </a:r>
            <a:r>
              <a:rPr lang="ru-RU" sz="2000"/>
              <a:t> - библиотека для автоматизации pwn-задач и работы с бинарными файлами</a:t>
            </a:r>
            <a:endParaRPr sz="20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ru-RU" sz="2000"/>
              <a:t>pip install pwntools</a:t>
            </a:r>
            <a:endParaRPr i="1"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ru-RU" sz="2000"/>
              <a:t>from pwn import *</a:t>
            </a:r>
            <a:endParaRPr i="1" sz="200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g3d0496d8fde_0_85"/>
          <p:cNvSpPr txBox="1"/>
          <p:nvPr>
            <p:ph type="title"/>
          </p:nvPr>
        </p:nvSpPr>
        <p:spPr>
          <a:xfrm>
            <a:off x="559572" y="359101"/>
            <a:ext cx="110817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</a:pPr>
            <a:r>
              <a:rPr lang="ru-RU"/>
              <a:t>Запуск и подключение</a:t>
            </a:r>
            <a:endParaRPr/>
          </a:p>
        </p:txBody>
      </p:sp>
      <p:sp>
        <p:nvSpPr>
          <p:cNvPr id="243" name="Google Shape;243;g3d0496d8fde_0_85"/>
          <p:cNvSpPr txBox="1"/>
          <p:nvPr>
            <p:ph idx="2" type="body"/>
          </p:nvPr>
        </p:nvSpPr>
        <p:spPr>
          <a:xfrm>
            <a:off x="559574" y="1771050"/>
            <a:ext cx="7132500" cy="1323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ru-RU" sz="2000"/>
              <a:t>p = process('./binary') - локальный процесс</a:t>
            </a:r>
            <a:endParaRPr i="1"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ru-RU" sz="2000"/>
              <a:t>p = remote('192.168.52.52', 1337) </a:t>
            </a:r>
            <a:r>
              <a:rPr lang="ru-RU" sz="2000"/>
              <a:t>- удалённый процесс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ru-RU" sz="2000"/>
              <a:t>p = remote('ctf.example.com', 5000)</a:t>
            </a:r>
            <a:endParaRPr b="1" sz="200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g3d0496d8fde_0_77"/>
          <p:cNvSpPr txBox="1"/>
          <p:nvPr>
            <p:ph type="title"/>
          </p:nvPr>
        </p:nvSpPr>
        <p:spPr>
          <a:xfrm>
            <a:off x="559572" y="359101"/>
            <a:ext cx="110817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</a:pPr>
            <a:r>
              <a:rPr lang="ru-RU"/>
              <a:t>Отправка данных</a:t>
            </a:r>
            <a:endParaRPr/>
          </a:p>
        </p:txBody>
      </p:sp>
      <p:sp>
        <p:nvSpPr>
          <p:cNvPr id="249" name="Google Shape;249;g3d0496d8fde_0_77"/>
          <p:cNvSpPr txBox="1"/>
          <p:nvPr>
            <p:ph idx="2" type="body"/>
          </p:nvPr>
        </p:nvSpPr>
        <p:spPr>
          <a:xfrm>
            <a:off x="559575" y="1771050"/>
            <a:ext cx="8727300" cy="286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ru-RU" sz="2000"/>
              <a:t>p.send(data) </a:t>
            </a:r>
            <a:r>
              <a:rPr lang="ru-RU" sz="2000"/>
              <a:t>- отправить байты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ru-RU" sz="2000"/>
              <a:t>p.sendline(data) </a:t>
            </a:r>
            <a:r>
              <a:rPr lang="ru-RU" sz="2000"/>
              <a:t>- отправить + \n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ru-RU" sz="2000"/>
              <a:t>p.sendafter(s, data) </a:t>
            </a:r>
            <a:r>
              <a:rPr lang="ru-RU" sz="2000"/>
              <a:t>- подождать строку s, затем отправить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ru-RU" sz="2000"/>
              <a:t>p.sendlineafter(s, data)</a:t>
            </a:r>
            <a:endParaRPr i="1"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-RU" sz="2000"/>
              <a:t>Примеры:</a:t>
            </a:r>
            <a:endParaRPr b="1"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ru-RU" sz="2000"/>
              <a:t>p.sendline(b"test")</a:t>
            </a:r>
            <a:endParaRPr i="1"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ru-RU" sz="2000"/>
              <a:t>p.sendlineafter(b"Input:", payload)</a:t>
            </a:r>
            <a:endParaRPr i="1"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ru-RU" sz="2000"/>
              <a:t>p.send(b"A" * 16)</a:t>
            </a:r>
            <a:endParaRPr b="1" sz="200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g3d0496d8fde_0_93"/>
          <p:cNvSpPr txBox="1"/>
          <p:nvPr>
            <p:ph type="title"/>
          </p:nvPr>
        </p:nvSpPr>
        <p:spPr>
          <a:xfrm>
            <a:off x="559572" y="359101"/>
            <a:ext cx="110817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</a:pPr>
            <a:r>
              <a:rPr lang="ru-RU"/>
              <a:t>Чтение данных</a:t>
            </a:r>
            <a:endParaRPr/>
          </a:p>
        </p:txBody>
      </p:sp>
      <p:sp>
        <p:nvSpPr>
          <p:cNvPr id="255" name="Google Shape;255;g3d0496d8fde_0_93"/>
          <p:cNvSpPr txBox="1"/>
          <p:nvPr>
            <p:ph idx="2" type="body"/>
          </p:nvPr>
        </p:nvSpPr>
        <p:spPr>
          <a:xfrm>
            <a:off x="559575" y="1771050"/>
            <a:ext cx="8727300" cy="286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ru-RU" sz="2000"/>
              <a:t>p.recv(n) </a:t>
            </a:r>
            <a:r>
              <a:rPr lang="ru-RU" sz="2000"/>
              <a:t>- прочитать n байт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ru-RU" sz="2000"/>
              <a:t>p.recvline() </a:t>
            </a:r>
            <a:r>
              <a:rPr lang="ru-RU" sz="2000"/>
              <a:t>- прочитать строку до \n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ru-RU" sz="2000"/>
              <a:t>p.recvuntil(s) </a:t>
            </a:r>
            <a:r>
              <a:rPr lang="ru-RU" sz="2000"/>
              <a:t>- читать до строки s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ru-RU" sz="2000"/>
              <a:t>p.recvall() </a:t>
            </a:r>
            <a:r>
              <a:rPr lang="ru-RU" sz="2000"/>
              <a:t>- прочитать всё до EOF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ru-RU" sz="2000"/>
              <a:t>p.interactive() </a:t>
            </a:r>
            <a:r>
              <a:rPr lang="ru-RU" sz="2000"/>
              <a:t>- передать управление пользователю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-RU" sz="2000"/>
              <a:t>Примеры:</a:t>
            </a:r>
            <a:endParaRPr b="1"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ru-RU" sz="2000"/>
              <a:t>data = p.recvline()</a:t>
            </a:r>
            <a:endParaRPr i="1"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ru-RU" sz="2000"/>
              <a:t>p.interactive()</a:t>
            </a:r>
            <a:endParaRPr i="1" sz="200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g3d0496d8fde_0_100"/>
          <p:cNvSpPr txBox="1"/>
          <p:nvPr>
            <p:ph type="title"/>
          </p:nvPr>
        </p:nvSpPr>
        <p:spPr>
          <a:xfrm>
            <a:off x="559572" y="359101"/>
            <a:ext cx="110817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</a:pPr>
            <a:r>
              <a:rPr lang="ru-RU"/>
              <a:t>Упаковка данных</a:t>
            </a:r>
            <a:endParaRPr/>
          </a:p>
        </p:txBody>
      </p:sp>
      <p:sp>
        <p:nvSpPr>
          <p:cNvPr id="261" name="Google Shape;261;g3d0496d8fde_0_100"/>
          <p:cNvSpPr txBox="1"/>
          <p:nvPr>
            <p:ph idx="2" type="body"/>
          </p:nvPr>
        </p:nvSpPr>
        <p:spPr>
          <a:xfrm>
            <a:off x="559575" y="1771050"/>
            <a:ext cx="8727300" cy="3478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ru-RU" sz="2000"/>
              <a:t>p32(addr) </a:t>
            </a:r>
            <a:r>
              <a:rPr lang="ru-RU" sz="2000"/>
              <a:t>- адрес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ru-RU" sz="2000"/>
              <a:t>p32(addr, endian='big')</a:t>
            </a:r>
            <a:endParaRPr i="1"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ru-RU" sz="2000"/>
              <a:t>p64(addr) </a:t>
            </a:r>
            <a:r>
              <a:rPr lang="ru-RU" sz="2000"/>
              <a:t>- little-endian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ru-RU" sz="2000"/>
              <a:t>p64(addr, endian='big') </a:t>
            </a:r>
            <a:r>
              <a:rPr lang="ru-RU" sz="2000"/>
              <a:t>- big-endian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000"/>
              <a:t>u32(data)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000"/>
              <a:t>u32(data, endian=’big’)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000"/>
              <a:t>u64(data) - байты в число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000"/>
              <a:t>u64(data, endian=’big’)</a:t>
            </a:r>
            <a:endParaRPr sz="200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g3d0689a4217_0_3"/>
          <p:cNvSpPr txBox="1"/>
          <p:nvPr>
            <p:ph type="title"/>
          </p:nvPr>
        </p:nvSpPr>
        <p:spPr>
          <a:xfrm>
            <a:off x="559572" y="359101"/>
            <a:ext cx="110817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</a:pPr>
            <a:r>
              <a:rPr lang="ru-RU"/>
              <a:t>Работа с ELF</a:t>
            </a:r>
            <a:endParaRPr/>
          </a:p>
        </p:txBody>
      </p:sp>
      <p:sp>
        <p:nvSpPr>
          <p:cNvPr id="267" name="Google Shape;267;g3d0689a4217_0_3"/>
          <p:cNvSpPr txBox="1"/>
          <p:nvPr>
            <p:ph idx="2" type="body"/>
          </p:nvPr>
        </p:nvSpPr>
        <p:spPr>
          <a:xfrm>
            <a:off x="559575" y="1771050"/>
            <a:ext cx="8727300" cy="2555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ru-RU" sz="2000"/>
              <a:t>elf = ELF('./binary') </a:t>
            </a:r>
            <a:r>
              <a:rPr lang="ru-RU" sz="2000"/>
              <a:t>- загрузка бинаря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ru-RU" sz="2000"/>
              <a:t>elf.symbols['main']</a:t>
            </a:r>
            <a:r>
              <a:rPr lang="ru-RU" sz="2000"/>
              <a:t> - адрес функции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ru-RU" sz="2000"/>
              <a:t>elf.got['puts']</a:t>
            </a:r>
            <a:r>
              <a:rPr lang="ru-RU" sz="2000"/>
              <a:t> - адрес GOT-записи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ru-RU" sz="2000"/>
              <a:t>elf.plt['puts'] </a:t>
            </a:r>
            <a:r>
              <a:rPr lang="ru-RU" sz="2000"/>
              <a:t>- адрес PLT-записи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ru-RU" sz="2000"/>
              <a:t>elf.address </a:t>
            </a:r>
            <a:r>
              <a:rPr lang="ru-RU" sz="2000"/>
              <a:t>- базовый адрес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 sz="200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g3d0496d8fde_0_65"/>
          <p:cNvSpPr txBox="1"/>
          <p:nvPr>
            <p:ph idx="1" type="body"/>
          </p:nvPr>
        </p:nvSpPr>
        <p:spPr>
          <a:xfrm>
            <a:off x="560200" y="3105825"/>
            <a:ext cx="6389700" cy="12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ru-RU"/>
              <a:t>Введение в бинарные уязвимости (PWN)</a:t>
            </a:r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g3d0496d8fde_0_0"/>
          <p:cNvSpPr txBox="1"/>
          <p:nvPr>
            <p:ph type="title"/>
          </p:nvPr>
        </p:nvSpPr>
        <p:spPr>
          <a:xfrm>
            <a:off x="559572" y="359101"/>
            <a:ext cx="110817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</a:pPr>
            <a:r>
              <a:rPr lang="ru-RU"/>
              <a:t>Что такое PWN?</a:t>
            </a:r>
            <a:endParaRPr/>
          </a:p>
        </p:txBody>
      </p:sp>
      <p:sp>
        <p:nvSpPr>
          <p:cNvPr id="278" name="Google Shape;278;g3d0496d8fde_0_0"/>
          <p:cNvSpPr txBox="1"/>
          <p:nvPr>
            <p:ph idx="2" type="body"/>
          </p:nvPr>
        </p:nvSpPr>
        <p:spPr>
          <a:xfrm>
            <a:off x="559575" y="1771050"/>
            <a:ext cx="6400800" cy="1939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55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AutoNum type="arabicPeriod"/>
            </a:pPr>
            <a:r>
              <a:rPr lang="ru-RU" sz="2000"/>
              <a:t>Эксплуатация уязвимостей в скомпилированных программах</a:t>
            </a:r>
            <a:endParaRPr sz="2000"/>
          </a:p>
          <a:p>
            <a:pPr indent="-355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AutoNum type="arabicPeriod"/>
            </a:pPr>
            <a:r>
              <a:rPr b="1" lang="ru-RU" sz="2000"/>
              <a:t>Цели обычно: </a:t>
            </a:r>
            <a:r>
              <a:rPr lang="ru-RU" sz="2000"/>
              <a:t>выполнить произвольный код, получить shell, повысить привилегии</a:t>
            </a:r>
            <a:endParaRPr sz="2000"/>
          </a:p>
          <a:p>
            <a:pPr indent="-355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AutoNum type="arabicPeriod"/>
            </a:pPr>
            <a:r>
              <a:rPr b="1" lang="ru-RU" sz="2000"/>
              <a:t>Основа</a:t>
            </a:r>
            <a:r>
              <a:rPr lang="ru-RU" sz="2000"/>
              <a:t> - небезопасная работа с памятью, undefined behaviour</a:t>
            </a:r>
            <a:endParaRPr sz="2000"/>
          </a:p>
        </p:txBody>
      </p:sp>
      <p:pic>
        <p:nvPicPr>
          <p:cNvPr id="279" name="Google Shape;279;g3d0496d8fde_0_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960298" y="2494575"/>
            <a:ext cx="4564875" cy="2526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g3d0496d8fde_0_17"/>
          <p:cNvSpPr txBox="1"/>
          <p:nvPr>
            <p:ph type="title"/>
          </p:nvPr>
        </p:nvSpPr>
        <p:spPr>
          <a:xfrm>
            <a:off x="559572" y="359101"/>
            <a:ext cx="110817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</a:pPr>
            <a:r>
              <a:rPr lang="ru-RU"/>
              <a:t>Язык С</a:t>
            </a:r>
            <a:endParaRPr/>
          </a:p>
        </p:txBody>
      </p:sp>
      <p:sp>
        <p:nvSpPr>
          <p:cNvPr id="285" name="Google Shape;285;g3d0496d8fde_0_17"/>
          <p:cNvSpPr txBox="1"/>
          <p:nvPr>
            <p:ph idx="2" type="body"/>
          </p:nvPr>
        </p:nvSpPr>
        <p:spPr>
          <a:xfrm>
            <a:off x="559575" y="1771050"/>
            <a:ext cx="6400800" cy="1939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55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AutoNum type="arabicPeriod"/>
            </a:pPr>
            <a:r>
              <a:rPr lang="ru-RU" sz="2000"/>
              <a:t>Компилируемый</a:t>
            </a:r>
            <a:endParaRPr sz="2000"/>
          </a:p>
          <a:p>
            <a:pPr indent="-355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AutoNum type="arabicPeriod"/>
            </a:pPr>
            <a:r>
              <a:rPr lang="ru-RU" sz="2000"/>
              <a:t>Предоставляет полный контроль над системой</a:t>
            </a:r>
            <a:endParaRPr sz="2000"/>
          </a:p>
          <a:p>
            <a:pPr indent="-355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AutoNum type="arabicPeriod"/>
            </a:pPr>
            <a:r>
              <a:rPr lang="ru-RU" sz="2000"/>
              <a:t>Вся ответственность на разработчике</a:t>
            </a:r>
            <a:endParaRPr sz="2000"/>
          </a:p>
          <a:p>
            <a:pPr indent="-355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AutoNum type="arabicPeriod"/>
            </a:pPr>
            <a:r>
              <a:rPr lang="ru-RU" sz="2000"/>
              <a:t>Все данные - байты в памяти</a:t>
            </a:r>
            <a:endParaRPr sz="2000"/>
          </a:p>
          <a:p>
            <a:pPr indent="-355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AutoNum type="arabicPeriod"/>
            </a:pPr>
            <a:r>
              <a:rPr lang="ru-RU" sz="2000"/>
              <a:t>Доступ к данным по указателям (адресам)</a:t>
            </a:r>
            <a:endParaRPr sz="2000"/>
          </a:p>
        </p:txBody>
      </p:sp>
      <p:pic>
        <p:nvPicPr>
          <p:cNvPr id="286" name="Google Shape;286;g3d0496d8fde_0_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559275" y="1972326"/>
            <a:ext cx="3429000" cy="3857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g3d0496d8fde_0_31"/>
          <p:cNvSpPr txBox="1"/>
          <p:nvPr>
            <p:ph type="title"/>
          </p:nvPr>
        </p:nvSpPr>
        <p:spPr>
          <a:xfrm>
            <a:off x="559572" y="359101"/>
            <a:ext cx="110817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</a:pPr>
            <a:r>
              <a:rPr lang="ru-RU"/>
              <a:t>Адресное пространство</a:t>
            </a:r>
            <a:endParaRPr/>
          </a:p>
        </p:txBody>
      </p:sp>
      <p:sp>
        <p:nvSpPr>
          <p:cNvPr id="292" name="Google Shape;292;g3d0496d8fde_0_31"/>
          <p:cNvSpPr txBox="1"/>
          <p:nvPr>
            <p:ph idx="2" type="body"/>
          </p:nvPr>
        </p:nvSpPr>
        <p:spPr>
          <a:xfrm>
            <a:off x="550875" y="1351350"/>
            <a:ext cx="10584600" cy="1939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000"/>
              <a:t>Разные части программы находятся в разных частях памяти:</a:t>
            </a:r>
            <a:endParaRPr sz="2000"/>
          </a:p>
          <a:p>
            <a:pPr indent="-355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AutoNum type="arabicPeriod"/>
            </a:pPr>
            <a:r>
              <a:rPr b="1" lang="ru-RU" sz="2000"/>
              <a:t>code (.text)</a:t>
            </a:r>
            <a:r>
              <a:rPr lang="ru-RU" sz="2000"/>
              <a:t> - инструкции</a:t>
            </a:r>
            <a:endParaRPr sz="2000"/>
          </a:p>
          <a:p>
            <a:pPr indent="-355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AutoNum type="arabicPeriod"/>
            </a:pPr>
            <a:r>
              <a:rPr b="1" lang="ru-RU" sz="2000"/>
              <a:t>data (.data, .bss)</a:t>
            </a:r>
            <a:r>
              <a:rPr lang="ru-RU" sz="2000"/>
              <a:t> - глобальные переменные</a:t>
            </a:r>
            <a:endParaRPr sz="2000"/>
          </a:p>
          <a:p>
            <a:pPr indent="-355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AutoNum type="arabicPeriod"/>
            </a:pPr>
            <a:r>
              <a:rPr b="1" lang="ru-RU" sz="2000"/>
              <a:t>stack</a:t>
            </a:r>
            <a:r>
              <a:rPr lang="ru-RU" sz="2000"/>
              <a:t> - локальные переменные, адреса возврата</a:t>
            </a:r>
            <a:endParaRPr sz="2000"/>
          </a:p>
          <a:p>
            <a:pPr indent="-355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AutoNum type="arabicPeriod"/>
            </a:pPr>
            <a:r>
              <a:rPr b="1" lang="ru-RU" sz="2000"/>
              <a:t>heap</a:t>
            </a:r>
            <a:r>
              <a:rPr lang="ru-RU" sz="2000"/>
              <a:t> - динамическая память</a:t>
            </a:r>
            <a:endParaRPr sz="2000"/>
          </a:p>
          <a:p>
            <a:pPr indent="-355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AutoNum type="arabicPeriod"/>
            </a:pPr>
            <a:r>
              <a:rPr b="1" lang="ru-RU" sz="2000"/>
              <a:t>lib</a:t>
            </a:r>
            <a:r>
              <a:rPr lang="ru-RU" sz="2000"/>
              <a:t> - библиотеки (libc…)</a:t>
            </a:r>
            <a:endParaRPr sz="2000"/>
          </a:p>
        </p:txBody>
      </p:sp>
      <p:pic>
        <p:nvPicPr>
          <p:cNvPr id="293" name="Google Shape;293;g3d0496d8fde_0_31"/>
          <p:cNvPicPr preferRelativeResize="0"/>
          <p:nvPr/>
        </p:nvPicPr>
        <p:blipFill rotWithShape="1">
          <a:blip r:embed="rId3">
            <a:alphaModFix/>
          </a:blip>
          <a:srcRect b="13801" l="0" r="0" t="0"/>
          <a:stretch/>
        </p:blipFill>
        <p:spPr>
          <a:xfrm>
            <a:off x="1863780" y="3290850"/>
            <a:ext cx="8464434" cy="3389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g3d0496d8fde_0_37"/>
          <p:cNvSpPr txBox="1"/>
          <p:nvPr>
            <p:ph type="title"/>
          </p:nvPr>
        </p:nvSpPr>
        <p:spPr>
          <a:xfrm>
            <a:off x="559572" y="359101"/>
            <a:ext cx="110817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</a:pPr>
            <a:r>
              <a:rPr lang="ru-RU"/>
              <a:t>Си - не memory-safe</a:t>
            </a:r>
            <a:endParaRPr/>
          </a:p>
        </p:txBody>
      </p:sp>
      <p:sp>
        <p:nvSpPr>
          <p:cNvPr id="299" name="Google Shape;299;g3d0496d8fde_0_37"/>
          <p:cNvSpPr txBox="1"/>
          <p:nvPr>
            <p:ph idx="2" type="body"/>
          </p:nvPr>
        </p:nvSpPr>
        <p:spPr>
          <a:xfrm>
            <a:off x="550875" y="1351350"/>
            <a:ext cx="10584600" cy="378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55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AutoNum type="arabicPeriod"/>
            </a:pPr>
            <a:r>
              <a:rPr lang="ru-RU" sz="2000"/>
              <a:t>Ввод без контроля длины: </a:t>
            </a:r>
            <a:r>
              <a:rPr b="1" lang="ru-RU" sz="2000"/>
              <a:t>gets(), scanf(“%s”)</a:t>
            </a:r>
            <a:endParaRPr b="1" sz="2000"/>
          </a:p>
          <a:p>
            <a:pPr indent="-355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AutoNum type="arabicPeriod"/>
            </a:pPr>
            <a:r>
              <a:rPr lang="ru-RU" sz="2000"/>
              <a:t>Копирование строк: </a:t>
            </a:r>
            <a:r>
              <a:rPr b="1" lang="ru-RU" sz="2000"/>
              <a:t>strcpy(), strcat()</a:t>
            </a:r>
            <a:endParaRPr b="1" sz="2000"/>
          </a:p>
          <a:p>
            <a:pPr indent="-355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AutoNum type="arabicPeriod"/>
            </a:pPr>
            <a:r>
              <a:rPr lang="ru-RU" sz="2000"/>
              <a:t>Форматный вывод: </a:t>
            </a:r>
            <a:r>
              <a:rPr b="1" lang="ru-RU" sz="2000"/>
              <a:t>printf(buf)</a:t>
            </a:r>
            <a:endParaRPr b="1" sz="2000"/>
          </a:p>
          <a:p>
            <a:pPr indent="-355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AutoNum type="arabicPeriod"/>
            </a:pPr>
            <a:r>
              <a:rPr lang="ru-RU" sz="2000"/>
              <a:t>…</a:t>
            </a:r>
            <a:endParaRPr sz="20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000"/>
              <a:t>Функции доверяют программисту и контролируют границы, длину и тд.</a:t>
            </a:r>
            <a:endParaRPr sz="20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000"/>
              <a:t>Ошибка превращается в memory corruption</a:t>
            </a:r>
            <a:endParaRPr sz="20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ru-RU" sz="2000"/>
              <a:t>Типичные кейсы:</a:t>
            </a:r>
            <a:endParaRPr b="1" sz="2000"/>
          </a:p>
          <a:p>
            <a:pPr indent="-355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AutoNum type="arabicPeriod"/>
            </a:pPr>
            <a:r>
              <a:rPr lang="ru-RU" sz="2000"/>
              <a:t>Переписывание строки</a:t>
            </a:r>
            <a:endParaRPr sz="2000"/>
          </a:p>
          <a:p>
            <a:pPr indent="-355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AutoNum type="arabicPeriod"/>
            </a:pPr>
            <a:r>
              <a:rPr lang="ru-RU" sz="2000"/>
              <a:t>Переписывание указателя</a:t>
            </a:r>
            <a:endParaRPr sz="2000"/>
          </a:p>
          <a:p>
            <a:pPr indent="-355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AutoNum type="arabicPeriod"/>
            </a:pPr>
            <a:r>
              <a:rPr lang="ru-RU" sz="2000"/>
              <a:t>Переполнение int</a:t>
            </a:r>
            <a:endParaRPr sz="200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g3d0496d8fde_0_43"/>
          <p:cNvSpPr txBox="1"/>
          <p:nvPr>
            <p:ph type="title"/>
          </p:nvPr>
        </p:nvSpPr>
        <p:spPr>
          <a:xfrm>
            <a:off x="559572" y="359101"/>
            <a:ext cx="110817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</a:pPr>
            <a:r>
              <a:rPr lang="ru-RU"/>
              <a:t>Переписывание строки</a:t>
            </a:r>
            <a:endParaRPr/>
          </a:p>
        </p:txBody>
      </p:sp>
      <p:pic>
        <p:nvPicPr>
          <p:cNvPr id="305" name="Google Shape;305;g3d0496d8fde_0_4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946488" y="1232875"/>
            <a:ext cx="6307876" cy="5625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g3d0496d8fde_0_53"/>
          <p:cNvSpPr txBox="1"/>
          <p:nvPr>
            <p:ph type="title"/>
          </p:nvPr>
        </p:nvSpPr>
        <p:spPr>
          <a:xfrm>
            <a:off x="559572" y="359101"/>
            <a:ext cx="110817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</a:pPr>
            <a:r>
              <a:rPr lang="ru-RU"/>
              <a:t>Переписывание указателя</a:t>
            </a:r>
            <a:endParaRPr/>
          </a:p>
        </p:txBody>
      </p:sp>
      <p:pic>
        <p:nvPicPr>
          <p:cNvPr id="311" name="Google Shape;311;g3d0496d8fde_0_5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84513" y="1231475"/>
            <a:ext cx="4631825" cy="56265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g3d0496d8fde_0_59"/>
          <p:cNvSpPr txBox="1"/>
          <p:nvPr>
            <p:ph type="title"/>
          </p:nvPr>
        </p:nvSpPr>
        <p:spPr>
          <a:xfrm>
            <a:off x="559572" y="359101"/>
            <a:ext cx="110817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</a:pPr>
            <a:r>
              <a:rPr lang="ru-RU"/>
              <a:t>Переполнение int</a:t>
            </a:r>
            <a:endParaRPr/>
          </a:p>
        </p:txBody>
      </p:sp>
      <p:pic>
        <p:nvPicPr>
          <p:cNvPr id="317" name="Google Shape;317;g3d0496d8fde_0_5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674412" y="1231475"/>
            <a:ext cx="4852026" cy="56265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g3d0496d8fde_0_49"/>
          <p:cNvSpPr txBox="1"/>
          <p:nvPr>
            <p:ph idx="1" type="body"/>
          </p:nvPr>
        </p:nvSpPr>
        <p:spPr>
          <a:xfrm>
            <a:off x="560200" y="3105825"/>
            <a:ext cx="46548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55BB"/>
              </a:buClr>
              <a:buSzPts val="3600"/>
              <a:buNone/>
            </a:pPr>
            <a:r>
              <a:rPr lang="ru-RU"/>
              <a:t>Решение задач</a:t>
            </a:r>
            <a:endParaRPr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g3d0689a4217_0_10"/>
          <p:cNvSpPr txBox="1"/>
          <p:nvPr>
            <p:ph type="title"/>
          </p:nvPr>
        </p:nvSpPr>
        <p:spPr>
          <a:xfrm>
            <a:off x="559572" y="359101"/>
            <a:ext cx="110817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/>
              <a:t>Полезные материалы</a:t>
            </a:r>
            <a:endParaRPr/>
          </a:p>
        </p:txBody>
      </p:sp>
      <p:sp>
        <p:nvSpPr>
          <p:cNvPr id="328" name="Google Shape;328;g3d0689a4217_0_10"/>
          <p:cNvSpPr txBox="1"/>
          <p:nvPr>
            <p:ph idx="2" type="body"/>
          </p:nvPr>
        </p:nvSpPr>
        <p:spPr>
          <a:xfrm>
            <a:off x="555150" y="1500650"/>
            <a:ext cx="11081700" cy="2247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55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Montserrat"/>
              <a:buAutoNum type="arabicPeriod"/>
            </a:pPr>
            <a:r>
              <a:rPr lang="ru-RU" sz="2000" u="sng">
                <a:solidFill>
                  <a:schemeClr val="hlink"/>
                </a:solidFill>
                <a:hlinkClick r:id="rId3"/>
              </a:rPr>
              <a:t>Шпаргалка полезных команд GDB / Хабр</a:t>
            </a:r>
            <a:endParaRPr sz="2000"/>
          </a:p>
          <a:p>
            <a:pPr indent="-355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AutoNum type="arabicPeriod"/>
            </a:pPr>
            <a:r>
              <a:rPr lang="ru-RU" sz="2000" u="sng">
                <a:solidFill>
                  <a:schemeClr val="hlink"/>
                </a:solidFill>
                <a:hlinkClick r:id="rId4"/>
              </a:rPr>
              <a:t>GDB Advanced Debugging Skills | Axura</a:t>
            </a:r>
            <a:endParaRPr sz="2000"/>
          </a:p>
          <a:p>
            <a:pPr indent="-355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AutoNum type="arabicPeriod"/>
            </a:pPr>
            <a:r>
              <a:rPr lang="ru-RU" sz="2000" u="sng">
                <a:solidFill>
                  <a:schemeClr val="hlink"/>
                </a:solidFill>
                <a:hlinkClick r:id="rId5"/>
              </a:rPr>
              <a:t>https://pwndbg.re/stable/commands/</a:t>
            </a:r>
            <a:endParaRPr sz="2000"/>
          </a:p>
          <a:p>
            <a:pPr indent="-355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Montserrat"/>
              <a:buAutoNum type="arabicPeriod"/>
            </a:pPr>
            <a:r>
              <a:rPr lang="ru-RU" sz="2000" u="sng">
                <a:solidFill>
                  <a:schemeClr val="hlink"/>
                </a:solidFill>
                <a:hlinkClick r:id="rId6"/>
              </a:rPr>
              <a:t>pwn.spbctf.ru/tasks</a:t>
            </a:r>
            <a:endParaRPr sz="2000" u="sng">
              <a:solidFill>
                <a:srgbClr val="000000"/>
              </a:solidFill>
            </a:endParaRPr>
          </a:p>
          <a:p>
            <a:pPr indent="-355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AutoNum type="arabicPeriod"/>
            </a:pPr>
            <a:r>
              <a:rPr lang="ru-RU" sz="2000" u="sng">
                <a:solidFill>
                  <a:schemeClr val="hlink"/>
                </a:solidFill>
                <a:hlinkClick r:id="rId7"/>
              </a:rPr>
              <a:t>pwn.college</a:t>
            </a:r>
            <a:endParaRPr sz="2000" u="sng">
              <a:solidFill>
                <a:srgbClr val="000000"/>
              </a:solidFill>
            </a:endParaRPr>
          </a:p>
          <a:p>
            <a:pPr indent="-355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AutoNum type="arabicPeriod"/>
            </a:pPr>
            <a:r>
              <a:rPr lang="ru-RU" sz="2000" u="sng">
                <a:solidFill>
                  <a:schemeClr val="hlink"/>
                </a:solidFill>
                <a:hlinkClick r:id="rId8"/>
              </a:rPr>
              <a:t>play.picoctf.org</a:t>
            </a:r>
            <a:endParaRPr sz="2000" u="sng">
              <a:solidFill>
                <a:srgbClr val="000000"/>
              </a:solidFill>
            </a:endParaRPr>
          </a:p>
          <a:p>
            <a:pPr indent="-355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AutoNum type="arabicPeriod"/>
            </a:pPr>
            <a:r>
              <a:rPr lang="ru-RU" sz="2000" u="sng">
                <a:solidFill>
                  <a:schemeClr val="hlink"/>
                </a:solidFill>
                <a:hlinkClick r:id="rId9"/>
              </a:rPr>
              <a:t>Yet Another Pwntools Cheatsheet | 🐕.🪦</a:t>
            </a:r>
            <a:endParaRPr sz="2000" u="sng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2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g3625a4a1d6b_0_0"/>
          <p:cNvSpPr txBox="1"/>
          <p:nvPr>
            <p:ph idx="1" type="body"/>
          </p:nvPr>
        </p:nvSpPr>
        <p:spPr>
          <a:xfrm>
            <a:off x="560200" y="3105825"/>
            <a:ext cx="3884400" cy="12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55BB"/>
              </a:buClr>
              <a:buSzPts val="3600"/>
              <a:buNone/>
            </a:pPr>
            <a:r>
              <a:rPr lang="ru-RU"/>
              <a:t>Спасибо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55BB"/>
              </a:buClr>
              <a:buSzPts val="3600"/>
              <a:buNone/>
            </a:pPr>
            <a:r>
              <a:rPr lang="ru-RU"/>
              <a:t>за внимание!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Шаблон МИФИ">
  <a:themeElements>
    <a:clrScheme name="Другая 7">
      <a:dk1>
        <a:srgbClr val="171616"/>
      </a:dk1>
      <a:lt1>
        <a:srgbClr val="FFFFFF"/>
      </a:lt1>
      <a:dk2>
        <a:srgbClr val="0055BB"/>
      </a:dk2>
      <a:lt2>
        <a:srgbClr val="E2E2E2"/>
      </a:lt2>
      <a:accent1>
        <a:srgbClr val="0055BB"/>
      </a:accent1>
      <a:accent2>
        <a:srgbClr val="00BBEE"/>
      </a:accent2>
      <a:accent3>
        <a:srgbClr val="FF5000"/>
      </a:accent3>
      <a:accent4>
        <a:srgbClr val="00B050"/>
      </a:accent4>
      <a:accent5>
        <a:srgbClr val="00FFCC"/>
      </a:accent5>
      <a:accent6>
        <a:srgbClr val="FF66CC"/>
      </a:accent6>
      <a:hlink>
        <a:srgbClr val="00BBEE"/>
      </a:hlink>
      <a:folHlink>
        <a:srgbClr val="FFAE89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2020-05-28T16:18:16Z</dcterms:created>
  <dc:creator>Влад Замахаев</dc:creato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Tfs.IsStoryboard">
    <vt:bool>true</vt:bool>
  </property>
</Properties>
</file>