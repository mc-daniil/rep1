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y="6858000" cx="12192000"/>
  <p:notesSz cx="6858000" cy="9144000"/>
  <p:embeddedFontLst>
    <p:embeddedFont>
      <p:font typeface="Montserrat"/>
      <p:regular r:id="rId56"/>
      <p:bold r:id="rId57"/>
      <p:italic r:id="rId58"/>
      <p:boldItalic r:id="rId5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  <p15:guide id="3" orient="horz" pos="1757">
          <p15:clr>
            <a:srgbClr val="747775"/>
          </p15:clr>
        </p15:guide>
      </p15:sldGuideLst>
    </p:ext>
    <p:ext uri="GoogleSlidesCustomDataVersion2">
      <go:slidesCustomData xmlns:go="http://customooxmlschemas.google.com/" r:id="rId60" roundtripDataSignature="AMtx7miDYx+5ECliVE/JBBMzTSwDbkXx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5AA8160-6DA5-4E53-9EBD-5DF8860FBEE9}">
  <a:tblStyle styleId="{75AA8160-6DA5-4E53-9EBD-5DF8860FBEE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840"/>
        <p:guide pos="2160" orient="horz"/>
        <p:guide pos="1757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customschemas.google.com/relationships/presentationmetadata" Target="meta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font" Target="fonts/Montserrat-bold.fntdata"/><Relationship Id="rId12" Type="http://schemas.openxmlformats.org/officeDocument/2006/relationships/slide" Target="slides/slide6.xml"/><Relationship Id="rId56" Type="http://schemas.openxmlformats.org/officeDocument/2006/relationships/font" Target="fonts/Montserrat-regular.fntdata"/><Relationship Id="rId15" Type="http://schemas.openxmlformats.org/officeDocument/2006/relationships/slide" Target="slides/slide9.xml"/><Relationship Id="rId59" Type="http://schemas.openxmlformats.org/officeDocument/2006/relationships/font" Target="fonts/Montserrat-boldItalic.fntdata"/><Relationship Id="rId14" Type="http://schemas.openxmlformats.org/officeDocument/2006/relationships/slide" Target="slides/slide8.xml"/><Relationship Id="rId58" Type="http://schemas.openxmlformats.org/officeDocument/2006/relationships/font" Target="fonts/Montserrat-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0" name="Google Shape;7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6257ea22e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" name="Google Shape;76;g36257ea22eb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cc9386182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3" name="Google Shape;83;g3cc93861824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cc93861824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g3cc93861824_0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cc93861824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g3cc93861824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c93861824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g3cc93861824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cc93861824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g3cc93861824_0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c93861824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g3cc93861824_0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cc93861824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g3cc93861824_0_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c93861824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g3cc93861824_0_10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cc93861824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7" name="Google Shape;187;g3cc93861824_0_1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cc93861824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4" name="Google Shape;194;g3cc93861824_0_1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cc93861824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5" name="Google Shape;225;g3cc93861824_0_1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cc93861824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2" name="Google Shape;232;g3cc93861824_0_1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cc93861824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6" name="Google Shape;246;g3cc93861824_0_1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cc93861824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7" name="Google Shape;277;g3cc93861824_0_2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cc93861824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4" name="Google Shape;284;g3cc93861824_0_2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cc93861824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9" name="Google Shape;289;g3cc93861824_0_2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cc93861824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8" name="Google Shape;298;g3cc93861824_0_2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cc93861824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3" name="Google Shape;303;g3cc93861824_0_2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cc93861824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0" name="Google Shape;310;g3cc93861824_0_2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cc93861824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7" name="Google Shape;317;g3cc93861824_0_2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cc93861824_0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4" name="Google Shape;324;g3cc93861824_0_2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cc93861824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1" name="Google Shape;331;g3cc93861824_0_2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cc93861824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8" name="Google Shape;338;g3cc93861824_0_3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cc93861824_0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3" name="Google Shape;343;g3cc93861824_0_3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cc93861824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0" name="Google Shape;350;g3cc93861824_0_3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cc93861824_0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6" name="Google Shape;356;g3cc93861824_0_3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cc93861824_0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4" name="Google Shape;364;g3cc93861824_0_3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cc93861824_0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1" name="Google Shape;371;g3cc93861824_0_3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cc93861824_0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7" name="Google Shape;397;g3cc93861824_0_3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cc93861824_0_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4" name="Google Shape;404;g3cc93861824_0_3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cc93861824_0_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1" name="Google Shape;411;g3cc93861824_0_3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cc93861824_0_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8" name="Google Shape;418;g3cc93861824_0_3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cc93861824_0_3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5" name="Google Shape;425;g3cc93861824_0_3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cc93861824_0_4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2" name="Google Shape;432;g3cc93861824_0_4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cc93861824_0_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4" name="Google Shape;444;g3cc93861824_0_4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cc93861824_0_4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5" name="Google Shape;455;g3cc93861824_0_4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cc93861824_0_4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4" name="Google Shape;464;g3cc93861824_0_4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cc93861824_0_4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0" name="Google Shape;470;g3cc93861824_0_4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cc93861824_0_4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6" name="Google Shape;476;g3cc93861824_0_4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cc93861824_0_4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2" name="Google Shape;482;g3cc93861824_0_4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cc93861824_0_4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9" name="Google Shape;489;g3cc93861824_0_4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cc93861824_0_4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6" name="Google Shape;496;g3cc93861824_0_4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3" name="Google Shape;50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cc93861824_0_4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8" name="Google Shape;508;g3cc93861824_0_4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625a4a1d6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4" name="Google Shape;514;g3625a4a1d6b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1">
  <p:cSld name="Титульный слайд 1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7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39425" y="2898000"/>
            <a:ext cx="4752575" cy="39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0194" y="558606"/>
            <a:ext cx="2484000" cy="16560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11"/>
          <p:cNvSpPr txBox="1"/>
          <p:nvPr>
            <p:ph idx="1" type="body"/>
          </p:nvPr>
        </p:nvSpPr>
        <p:spPr>
          <a:xfrm>
            <a:off x="560194" y="6083856"/>
            <a:ext cx="16498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A5A5A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2" type="body"/>
          </p:nvPr>
        </p:nvSpPr>
        <p:spPr>
          <a:xfrm>
            <a:off x="560194" y="2567225"/>
            <a:ext cx="269475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A5A5A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1"/>
          <p:cNvSpPr txBox="1"/>
          <p:nvPr>
            <p:ph idx="3" type="body"/>
          </p:nvPr>
        </p:nvSpPr>
        <p:spPr>
          <a:xfrm>
            <a:off x="560194" y="3198167"/>
            <a:ext cx="293604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5BB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0055BB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Шапка с атомом">
  <p:cSld name="Шапка с атомом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2"/>
          <p:cNvSpPr/>
          <p:nvPr/>
        </p:nvSpPr>
        <p:spPr>
          <a:xfrm>
            <a:off x="11641138" y="6453188"/>
            <a:ext cx="41549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8F909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1400" u="none" cap="none" strike="noStrike">
              <a:solidFill>
                <a:srgbClr val="8F909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" name="Google Shape;14;p12"/>
          <p:cNvPicPr preferRelativeResize="0"/>
          <p:nvPr/>
        </p:nvPicPr>
        <p:blipFill rotWithShape="1">
          <a:blip r:embed="rId2">
            <a:alphaModFix/>
          </a:blip>
          <a:srcRect b="40680" l="86780" r="-4360" t="32381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2"/>
          <p:cNvSpPr/>
          <p:nvPr/>
        </p:nvSpPr>
        <p:spPr>
          <a:xfrm>
            <a:off x="-1" y="-1"/>
            <a:ext cx="12192001" cy="1224000"/>
          </a:xfrm>
          <a:prstGeom prst="rect">
            <a:avLst/>
          </a:prstGeom>
          <a:solidFill>
            <a:srgbClr val="0055B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55B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Google Shape;16;p12"/>
          <p:cNvPicPr preferRelativeResize="0"/>
          <p:nvPr/>
        </p:nvPicPr>
        <p:blipFill rotWithShape="1">
          <a:blip r:embed="rId3">
            <a:alphaModFix/>
          </a:blip>
          <a:srcRect b="46857" l="0" r="0" t="23654"/>
          <a:stretch/>
        </p:blipFill>
        <p:spPr>
          <a:xfrm>
            <a:off x="8040340" y="-1"/>
            <a:ext cx="4151660" cy="1223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12"/>
          <p:cNvPicPr preferRelativeResize="0"/>
          <p:nvPr/>
        </p:nvPicPr>
        <p:blipFill rotWithShape="1">
          <a:blip r:embed="rId2">
            <a:alphaModFix/>
          </a:blip>
          <a:srcRect b="88431" l="61576" r="20842" t="1513"/>
          <a:stretch/>
        </p:blipFill>
        <p:spPr>
          <a:xfrm>
            <a:off x="0" y="6296025"/>
            <a:ext cx="982787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12"/>
          <p:cNvPicPr preferRelativeResize="0"/>
          <p:nvPr/>
        </p:nvPicPr>
        <p:blipFill rotWithShape="1">
          <a:blip r:embed="rId4">
            <a:alphaModFix/>
          </a:blip>
          <a:srcRect b="31851" l="5148" r="86065" t="45097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2"/>
          <p:cNvSpPr txBox="1"/>
          <p:nvPr>
            <p:ph type="title"/>
          </p:nvPr>
        </p:nvSpPr>
        <p:spPr>
          <a:xfrm>
            <a:off x="559572" y="359101"/>
            <a:ext cx="11081566" cy="523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1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12"/>
          <p:cNvSpPr txBox="1"/>
          <p:nvPr>
            <p:ph idx="1" type="body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22A3F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222A3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12"/>
          <p:cNvSpPr txBox="1"/>
          <p:nvPr>
            <p:ph idx="2" type="body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A3F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22A3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Шапка с логотипом без коня (белая)">
  <p:cSld name="Шапка с логотипом без коня (белая)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14"/>
          <p:cNvPicPr preferRelativeResize="0"/>
          <p:nvPr/>
        </p:nvPicPr>
        <p:blipFill rotWithShape="1">
          <a:blip r:embed="rId2">
            <a:alphaModFix/>
          </a:blip>
          <a:srcRect b="40680" l="86780" r="-4360" t="32381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14"/>
          <p:cNvPicPr preferRelativeResize="0"/>
          <p:nvPr/>
        </p:nvPicPr>
        <p:blipFill rotWithShape="1">
          <a:blip r:embed="rId2">
            <a:alphaModFix/>
          </a:blip>
          <a:srcRect b="88431" l="61576" r="20842" t="1513"/>
          <a:stretch/>
        </p:blipFill>
        <p:spPr>
          <a:xfrm>
            <a:off x="0" y="6296025"/>
            <a:ext cx="982787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14"/>
          <p:cNvPicPr preferRelativeResize="0"/>
          <p:nvPr/>
        </p:nvPicPr>
        <p:blipFill rotWithShape="1">
          <a:blip r:embed="rId3">
            <a:alphaModFix/>
          </a:blip>
          <a:srcRect b="31851" l="5148" r="86065" t="45097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14"/>
          <p:cNvSpPr txBox="1"/>
          <p:nvPr>
            <p:ph type="title"/>
          </p:nvPr>
        </p:nvSpPr>
        <p:spPr>
          <a:xfrm>
            <a:off x="559572" y="359101"/>
            <a:ext cx="9199890" cy="523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5BB"/>
              </a:buClr>
              <a:buSzPts val="2800"/>
              <a:buFont typeface="Montserrat"/>
              <a:buNone/>
              <a:defRPr b="1" i="0" sz="2800" u="none" cap="none" strike="noStrike">
                <a:solidFill>
                  <a:srgbClr val="0055BB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27" name="Google Shape;2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85138" y="170399"/>
            <a:ext cx="1656000" cy="88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14"/>
          <p:cNvSpPr txBox="1"/>
          <p:nvPr>
            <p:ph idx="1" type="body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BEE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BBE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22A3F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222A3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p14"/>
          <p:cNvSpPr txBox="1"/>
          <p:nvPr>
            <p:ph idx="2" type="body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A3F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22A3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14"/>
          <p:cNvSpPr/>
          <p:nvPr/>
        </p:nvSpPr>
        <p:spPr>
          <a:xfrm>
            <a:off x="11641138" y="6453188"/>
            <a:ext cx="41549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8F909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1400" u="none" cap="none" strike="noStrike">
              <a:solidFill>
                <a:srgbClr val="8F909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ключительный слайд">
  <p:cSld name="Заключительный слайд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39425" y="2898000"/>
            <a:ext cx="4752575" cy="39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18"/>
          <p:cNvSpPr txBox="1"/>
          <p:nvPr>
            <p:ph idx="1" type="body"/>
          </p:nvPr>
        </p:nvSpPr>
        <p:spPr>
          <a:xfrm>
            <a:off x="560194" y="3105834"/>
            <a:ext cx="293604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5BB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0055BB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2">
  <p:cSld name="Титульный слайд 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6418217" y="6083856"/>
            <a:ext cx="16498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A5A5A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6418217" y="2567225"/>
            <a:ext cx="269475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A5A5A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17"/>
          <p:cNvSpPr txBox="1"/>
          <p:nvPr>
            <p:ph idx="3" type="body"/>
          </p:nvPr>
        </p:nvSpPr>
        <p:spPr>
          <a:xfrm>
            <a:off x="6418217" y="3198167"/>
            <a:ext cx="293604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5BB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0055BB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38" name="Google Shape;38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169250"/>
            <a:ext cx="5886994" cy="408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Шапка с логотипом без коня (синяя)">
  <p:cSld name="Шапка с логотипом без коня (синяя)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3"/>
          <p:cNvSpPr/>
          <p:nvPr/>
        </p:nvSpPr>
        <p:spPr>
          <a:xfrm>
            <a:off x="-1" y="-1"/>
            <a:ext cx="12192001" cy="1224000"/>
          </a:xfrm>
          <a:prstGeom prst="rect">
            <a:avLst/>
          </a:prstGeom>
          <a:solidFill>
            <a:srgbClr val="0055B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" name="Google Shape;41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992762" y="170399"/>
            <a:ext cx="1656000" cy="88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13"/>
          <p:cNvPicPr preferRelativeResize="0"/>
          <p:nvPr/>
        </p:nvPicPr>
        <p:blipFill rotWithShape="1">
          <a:blip r:embed="rId3">
            <a:alphaModFix/>
          </a:blip>
          <a:srcRect b="40680" l="86780" r="-4360" t="32381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13"/>
          <p:cNvPicPr preferRelativeResize="0"/>
          <p:nvPr/>
        </p:nvPicPr>
        <p:blipFill rotWithShape="1">
          <a:blip r:embed="rId3">
            <a:alphaModFix/>
          </a:blip>
          <a:srcRect b="88431" l="61576" r="20842" t="1513"/>
          <a:stretch/>
        </p:blipFill>
        <p:spPr>
          <a:xfrm>
            <a:off x="0" y="6296025"/>
            <a:ext cx="982787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13"/>
          <p:cNvPicPr preferRelativeResize="0"/>
          <p:nvPr/>
        </p:nvPicPr>
        <p:blipFill rotWithShape="1">
          <a:blip r:embed="rId4">
            <a:alphaModFix/>
          </a:blip>
          <a:srcRect b="31851" l="5148" r="86065" t="45097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3"/>
          <p:cNvSpPr txBox="1"/>
          <p:nvPr>
            <p:ph type="title"/>
          </p:nvPr>
        </p:nvSpPr>
        <p:spPr>
          <a:xfrm>
            <a:off x="559572" y="359101"/>
            <a:ext cx="9173513" cy="523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1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" name="Google Shape;46;p13"/>
          <p:cNvSpPr txBox="1"/>
          <p:nvPr>
            <p:ph idx="1" type="body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BEE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BBE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22A3F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222A3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" name="Google Shape;47;p13"/>
          <p:cNvSpPr txBox="1"/>
          <p:nvPr>
            <p:ph idx="2" type="body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A3F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22A3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13"/>
          <p:cNvSpPr/>
          <p:nvPr/>
        </p:nvSpPr>
        <p:spPr>
          <a:xfrm>
            <a:off x="11641138" y="6453188"/>
            <a:ext cx="41549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8F909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1400" u="none" cap="none" strike="noStrike">
              <a:solidFill>
                <a:srgbClr val="8F909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Шапка с логотипом коня (белая)">
  <p:cSld name="Шапка с логотипом коня (белая)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15"/>
          <p:cNvPicPr preferRelativeResize="0"/>
          <p:nvPr/>
        </p:nvPicPr>
        <p:blipFill rotWithShape="1">
          <a:blip r:embed="rId2">
            <a:alphaModFix/>
          </a:blip>
          <a:srcRect b="40680" l="86780" r="-4360" t="32381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15"/>
          <p:cNvPicPr preferRelativeResize="0"/>
          <p:nvPr/>
        </p:nvPicPr>
        <p:blipFill rotWithShape="1">
          <a:blip r:embed="rId2">
            <a:alphaModFix/>
          </a:blip>
          <a:srcRect b="88431" l="61576" r="20842" t="1513"/>
          <a:stretch/>
        </p:blipFill>
        <p:spPr>
          <a:xfrm>
            <a:off x="0" y="6296025"/>
            <a:ext cx="982787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15"/>
          <p:cNvPicPr preferRelativeResize="0"/>
          <p:nvPr/>
        </p:nvPicPr>
        <p:blipFill rotWithShape="1">
          <a:blip r:embed="rId3">
            <a:alphaModFix/>
          </a:blip>
          <a:srcRect b="31851" l="5148" r="86065" t="45097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5"/>
          <p:cNvSpPr txBox="1"/>
          <p:nvPr>
            <p:ph type="title"/>
          </p:nvPr>
        </p:nvSpPr>
        <p:spPr>
          <a:xfrm>
            <a:off x="559572" y="359101"/>
            <a:ext cx="8900951" cy="523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6C2A"/>
              </a:buClr>
              <a:buSzPts val="2800"/>
              <a:buFont typeface="Montserrat"/>
              <a:buNone/>
              <a:defRPr b="1" i="0" sz="2800" u="none" cap="none" strike="noStrike">
                <a:solidFill>
                  <a:srgbClr val="E46C2A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5"/>
          <p:cNvSpPr txBox="1"/>
          <p:nvPr>
            <p:ph idx="1" type="body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BEE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BBE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22A3F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222A3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5"/>
          <p:cNvSpPr txBox="1"/>
          <p:nvPr>
            <p:ph idx="2" type="body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A3F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22A3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56" name="Google Shape;5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956" y="-135287"/>
            <a:ext cx="2376074" cy="1512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5"/>
          <p:cNvSpPr/>
          <p:nvPr/>
        </p:nvSpPr>
        <p:spPr>
          <a:xfrm>
            <a:off x="11641138" y="6453188"/>
            <a:ext cx="41549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8F909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1400" u="none" cap="none" strike="noStrike">
              <a:solidFill>
                <a:srgbClr val="8F909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Шапка с логотипом коня (серая)">
  <p:cSld name="Шапка с логотипом коня (серая)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/>
          <p:nvPr/>
        </p:nvSpPr>
        <p:spPr>
          <a:xfrm>
            <a:off x="-1" y="-1"/>
            <a:ext cx="12192001" cy="1224000"/>
          </a:xfrm>
          <a:prstGeom prst="rect">
            <a:avLst/>
          </a:prstGeom>
          <a:solidFill>
            <a:srgbClr val="DDDE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" name="Google Shape;60;p16"/>
          <p:cNvPicPr preferRelativeResize="0"/>
          <p:nvPr/>
        </p:nvPicPr>
        <p:blipFill rotWithShape="1">
          <a:blip r:embed="rId2">
            <a:alphaModFix/>
          </a:blip>
          <a:srcRect b="40680" l="86780" r="-4360" t="32381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6"/>
          <p:cNvPicPr preferRelativeResize="0"/>
          <p:nvPr/>
        </p:nvPicPr>
        <p:blipFill rotWithShape="1">
          <a:blip r:embed="rId2">
            <a:alphaModFix/>
          </a:blip>
          <a:srcRect b="88431" l="61576" r="20842" t="1513"/>
          <a:stretch/>
        </p:blipFill>
        <p:spPr>
          <a:xfrm>
            <a:off x="0" y="6296025"/>
            <a:ext cx="982787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6"/>
          <p:cNvPicPr preferRelativeResize="0"/>
          <p:nvPr/>
        </p:nvPicPr>
        <p:blipFill rotWithShape="1">
          <a:blip r:embed="rId3">
            <a:alphaModFix/>
          </a:blip>
          <a:srcRect b="31851" l="5148" r="86065" t="45097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6"/>
          <p:cNvSpPr txBox="1"/>
          <p:nvPr>
            <p:ph type="title"/>
          </p:nvPr>
        </p:nvSpPr>
        <p:spPr>
          <a:xfrm>
            <a:off x="559572" y="359101"/>
            <a:ext cx="9032836" cy="523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5BB"/>
              </a:buClr>
              <a:buSzPts val="2800"/>
              <a:buFont typeface="Montserrat"/>
              <a:buNone/>
              <a:defRPr b="1" i="0" sz="2800" u="none" cap="none" strike="noStrike">
                <a:solidFill>
                  <a:srgbClr val="0055BB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BEE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BBE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22A3F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222A3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" name="Google Shape;65;p16"/>
          <p:cNvSpPr txBox="1"/>
          <p:nvPr>
            <p:ph idx="2" type="body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A3F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222A3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66" name="Google Shape;6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956" y="-144001"/>
            <a:ext cx="2376074" cy="15120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6"/>
          <p:cNvSpPr/>
          <p:nvPr/>
        </p:nvSpPr>
        <p:spPr>
          <a:xfrm>
            <a:off x="11641138" y="6453188"/>
            <a:ext cx="41549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8F909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1400" u="none" cap="none" strike="noStrike">
              <a:solidFill>
                <a:srgbClr val="8F909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391">
          <p15:clr>
            <a:srgbClr val="F26B43"/>
          </p15:clr>
        </p15:guide>
        <p15:guide id="4" orient="horz" pos="4065">
          <p15:clr>
            <a:srgbClr val="F26B43"/>
          </p15:clr>
        </p15:guide>
        <p15:guide id="5" pos="347">
          <p15:clr>
            <a:srgbClr val="F26B43"/>
          </p15:clr>
        </p15:guide>
        <p15:guide id="6" pos="733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Relationship Id="rId5" Type="http://schemas.openxmlformats.org/officeDocument/2006/relationships/image" Target="../media/image23.png"/><Relationship Id="rId6" Type="http://schemas.openxmlformats.org/officeDocument/2006/relationships/hyperlink" Target="https://codeby.school/blog/informacionnaya-bezopasnost/s-chego-nachat-izuchenie-revers-inghiniringa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png"/><Relationship Id="rId4" Type="http://schemas.openxmlformats.org/officeDocument/2006/relationships/image" Target="../media/image19.png"/><Relationship Id="rId5" Type="http://schemas.openxmlformats.org/officeDocument/2006/relationships/image" Target="../media/image15.png"/><Relationship Id="rId6" Type="http://schemas.openxmlformats.org/officeDocument/2006/relationships/image" Target="../media/image11.png"/><Relationship Id="rId7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ptsecurity.com/research/analytics/malware-behavior-and-distribution-channels/#id2" TargetMode="External"/><Relationship Id="rId4" Type="http://schemas.openxmlformats.org/officeDocument/2006/relationships/hyperlink" Target="https://www.kaspersky.ru/blog/klassifikaciya-vredonosnyx-programm/2200/" TargetMode="External"/><Relationship Id="rId5" Type="http://schemas.openxmlformats.org/officeDocument/2006/relationships/hyperlink" Target="https://blog.skillfactory.ru/glossary/pentest/" TargetMode="External"/><Relationship Id="rId6" Type="http://schemas.openxmlformats.org/officeDocument/2006/relationships/image" Target="../media/image10.png"/><Relationship Id="rId7" Type="http://schemas.openxmlformats.org/officeDocument/2006/relationships/hyperlink" Target="https://xakep.ru/2016/09/02/reverse-rights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9.png"/><Relationship Id="rId4" Type="http://schemas.openxmlformats.org/officeDocument/2006/relationships/hyperlink" Target="https://ru.wikipedia.org/wiki/%D0%9C%D0%B0%D1%88%D0%B8%D0%BD%D0%BD%D1%8B%D0%B9_%D0%BA%D0%BE%D0%B4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7.png"/><Relationship Id="rId4" Type="http://schemas.openxmlformats.org/officeDocument/2006/relationships/hyperlink" Target="https://en.wikipedia.org/wiki/List_of_x86_instructions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image" Target="../media/image22.png"/><Relationship Id="rId5" Type="http://schemas.openxmlformats.org/officeDocument/2006/relationships/image" Target="../media/image21.png"/><Relationship Id="rId6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4.png"/><Relationship Id="rId4" Type="http://schemas.openxmlformats.org/officeDocument/2006/relationships/hyperlink" Target="https://habr.com/ru/companies/timeweb/articles/940310/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Relationship Id="rId4" Type="http://schemas.openxmlformats.org/officeDocument/2006/relationships/image" Target="../media/image22.png"/><Relationship Id="rId9" Type="http://schemas.openxmlformats.org/officeDocument/2006/relationships/image" Target="../media/image29.png"/><Relationship Id="rId5" Type="http://schemas.openxmlformats.org/officeDocument/2006/relationships/image" Target="../media/image21.png"/><Relationship Id="rId6" Type="http://schemas.openxmlformats.org/officeDocument/2006/relationships/image" Target="../media/image20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6.png"/><Relationship Id="rId4" Type="http://schemas.openxmlformats.org/officeDocument/2006/relationships/image" Target="../media/image42.png"/><Relationship Id="rId5" Type="http://schemas.openxmlformats.org/officeDocument/2006/relationships/image" Target="../media/image32.png"/><Relationship Id="rId6" Type="http://schemas.openxmlformats.org/officeDocument/2006/relationships/image" Target="../media/image2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Relationship Id="rId4" Type="http://schemas.openxmlformats.org/officeDocument/2006/relationships/image" Target="../media/image22.png"/><Relationship Id="rId5" Type="http://schemas.openxmlformats.org/officeDocument/2006/relationships/image" Target="../media/image21.png"/><Relationship Id="rId6" Type="http://schemas.openxmlformats.org/officeDocument/2006/relationships/image" Target="../media/image20.png"/><Relationship Id="rId7" Type="http://schemas.openxmlformats.org/officeDocument/2006/relationships/image" Target="../media/image26.png"/><Relationship Id="rId8" Type="http://schemas.openxmlformats.org/officeDocument/2006/relationships/image" Target="../media/image2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rev-kids20.forkbomb.ru/tasks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ru.wikipedia.org/wiki/%D0%91%D0%B0%D0%B9%D1%82-%D0%BA%D0%BE%D0%B4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ravesli.com/difference-between-machine-code-and-bytecode/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github.com/skylot/jadx" TargetMode="External"/><Relationship Id="rId4" Type="http://schemas.openxmlformats.org/officeDocument/2006/relationships/image" Target="../media/image3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github.com/dnSpyEx/dnSpy" TargetMode="External"/><Relationship Id="rId4" Type="http://schemas.openxmlformats.org/officeDocument/2006/relationships/image" Target="../media/image4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pylingual.io/" TargetMode="External"/><Relationship Id="rId4" Type="http://schemas.openxmlformats.org/officeDocument/2006/relationships/hyperlink" Target="https://github.com/syssec-utd/pylingual" TargetMode="External"/><Relationship Id="rId5" Type="http://schemas.openxmlformats.org/officeDocument/2006/relationships/hyperlink" Target="https://softsec.kaist.ac.kr/~sangkilc/papers/wiedemeier-oakland25.pdf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otus.ru/journal/cisc-risc-i-drugie-tipy-mikroprocessorov/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0.png"/><Relationship Id="rId4" Type="http://schemas.openxmlformats.org/officeDocument/2006/relationships/hyperlink" Target="https://habr.com/ru/articles/480642/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6.png"/><Relationship Id="rId4" Type="http://schemas.openxmlformats.org/officeDocument/2006/relationships/hyperlink" Target="https://habr.com/ru/articles/266831/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habr.com/ru/articles/478124/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s://www.opennet.ru/docs/RUS/lfs5/chapter06/aboutdebug.html" TargetMode="Externa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4.png"/><Relationship Id="rId4" Type="http://schemas.openxmlformats.org/officeDocument/2006/relationships/image" Target="../media/image1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1.png"/><Relationship Id="rId4" Type="http://schemas.openxmlformats.org/officeDocument/2006/relationships/image" Target="../media/image40.png"/><Relationship Id="rId5" Type="http://schemas.openxmlformats.org/officeDocument/2006/relationships/image" Target="../media/image3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4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3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5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1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6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7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hyperlink" Target="https://rev-kids20.forkbomb.ru/tasks" TargetMode="External"/><Relationship Id="rId4" Type="http://schemas.openxmlformats.org/officeDocument/2006/relationships/hyperlink" Target="https://flare-on.com/" TargetMode="External"/><Relationship Id="rId5" Type="http://schemas.openxmlformats.org/officeDocument/2006/relationships/hyperlink" Target="http://play.picoctf.org" TargetMode="External"/><Relationship Id="rId6" Type="http://schemas.openxmlformats.org/officeDocument/2006/relationships/hyperlink" Target="https://yutewiyof.gitbook.io/intro-rev-ida-pro" TargetMode="Externa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"/>
          <p:cNvSpPr txBox="1"/>
          <p:nvPr>
            <p:ph idx="2" type="body"/>
          </p:nvPr>
        </p:nvSpPr>
        <p:spPr>
          <a:xfrm>
            <a:off x="560200" y="2567225"/>
            <a:ext cx="543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400"/>
              <a:buNone/>
            </a:pPr>
            <a:r>
              <a:rPr lang="ru-RU"/>
              <a:t>Модуль “Бинарные уязвимости”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" name="Google Shape;73;p1"/>
          <p:cNvSpPr txBox="1"/>
          <p:nvPr>
            <p:ph idx="3" type="body"/>
          </p:nvPr>
        </p:nvSpPr>
        <p:spPr>
          <a:xfrm>
            <a:off x="560199" y="3198175"/>
            <a:ext cx="57663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5BB"/>
              </a:buClr>
              <a:buSzPts val="3600"/>
              <a:buNone/>
            </a:pPr>
            <a:r>
              <a:rPr lang="ru-RU"/>
              <a:t>Урок 1. Введение в реверс-инжиниринг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6257ea22eb_0_0"/>
          <p:cNvSpPr txBox="1"/>
          <p:nvPr>
            <p:ph type="title"/>
          </p:nvPr>
        </p:nvSpPr>
        <p:spPr>
          <a:xfrm>
            <a:off x="559572" y="359101"/>
            <a:ext cx="9199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5BB"/>
              </a:buClr>
              <a:buSzPts val="2800"/>
              <a:buFont typeface="Montserrat"/>
              <a:buNone/>
            </a:pPr>
            <a:r>
              <a:rPr lang="ru-RU"/>
              <a:t>План занятия</a:t>
            </a:r>
            <a:endParaRPr/>
          </a:p>
        </p:txBody>
      </p:sp>
      <p:sp>
        <p:nvSpPr>
          <p:cNvPr id="79" name="Google Shape;79;g36257ea22eb_0_0"/>
          <p:cNvSpPr txBox="1"/>
          <p:nvPr>
            <p:ph idx="1" type="body"/>
          </p:nvPr>
        </p:nvSpPr>
        <p:spPr>
          <a:xfrm>
            <a:off x="559574" y="1729300"/>
            <a:ext cx="35775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BEE"/>
              </a:buClr>
              <a:buSzPts val="1600"/>
              <a:buNone/>
            </a:pPr>
            <a:r>
              <a:rPr lang="ru-RU" sz="2200"/>
              <a:t>Введение в реверс-инжиниринг</a:t>
            </a:r>
            <a:endParaRPr sz="2200"/>
          </a:p>
        </p:txBody>
      </p:sp>
      <p:sp>
        <p:nvSpPr>
          <p:cNvPr id="80" name="Google Shape;80;g36257ea22eb_0_0"/>
          <p:cNvSpPr txBox="1"/>
          <p:nvPr>
            <p:ph idx="2" type="body"/>
          </p:nvPr>
        </p:nvSpPr>
        <p:spPr>
          <a:xfrm>
            <a:off x="559592" y="2481520"/>
            <a:ext cx="110817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Montserrat"/>
              <a:buAutoNum type="arabicPeriod"/>
            </a:pPr>
            <a:r>
              <a:rPr lang="ru-RU" sz="2200"/>
              <a:t>Введение. Основные подходы. Применение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Montserrat"/>
              <a:buAutoNum type="arabicPeriod"/>
            </a:pPr>
            <a:r>
              <a:rPr lang="ru-RU" sz="2200"/>
              <a:t>Реверс исходного кода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Montserrat"/>
              <a:buAutoNum type="arabicPeriod"/>
            </a:pPr>
            <a:r>
              <a:rPr lang="ru-RU" sz="2200"/>
              <a:t>Реверс Python, C#, Java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ru-RU" sz="2200"/>
              <a:t>Реверс исполняемых файлов</a:t>
            </a:r>
            <a:endParaRPr sz="2200"/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Montserrat"/>
              <a:buAutoNum type="arabicPeriod"/>
            </a:pPr>
            <a:r>
              <a:rPr lang="ru-RU" sz="2200"/>
              <a:t>Итоги</a:t>
            </a:r>
            <a:endParaRPr sz="2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cc93861824_0_7"/>
          <p:cNvSpPr txBox="1"/>
          <p:nvPr>
            <p:ph idx="1" type="body"/>
          </p:nvPr>
        </p:nvSpPr>
        <p:spPr>
          <a:xfrm>
            <a:off x="560200" y="3105825"/>
            <a:ext cx="63897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-RU"/>
              <a:t>Введение. Основные подходы. Применение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"/>
          <p:cNvSpPr txBox="1"/>
          <p:nvPr>
            <p:ph type="title"/>
          </p:nvPr>
        </p:nvSpPr>
        <p:spPr>
          <a:xfrm>
            <a:off x="559572" y="359101"/>
            <a:ext cx="9199890" cy="523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5BB"/>
              </a:buClr>
              <a:buSzPts val="2800"/>
              <a:buFont typeface="Montserrat"/>
              <a:buNone/>
            </a:pPr>
            <a:r>
              <a:rPr lang="ru-RU"/>
              <a:t>Что такое реверс-инжиниринг?</a:t>
            </a:r>
            <a:endParaRPr/>
          </a:p>
        </p:txBody>
      </p:sp>
      <p:sp>
        <p:nvSpPr>
          <p:cNvPr id="91" name="Google Shape;91;p4"/>
          <p:cNvSpPr txBox="1"/>
          <p:nvPr>
            <p:ph idx="1" type="body"/>
          </p:nvPr>
        </p:nvSpPr>
        <p:spPr>
          <a:xfrm>
            <a:off x="559575" y="1729300"/>
            <a:ext cx="3461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BEE"/>
              </a:buClr>
              <a:buSzPts val="1600"/>
              <a:buNone/>
            </a:pPr>
            <a:r>
              <a:rPr lang="ru-RU" sz="2200"/>
              <a:t>Реверс-инжиниринг</a:t>
            </a:r>
            <a:endParaRPr sz="2200"/>
          </a:p>
        </p:txBody>
      </p:sp>
      <p:sp>
        <p:nvSpPr>
          <p:cNvPr id="92" name="Google Shape;92;p4"/>
          <p:cNvSpPr txBox="1"/>
          <p:nvPr>
            <p:ph idx="2" type="body"/>
          </p:nvPr>
        </p:nvSpPr>
        <p:spPr>
          <a:xfrm>
            <a:off x="559582" y="2409025"/>
            <a:ext cx="5636400" cy="19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2000">
                <a:solidFill>
                  <a:schemeClr val="dk1"/>
                </a:solidFill>
              </a:rPr>
              <a:t>Исследование устройства или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2000">
                <a:solidFill>
                  <a:schemeClr val="dk1"/>
                </a:solidFill>
              </a:rPr>
              <a:t>программы (часто без исходного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2000">
                <a:solidFill>
                  <a:schemeClr val="dk1"/>
                </a:solidFill>
              </a:rPr>
              <a:t>кода), чтобы восстановить логику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2000">
                <a:solidFill>
                  <a:schemeClr val="dk1"/>
                </a:solidFill>
              </a:rPr>
              <a:t>работы и, при необходимости,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2000">
                <a:solidFill>
                  <a:schemeClr val="dk1"/>
                </a:solidFill>
              </a:rPr>
              <a:t>изменить поведение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A3F"/>
              </a:buClr>
              <a:buSzPts val="1400"/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</p:txBody>
      </p:sp>
      <p:grpSp>
        <p:nvGrpSpPr>
          <p:cNvPr id="93" name="Google Shape;93;p4"/>
          <p:cNvGrpSpPr/>
          <p:nvPr/>
        </p:nvGrpSpPr>
        <p:grpSpPr>
          <a:xfrm>
            <a:off x="5964477" y="2509262"/>
            <a:ext cx="4744822" cy="1839459"/>
            <a:chOff x="5964477" y="2509262"/>
            <a:chExt cx="4744822" cy="1839459"/>
          </a:xfrm>
        </p:grpSpPr>
        <p:pic>
          <p:nvPicPr>
            <p:cNvPr id="94" name="Google Shape;94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964477" y="2509262"/>
              <a:ext cx="1719548" cy="17195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5" name="Google Shape;95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510023" y="2629184"/>
              <a:ext cx="1479727" cy="14797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6" name="Google Shape;96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989751" y="2629173"/>
              <a:ext cx="1719548" cy="17195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7" name="Google Shape;97;p4"/>
          <p:cNvSpPr txBox="1"/>
          <p:nvPr/>
        </p:nvSpPr>
        <p:spPr>
          <a:xfrm>
            <a:off x="1020975" y="6453200"/>
            <a:ext cx="408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С чего начать изучение реверс-инжиниринга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/>
          <p:nvPr>
            <p:ph type="title"/>
          </p:nvPr>
        </p:nvSpPr>
        <p:spPr>
          <a:xfrm>
            <a:off x="559572" y="359101"/>
            <a:ext cx="11081566" cy="523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/>
              <a:t>Основные подходы</a:t>
            </a:r>
            <a:endParaRPr/>
          </a:p>
        </p:txBody>
      </p:sp>
      <p:sp>
        <p:nvSpPr>
          <p:cNvPr id="103" name="Google Shape;103;p2"/>
          <p:cNvSpPr txBox="1"/>
          <p:nvPr>
            <p:ph idx="1" type="body"/>
          </p:nvPr>
        </p:nvSpPr>
        <p:spPr>
          <a:xfrm>
            <a:off x="559573" y="1729300"/>
            <a:ext cx="4157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</a:pPr>
            <a:r>
              <a:rPr lang="ru-RU" sz="2200"/>
              <a:t>Статический анализ</a:t>
            </a:r>
            <a:endParaRPr sz="2200">
              <a:solidFill>
                <a:schemeClr val="accent2"/>
              </a:solidFill>
            </a:endParaRPr>
          </a:p>
        </p:txBody>
      </p:sp>
      <p:sp>
        <p:nvSpPr>
          <p:cNvPr id="104" name="Google Shape;104;p2"/>
          <p:cNvSpPr txBox="1"/>
          <p:nvPr>
            <p:ph idx="2" type="body"/>
          </p:nvPr>
        </p:nvSpPr>
        <p:spPr>
          <a:xfrm>
            <a:off x="559580" y="2409025"/>
            <a:ext cx="41574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lang="ru-RU" sz="2000"/>
              <a:t>Получаем ассемблерный или исходный код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lang="ru-RU" sz="2000"/>
              <a:t>Исследуем код без запуска</a:t>
            </a:r>
            <a:endParaRPr sz="2000"/>
          </a:p>
        </p:txBody>
      </p:sp>
      <p:sp>
        <p:nvSpPr>
          <p:cNvPr id="105" name="Google Shape;105;p2"/>
          <p:cNvSpPr txBox="1"/>
          <p:nvPr>
            <p:ph idx="1" type="body"/>
          </p:nvPr>
        </p:nvSpPr>
        <p:spPr>
          <a:xfrm>
            <a:off x="5989598" y="1729300"/>
            <a:ext cx="4157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</a:pPr>
            <a:r>
              <a:rPr lang="ru-RU" sz="2200"/>
              <a:t>Динамический анализ</a:t>
            </a:r>
            <a:endParaRPr sz="2200">
              <a:solidFill>
                <a:schemeClr val="accent2"/>
              </a:solidFill>
            </a:endParaRPr>
          </a:p>
        </p:txBody>
      </p:sp>
      <p:sp>
        <p:nvSpPr>
          <p:cNvPr id="106" name="Google Shape;106;p2"/>
          <p:cNvSpPr txBox="1"/>
          <p:nvPr>
            <p:ph idx="2" type="body"/>
          </p:nvPr>
        </p:nvSpPr>
        <p:spPr>
          <a:xfrm>
            <a:off x="5989605" y="2409025"/>
            <a:ext cx="41574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lang="ru-RU" sz="2000"/>
              <a:t>Запускаем программу в отладчике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lang="ru-RU" sz="2000"/>
              <a:t>Исследуем, что происходит на каждом шаге (инструкции, память)</a:t>
            </a:r>
            <a:endParaRPr sz="2000"/>
          </a:p>
        </p:txBody>
      </p:sp>
      <p:grpSp>
        <p:nvGrpSpPr>
          <p:cNvPr id="107" name="Google Shape;107;p2"/>
          <p:cNvGrpSpPr/>
          <p:nvPr/>
        </p:nvGrpSpPr>
        <p:grpSpPr>
          <a:xfrm>
            <a:off x="731387" y="4567458"/>
            <a:ext cx="3813763" cy="1706649"/>
            <a:chOff x="268400" y="4181950"/>
            <a:chExt cx="4448575" cy="1990725"/>
          </a:xfrm>
        </p:grpSpPr>
        <p:pic>
          <p:nvPicPr>
            <p:cNvPr id="108" name="Google Shape;108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68400" y="4181950"/>
              <a:ext cx="1619250" cy="19907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9" name="Google Shape;109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062669" y="4181950"/>
              <a:ext cx="2654306" cy="19907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0" name="Google Shape;110;p2"/>
          <p:cNvGrpSpPr/>
          <p:nvPr/>
        </p:nvGrpSpPr>
        <p:grpSpPr>
          <a:xfrm>
            <a:off x="5203915" y="4597450"/>
            <a:ext cx="5728772" cy="1706650"/>
            <a:chOff x="5081078" y="4746550"/>
            <a:chExt cx="5728772" cy="1706650"/>
          </a:xfrm>
        </p:grpSpPr>
        <p:pic>
          <p:nvPicPr>
            <p:cNvPr id="111" name="Google Shape;111;p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081078" y="4746550"/>
              <a:ext cx="1760722" cy="1706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" name="Google Shape;112;p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119175" y="4746550"/>
              <a:ext cx="1706649" cy="17066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3" name="Google Shape;113;p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9103200" y="4746550"/>
              <a:ext cx="1706650" cy="17066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c93861824_0_27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/>
              <a:t>Применение реверс-инжиниринга</a:t>
            </a:r>
            <a:endParaRPr/>
          </a:p>
        </p:txBody>
      </p:sp>
      <p:sp>
        <p:nvSpPr>
          <p:cNvPr id="119" name="Google Shape;119;g3cc93861824_0_27"/>
          <p:cNvSpPr txBox="1"/>
          <p:nvPr>
            <p:ph idx="2" type="body"/>
          </p:nvPr>
        </p:nvSpPr>
        <p:spPr>
          <a:xfrm>
            <a:off x="559575" y="1771050"/>
            <a:ext cx="5944500" cy="27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lang="ru-RU" sz="2000"/>
              <a:t>Исследование вредоносного ПО </a:t>
            </a:r>
            <a:endParaRPr sz="200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AutoNum type="alphaLcPeriod"/>
            </a:pPr>
            <a:r>
              <a:rPr lang="ru-RU" sz="1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Вредоносное ПО: исследование поведения и каналов распространения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AutoNum type="alphaLcPeriod"/>
            </a:pPr>
            <a:r>
              <a:rPr lang="ru-RU" sz="1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Классификация вредоносных программ | Блог Касперского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lang="ru-RU" sz="2000" u="sng">
                <a:solidFill>
                  <a:schemeClr val="hlink"/>
                </a:solidFill>
                <a:hlinkClick r:id="rId5"/>
              </a:rPr>
              <a:t>Пентест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lang="ru-RU" sz="2000"/>
              <a:t>Посмотреть, как работает продукт конкурента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lang="ru-RU" sz="2000"/>
              <a:t>CTFы</a:t>
            </a:r>
            <a:endParaRPr sz="2000"/>
          </a:p>
        </p:txBody>
      </p:sp>
      <p:pic>
        <p:nvPicPr>
          <p:cNvPr id="120" name="Google Shape;120;g3cc93861824_0_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38125" y="2576051"/>
            <a:ext cx="4795500" cy="259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g3cc93861824_0_27"/>
          <p:cNvSpPr txBox="1"/>
          <p:nvPr/>
        </p:nvSpPr>
        <p:spPr>
          <a:xfrm>
            <a:off x="975075" y="6242400"/>
            <a:ext cx="5663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Право на реверс. Как обратная разработка выглядит с юридической точки зрения — Хакер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cc93861824_0_44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/>
              <a:t>Типичная задача категории Reverse</a:t>
            </a:r>
            <a:endParaRPr/>
          </a:p>
        </p:txBody>
      </p:sp>
      <p:sp>
        <p:nvSpPr>
          <p:cNvPr id="127" name="Google Shape;127;g3cc93861824_0_44"/>
          <p:cNvSpPr txBox="1"/>
          <p:nvPr>
            <p:ph idx="2" type="body"/>
          </p:nvPr>
        </p:nvSpPr>
        <p:spPr>
          <a:xfrm>
            <a:off x="559575" y="1771050"/>
            <a:ext cx="66366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lang="ru-RU" sz="2000"/>
              <a:t>Дана программа (исходный код, байт-код, исполняемый файл…), которая запрашивает пароль - </a:t>
            </a:r>
            <a:r>
              <a:rPr b="1" lang="ru-RU" sz="2000"/>
              <a:t>crackme</a:t>
            </a:r>
            <a:endParaRPr b="1"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lang="ru-RU" sz="2000"/>
              <a:t>Нужно исследовать, как проверяется пароль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lang="ru-RU" sz="2000"/>
              <a:t>На основе этого нужно получить пароль, который программа примет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lang="ru-RU" sz="2000"/>
              <a:t>Правильный пароль - ответ (флаг, обычно в формате </a:t>
            </a:r>
            <a:r>
              <a:rPr b="1" lang="ru-RU" sz="2000"/>
              <a:t>flag{...}</a:t>
            </a:r>
            <a:r>
              <a:rPr lang="ru-RU" sz="2000"/>
              <a:t>)</a:t>
            </a:r>
            <a:endParaRPr sz="2000"/>
          </a:p>
        </p:txBody>
      </p:sp>
      <p:pic>
        <p:nvPicPr>
          <p:cNvPr id="128" name="Google Shape;128;g3cc93861824_0_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6950" y="2590475"/>
            <a:ext cx="3062749" cy="3062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cc93861824_0_52"/>
          <p:cNvSpPr/>
          <p:nvPr/>
        </p:nvSpPr>
        <p:spPr>
          <a:xfrm>
            <a:off x="2034675" y="5098800"/>
            <a:ext cx="4248300" cy="11310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ru-RU" sz="3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МАШИННЫЙ КОД</a:t>
            </a:r>
            <a:endParaRPr b="1" i="0" sz="3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" name="Google Shape;134;g3cc93861824_0_52"/>
          <p:cNvSpPr/>
          <p:nvPr/>
        </p:nvSpPr>
        <p:spPr>
          <a:xfrm>
            <a:off x="6529375" y="5454000"/>
            <a:ext cx="1087500" cy="420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g3cc93861824_0_52"/>
          <p:cNvSpPr/>
          <p:nvPr/>
        </p:nvSpPr>
        <p:spPr>
          <a:xfrm>
            <a:off x="7950250" y="5098700"/>
            <a:ext cx="3479700" cy="113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Опкоды</a:t>
            </a:r>
            <a:endParaRPr b="1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(номера команд)</a:t>
            </a:r>
            <a:endParaRPr b="1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36" name="Google Shape;136;g3cc93861824_0_52"/>
          <p:cNvGrpSpPr/>
          <p:nvPr/>
        </p:nvGrpSpPr>
        <p:grpSpPr>
          <a:xfrm>
            <a:off x="197329" y="5329041"/>
            <a:ext cx="1590946" cy="670526"/>
            <a:chOff x="90654" y="5204078"/>
            <a:chExt cx="1590946" cy="670526"/>
          </a:xfrm>
        </p:grpSpPr>
        <p:pic>
          <p:nvPicPr>
            <p:cNvPr id="137" name="Google Shape;137;g3cc93861824_0_5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0654" y="5204079"/>
              <a:ext cx="670525" cy="670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8" name="Google Shape;138;g3cc93861824_0_5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1075" y="5204078"/>
              <a:ext cx="670525" cy="6705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cc93861824_0_64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/>
              <a:t>Машинный код</a:t>
            </a:r>
            <a:endParaRPr/>
          </a:p>
        </p:txBody>
      </p:sp>
      <p:sp>
        <p:nvSpPr>
          <p:cNvPr id="144" name="Google Shape;144;g3cc93861824_0_64"/>
          <p:cNvSpPr txBox="1"/>
          <p:nvPr>
            <p:ph idx="2" type="body"/>
          </p:nvPr>
        </p:nvSpPr>
        <p:spPr>
          <a:xfrm>
            <a:off x="559575" y="1771050"/>
            <a:ext cx="6636600" cy="22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lang="ru-RU" sz="2000"/>
              <a:t>Интерпретируется непосредственно процессором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lang="ru-RU" sz="2000"/>
              <a:t>Содержится в исполняемых файлах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lang="ru-RU" sz="2000"/>
              <a:t>Можно посмотреть с помощью hex-редактора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lang="ru-RU" sz="2000"/>
              <a:t>Программистам неудобно писать программы в виде чисел</a:t>
            </a:r>
            <a:endParaRPr sz="2000"/>
          </a:p>
        </p:txBody>
      </p:sp>
      <p:pic>
        <p:nvPicPr>
          <p:cNvPr id="145" name="Google Shape;145;g3cc93861824_0_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8250" y="2629775"/>
            <a:ext cx="2824076" cy="2824076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g3cc93861824_0_64"/>
          <p:cNvSpPr txBox="1"/>
          <p:nvPr/>
        </p:nvSpPr>
        <p:spPr>
          <a:xfrm>
            <a:off x="975050" y="64532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Машинный код — Википедия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cc93861824_0_72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/>
              <a:t>Решение</a:t>
            </a:r>
            <a:endParaRPr/>
          </a:p>
        </p:txBody>
      </p:sp>
      <p:sp>
        <p:nvSpPr>
          <p:cNvPr id="152" name="Google Shape;152;g3cc93861824_0_72"/>
          <p:cNvSpPr txBox="1"/>
          <p:nvPr>
            <p:ph idx="2" type="body"/>
          </p:nvPr>
        </p:nvSpPr>
        <p:spPr>
          <a:xfrm>
            <a:off x="559575" y="2443225"/>
            <a:ext cx="6636600" cy="34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lang="ru-RU" sz="2000"/>
              <a:t>Сложение (№1) - </a:t>
            </a:r>
            <a:r>
              <a:rPr b="1" lang="ru-RU" sz="2000"/>
              <a:t>add</a:t>
            </a:r>
            <a:endParaRPr b="1"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lang="ru-RU" sz="2000"/>
              <a:t>Вычитание (№2) - </a:t>
            </a:r>
            <a:r>
              <a:rPr b="1" lang="ru-RU" sz="2000"/>
              <a:t>sub</a:t>
            </a:r>
            <a:endParaRPr b="1"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lang="ru-RU" sz="2000"/>
              <a:t>Сравнение (№3) - </a:t>
            </a:r>
            <a:r>
              <a:rPr b="1" lang="ru-RU" sz="2000"/>
              <a:t>cmp</a:t>
            </a:r>
            <a:endParaRPr b="1"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lang="ru-RU" sz="2000"/>
              <a:t>Перемещение в памяти (№4) - </a:t>
            </a:r>
            <a:r>
              <a:rPr b="1" lang="ru-RU" sz="2000"/>
              <a:t>mov</a:t>
            </a:r>
            <a:endParaRPr b="1"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2000"/>
              <a:t>Теперь сложение (2+2) вместо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i="1" lang="ru-RU" sz="2000" u="sng"/>
              <a:t>1 2 2</a:t>
            </a:r>
            <a:endParaRPr i="1" sz="2000" u="sng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2000"/>
              <a:t>выглядит как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i="1" lang="ru-RU" sz="2000" u="sng"/>
              <a:t>add 2, 2</a:t>
            </a:r>
            <a:endParaRPr i="1" sz="2000" u="sng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i="1" sz="2000" u="sng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2000"/>
              <a:t>Так появился </a:t>
            </a:r>
            <a:r>
              <a:rPr lang="ru-RU" sz="2000" u="sng"/>
              <a:t>язык ассемблера</a:t>
            </a:r>
            <a:endParaRPr sz="2000" u="sng"/>
          </a:p>
        </p:txBody>
      </p:sp>
      <p:sp>
        <p:nvSpPr>
          <p:cNvPr id="153" name="Google Shape;153;g3cc93861824_0_72"/>
          <p:cNvSpPr txBox="1"/>
          <p:nvPr>
            <p:ph idx="1" type="body"/>
          </p:nvPr>
        </p:nvSpPr>
        <p:spPr>
          <a:xfrm>
            <a:off x="559575" y="1673725"/>
            <a:ext cx="34614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BEE"/>
              </a:buClr>
              <a:buSzPts val="1600"/>
              <a:buNone/>
            </a:pPr>
            <a:r>
              <a:rPr lang="ru-RU" sz="2200"/>
              <a:t>Каждой инструкции даём мнемонику</a:t>
            </a:r>
            <a:endParaRPr sz="2200"/>
          </a:p>
        </p:txBody>
      </p:sp>
      <p:pic>
        <p:nvPicPr>
          <p:cNvPr id="154" name="Google Shape;154;g3cc93861824_0_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31000" y="1996025"/>
            <a:ext cx="3802200" cy="380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g3cc93861824_0_72"/>
          <p:cNvSpPr txBox="1"/>
          <p:nvPr/>
        </p:nvSpPr>
        <p:spPr>
          <a:xfrm>
            <a:off x="964275" y="6453200"/>
            <a:ext cx="623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List of x86 instructions - Wikipedia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c93861824_0_79"/>
          <p:cNvSpPr/>
          <p:nvPr/>
        </p:nvSpPr>
        <p:spPr>
          <a:xfrm>
            <a:off x="2034675" y="5098800"/>
            <a:ext cx="4248300" cy="11310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ru-RU" sz="3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МАШИННЫЙ КОД</a:t>
            </a:r>
            <a:endParaRPr b="1" i="0" sz="3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1" name="Google Shape;161;g3cc93861824_0_79"/>
          <p:cNvSpPr/>
          <p:nvPr/>
        </p:nvSpPr>
        <p:spPr>
          <a:xfrm>
            <a:off x="6529375" y="5454000"/>
            <a:ext cx="1087500" cy="420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g3cc93861824_0_79"/>
          <p:cNvSpPr/>
          <p:nvPr/>
        </p:nvSpPr>
        <p:spPr>
          <a:xfrm>
            <a:off x="7950250" y="5098700"/>
            <a:ext cx="3479700" cy="113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Опкоды</a:t>
            </a:r>
            <a:endParaRPr b="1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(номера команд)</a:t>
            </a:r>
            <a:endParaRPr b="1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63" name="Google Shape;163;g3cc93861824_0_79"/>
          <p:cNvGrpSpPr/>
          <p:nvPr/>
        </p:nvGrpSpPr>
        <p:grpSpPr>
          <a:xfrm>
            <a:off x="197329" y="5329041"/>
            <a:ext cx="1590946" cy="670526"/>
            <a:chOff x="90654" y="5204078"/>
            <a:chExt cx="1590946" cy="670526"/>
          </a:xfrm>
        </p:grpSpPr>
        <p:pic>
          <p:nvPicPr>
            <p:cNvPr id="164" name="Google Shape;164;g3cc93861824_0_7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0654" y="5204079"/>
              <a:ext cx="670525" cy="670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5" name="Google Shape;165;g3cc93861824_0_7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1075" y="5204078"/>
              <a:ext cx="670525" cy="6705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6" name="Google Shape;166;g3cc93861824_0_79"/>
          <p:cNvSpPr/>
          <p:nvPr/>
        </p:nvSpPr>
        <p:spPr>
          <a:xfrm>
            <a:off x="2034675" y="3235848"/>
            <a:ext cx="4248300" cy="11310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ru-RU" sz="3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ЯЗЫК АССЕМБЛЕРА</a:t>
            </a:r>
            <a:endParaRPr b="1" i="0" sz="3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7" name="Google Shape;167;g3cc93861824_0_79"/>
          <p:cNvSpPr/>
          <p:nvPr/>
        </p:nvSpPr>
        <p:spPr>
          <a:xfrm>
            <a:off x="6529375" y="3591048"/>
            <a:ext cx="1087500" cy="420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cc93861824_0_79"/>
          <p:cNvSpPr/>
          <p:nvPr/>
        </p:nvSpPr>
        <p:spPr>
          <a:xfrm>
            <a:off x="7950250" y="3235748"/>
            <a:ext cx="3479700" cy="113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Мнемоники команд</a:t>
            </a:r>
            <a:endParaRPr b="1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69" name="Google Shape;169;g3cc93861824_0_79"/>
          <p:cNvGrpSpPr/>
          <p:nvPr/>
        </p:nvGrpSpPr>
        <p:grpSpPr>
          <a:xfrm>
            <a:off x="3887601" y="4453677"/>
            <a:ext cx="542450" cy="558300"/>
            <a:chOff x="4033576" y="4453677"/>
            <a:chExt cx="542450" cy="558300"/>
          </a:xfrm>
        </p:grpSpPr>
        <p:sp>
          <p:nvSpPr>
            <p:cNvPr id="170" name="Google Shape;170;g3cc93861824_0_79"/>
            <p:cNvSpPr/>
            <p:nvPr/>
          </p:nvSpPr>
          <p:spPr>
            <a:xfrm rot="-5400000">
              <a:off x="4171626" y="4607577"/>
              <a:ext cx="558300" cy="2505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g3cc93861824_0_79"/>
            <p:cNvSpPr/>
            <p:nvPr/>
          </p:nvSpPr>
          <p:spPr>
            <a:xfrm rot="5400000">
              <a:off x="3879676" y="4607577"/>
              <a:ext cx="558300" cy="2505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2" name="Google Shape;172;g3cc93861824_0_79"/>
          <p:cNvSpPr txBox="1"/>
          <p:nvPr/>
        </p:nvSpPr>
        <p:spPr>
          <a:xfrm>
            <a:off x="4499504" y="4462719"/>
            <a:ext cx="25374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Дизассемблер</a:t>
            </a:r>
            <a:endParaRPr b="1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3" name="Google Shape;173;g3cc93861824_0_79"/>
          <p:cNvSpPr txBox="1"/>
          <p:nvPr/>
        </p:nvSpPr>
        <p:spPr>
          <a:xfrm>
            <a:off x="1715699" y="4438217"/>
            <a:ext cx="21864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Ассемблер</a:t>
            </a:r>
            <a:endParaRPr b="1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74" name="Google Shape;174;g3cc93861824_0_79"/>
          <p:cNvGrpSpPr/>
          <p:nvPr/>
        </p:nvGrpSpPr>
        <p:grpSpPr>
          <a:xfrm>
            <a:off x="215586" y="3465975"/>
            <a:ext cx="1580075" cy="670648"/>
            <a:chOff x="215586" y="3465975"/>
            <a:chExt cx="1580075" cy="670648"/>
          </a:xfrm>
        </p:grpSpPr>
        <p:pic>
          <p:nvPicPr>
            <p:cNvPr id="175" name="Google Shape;175;g3cc93861824_0_7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15586" y="3465975"/>
              <a:ext cx="670525" cy="670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6" name="Google Shape;176;g3cc93861824_0_7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125136" y="3466098"/>
              <a:ext cx="670525" cy="6705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cc93861824_0_107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/>
              <a:t>Язык ассемблера</a:t>
            </a:r>
            <a:endParaRPr/>
          </a:p>
        </p:txBody>
      </p:sp>
      <p:sp>
        <p:nvSpPr>
          <p:cNvPr id="182" name="Google Shape;182;g3cc93861824_0_107"/>
          <p:cNvSpPr txBox="1"/>
          <p:nvPr>
            <p:ph idx="2" type="body"/>
          </p:nvPr>
        </p:nvSpPr>
        <p:spPr>
          <a:xfrm>
            <a:off x="559575" y="1689750"/>
            <a:ext cx="5897400" cy="34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lang="ru-RU" sz="2000"/>
              <a:t>Мнемоники команд проще читать и писать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b="1" lang="ru-RU" sz="2000"/>
              <a:t>Ассемблер </a:t>
            </a:r>
            <a:r>
              <a:rPr lang="ru-RU" sz="2000"/>
              <a:t>конвертирует ассемблерный код в машинный код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b="1" lang="ru-RU" sz="2000"/>
              <a:t>Дизассемблер </a:t>
            </a:r>
            <a:r>
              <a:rPr lang="ru-RU" sz="2000"/>
              <a:t>конвертирует машинный код в ассемблерный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lang="ru-RU" sz="2000"/>
              <a:t>Основные ассемблеры на Linux: </a:t>
            </a:r>
            <a:r>
              <a:rPr lang="ru-RU" sz="2000" u="sng"/>
              <a:t>nasm, yasm, fasm, gas</a:t>
            </a:r>
            <a:endParaRPr sz="2000" u="sng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lang="ru-RU" sz="2000"/>
              <a:t>2 основных синтаксиса: </a:t>
            </a:r>
            <a:r>
              <a:rPr lang="ru-RU" sz="2000" u="sng"/>
              <a:t>Intel, AT&amp;T</a:t>
            </a:r>
            <a:endParaRPr sz="2000" u="sng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lang="ru-RU" sz="2000"/>
              <a:t>Наиболее удобные дизассемблеры: </a:t>
            </a:r>
            <a:r>
              <a:rPr lang="ru-RU" sz="2000" u="sng"/>
              <a:t>IDA, Ghidra, Radare2</a:t>
            </a:r>
            <a:endParaRPr sz="2000" u="sng"/>
          </a:p>
        </p:txBody>
      </p:sp>
      <p:pic>
        <p:nvPicPr>
          <p:cNvPr id="183" name="Google Shape;183;g3cc93861824_0_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10615" y="1411676"/>
            <a:ext cx="4691023" cy="5130807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g3cc93861824_0_107"/>
          <p:cNvSpPr txBox="1"/>
          <p:nvPr/>
        </p:nvSpPr>
        <p:spPr>
          <a:xfrm>
            <a:off x="889125" y="6242400"/>
            <a:ext cx="5950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Ассемблер: рассматриваем каждый байт «Hello, World!». Как на самом деле работают программы на уровне процессора и ОС / Хабр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cc93861824_0_116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/>
              <a:t>Проблема</a:t>
            </a:r>
            <a:endParaRPr/>
          </a:p>
        </p:txBody>
      </p:sp>
      <p:sp>
        <p:nvSpPr>
          <p:cNvPr id="190" name="Google Shape;190;g3cc93861824_0_116"/>
          <p:cNvSpPr txBox="1"/>
          <p:nvPr>
            <p:ph idx="2" type="body"/>
          </p:nvPr>
        </p:nvSpPr>
        <p:spPr>
          <a:xfrm>
            <a:off x="559575" y="1689750"/>
            <a:ext cx="58974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lang="ru-RU" sz="2000"/>
              <a:t>Архитектур много: </a:t>
            </a:r>
            <a:r>
              <a:rPr lang="ru-RU" sz="2000" u="sng"/>
              <a:t>X86, X86_64, ARM, MIPS…</a:t>
            </a:r>
            <a:endParaRPr sz="2000" u="sng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lang="ru-RU" sz="2000"/>
              <a:t>У каждой архитектуры свой набор операций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lang="ru-RU" sz="2000"/>
              <a:t>Нужно писать отдельную программу под каждую архитектуру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b="1" lang="ru-RU" sz="2000"/>
              <a:t>Решение </a:t>
            </a:r>
            <a:r>
              <a:rPr lang="ru-RU" sz="2000"/>
              <a:t>- создать универсальный язык программирования высокого уровня</a:t>
            </a:r>
            <a:endParaRPr sz="2000"/>
          </a:p>
        </p:txBody>
      </p:sp>
      <p:pic>
        <p:nvPicPr>
          <p:cNvPr id="191" name="Google Shape;191;g3cc93861824_0_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67750" y="2257000"/>
            <a:ext cx="3567500" cy="356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cc93861824_0_123"/>
          <p:cNvSpPr/>
          <p:nvPr/>
        </p:nvSpPr>
        <p:spPr>
          <a:xfrm>
            <a:off x="2034675" y="5098800"/>
            <a:ext cx="4248300" cy="11310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ru-RU" sz="3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МАШИННЫЙ КОД</a:t>
            </a:r>
            <a:endParaRPr b="1" i="0" sz="3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7" name="Google Shape;197;g3cc93861824_0_123"/>
          <p:cNvSpPr/>
          <p:nvPr/>
        </p:nvSpPr>
        <p:spPr>
          <a:xfrm>
            <a:off x="6529375" y="5454000"/>
            <a:ext cx="1087500" cy="420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g3cc93861824_0_123"/>
          <p:cNvSpPr/>
          <p:nvPr/>
        </p:nvSpPr>
        <p:spPr>
          <a:xfrm>
            <a:off x="7950250" y="5098700"/>
            <a:ext cx="3479700" cy="113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Опкоды</a:t>
            </a:r>
            <a:endParaRPr b="1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(номера команд)</a:t>
            </a:r>
            <a:endParaRPr b="1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99" name="Google Shape;199;g3cc93861824_0_123"/>
          <p:cNvGrpSpPr/>
          <p:nvPr/>
        </p:nvGrpSpPr>
        <p:grpSpPr>
          <a:xfrm>
            <a:off x="197329" y="5329041"/>
            <a:ext cx="1590946" cy="670526"/>
            <a:chOff x="90654" y="5204078"/>
            <a:chExt cx="1590946" cy="670526"/>
          </a:xfrm>
        </p:grpSpPr>
        <p:pic>
          <p:nvPicPr>
            <p:cNvPr id="200" name="Google Shape;200;g3cc93861824_0_1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0654" y="5204079"/>
              <a:ext cx="670525" cy="670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1" name="Google Shape;201;g3cc93861824_0_1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1075" y="5204078"/>
              <a:ext cx="670525" cy="6705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2" name="Google Shape;202;g3cc93861824_0_123"/>
          <p:cNvSpPr/>
          <p:nvPr/>
        </p:nvSpPr>
        <p:spPr>
          <a:xfrm>
            <a:off x="2034675" y="3235848"/>
            <a:ext cx="4248300" cy="11310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ru-RU" sz="3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ЯЗЫК АССЕМБЛЕРА</a:t>
            </a:r>
            <a:endParaRPr b="1" i="0" sz="3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3" name="Google Shape;203;g3cc93861824_0_123"/>
          <p:cNvSpPr/>
          <p:nvPr/>
        </p:nvSpPr>
        <p:spPr>
          <a:xfrm>
            <a:off x="6529375" y="3591048"/>
            <a:ext cx="1087500" cy="420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g3cc93861824_0_123"/>
          <p:cNvSpPr/>
          <p:nvPr/>
        </p:nvSpPr>
        <p:spPr>
          <a:xfrm>
            <a:off x="7950250" y="3235748"/>
            <a:ext cx="3479700" cy="113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Мнемоники команд</a:t>
            </a:r>
            <a:endParaRPr b="1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05" name="Google Shape;205;g3cc93861824_0_123"/>
          <p:cNvGrpSpPr/>
          <p:nvPr/>
        </p:nvGrpSpPr>
        <p:grpSpPr>
          <a:xfrm>
            <a:off x="3887601" y="4453677"/>
            <a:ext cx="542450" cy="558300"/>
            <a:chOff x="4033576" y="4453677"/>
            <a:chExt cx="542450" cy="558300"/>
          </a:xfrm>
        </p:grpSpPr>
        <p:sp>
          <p:nvSpPr>
            <p:cNvPr id="206" name="Google Shape;206;g3cc93861824_0_123"/>
            <p:cNvSpPr/>
            <p:nvPr/>
          </p:nvSpPr>
          <p:spPr>
            <a:xfrm rot="-5400000">
              <a:off x="4171626" y="4607577"/>
              <a:ext cx="558300" cy="2505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g3cc93861824_0_123"/>
            <p:cNvSpPr/>
            <p:nvPr/>
          </p:nvSpPr>
          <p:spPr>
            <a:xfrm rot="5400000">
              <a:off x="3879676" y="4607577"/>
              <a:ext cx="558300" cy="2505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8" name="Google Shape;208;g3cc93861824_0_123"/>
          <p:cNvSpPr txBox="1"/>
          <p:nvPr/>
        </p:nvSpPr>
        <p:spPr>
          <a:xfrm>
            <a:off x="4499504" y="4462719"/>
            <a:ext cx="25374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Дизассемблер</a:t>
            </a:r>
            <a:endParaRPr b="1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9" name="Google Shape;209;g3cc93861824_0_123"/>
          <p:cNvSpPr txBox="1"/>
          <p:nvPr/>
        </p:nvSpPr>
        <p:spPr>
          <a:xfrm>
            <a:off x="1715699" y="4438217"/>
            <a:ext cx="21864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Ассемблер</a:t>
            </a:r>
            <a:endParaRPr b="1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10" name="Google Shape;210;g3cc93861824_0_123"/>
          <p:cNvGrpSpPr/>
          <p:nvPr/>
        </p:nvGrpSpPr>
        <p:grpSpPr>
          <a:xfrm>
            <a:off x="215586" y="3465975"/>
            <a:ext cx="1580075" cy="670648"/>
            <a:chOff x="215586" y="3465975"/>
            <a:chExt cx="1580075" cy="670648"/>
          </a:xfrm>
        </p:grpSpPr>
        <p:pic>
          <p:nvPicPr>
            <p:cNvPr id="211" name="Google Shape;211;g3cc93861824_0_12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15586" y="3465975"/>
              <a:ext cx="670525" cy="670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2" name="Google Shape;212;g3cc93861824_0_12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125136" y="3466098"/>
              <a:ext cx="670525" cy="6705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3" name="Google Shape;213;g3cc93861824_0_123"/>
          <p:cNvSpPr/>
          <p:nvPr/>
        </p:nvSpPr>
        <p:spPr>
          <a:xfrm>
            <a:off x="2034675" y="1372798"/>
            <a:ext cx="4248300" cy="11310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ru-RU" sz="3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ЯП ВЫСОКОГО УРОВНЯ</a:t>
            </a:r>
            <a:endParaRPr b="1" i="0" sz="3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4" name="Google Shape;214;g3cc93861824_0_123"/>
          <p:cNvSpPr/>
          <p:nvPr/>
        </p:nvSpPr>
        <p:spPr>
          <a:xfrm>
            <a:off x="6529375" y="1727998"/>
            <a:ext cx="1087500" cy="420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g3cc93861824_0_123"/>
          <p:cNvSpPr/>
          <p:nvPr/>
        </p:nvSpPr>
        <p:spPr>
          <a:xfrm>
            <a:off x="7950250" y="1372698"/>
            <a:ext cx="3479700" cy="113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Понятный высокоуровневый код (циклы, классы…)</a:t>
            </a:r>
            <a:endParaRPr b="1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16" name="Google Shape;216;g3cc93861824_0_123"/>
          <p:cNvGrpSpPr/>
          <p:nvPr/>
        </p:nvGrpSpPr>
        <p:grpSpPr>
          <a:xfrm>
            <a:off x="3887601" y="2590677"/>
            <a:ext cx="542450" cy="558300"/>
            <a:chOff x="4033576" y="4453677"/>
            <a:chExt cx="542450" cy="558300"/>
          </a:xfrm>
        </p:grpSpPr>
        <p:sp>
          <p:nvSpPr>
            <p:cNvPr id="217" name="Google Shape;217;g3cc93861824_0_123"/>
            <p:cNvSpPr/>
            <p:nvPr/>
          </p:nvSpPr>
          <p:spPr>
            <a:xfrm rot="-5400000">
              <a:off x="4171626" y="4607577"/>
              <a:ext cx="558300" cy="2505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g3cc93861824_0_123"/>
            <p:cNvSpPr/>
            <p:nvPr/>
          </p:nvSpPr>
          <p:spPr>
            <a:xfrm rot="5400000">
              <a:off x="3879676" y="4607577"/>
              <a:ext cx="558300" cy="2505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19" name="Google Shape;219;g3cc93861824_0_1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229150" y="2598600"/>
            <a:ext cx="542450" cy="54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g3cc93861824_0_1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46050" y="2598600"/>
            <a:ext cx="542450" cy="54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g3cc93861824_0_1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45825" y="1606150"/>
            <a:ext cx="542450" cy="54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g3cc93861824_0_1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6975" y="1606150"/>
            <a:ext cx="542450" cy="54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cc93861824_0_153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/>
              <a:t>Проблема 2</a:t>
            </a:r>
            <a:endParaRPr/>
          </a:p>
        </p:txBody>
      </p:sp>
      <p:sp>
        <p:nvSpPr>
          <p:cNvPr id="228" name="Google Shape;228;g3cc93861824_0_153"/>
          <p:cNvSpPr txBox="1"/>
          <p:nvPr>
            <p:ph idx="2" type="body"/>
          </p:nvPr>
        </p:nvSpPr>
        <p:spPr>
          <a:xfrm>
            <a:off x="559575" y="1689750"/>
            <a:ext cx="58974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lang="ru-RU" sz="2000"/>
              <a:t>Компьютер не понимает ЯП высокого уровня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lang="ru-RU" sz="2000"/>
              <a:t>Нужно представить этот код на языке ассемблера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lang="ru-RU" sz="2000"/>
              <a:t>Хочется это делать автоматически под каждую архитектуру</a:t>
            </a:r>
            <a:endParaRPr sz="2000"/>
          </a:p>
        </p:txBody>
      </p:sp>
      <p:pic>
        <p:nvPicPr>
          <p:cNvPr id="229" name="Google Shape;229;g3cc93861824_0_1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67750" y="2257000"/>
            <a:ext cx="3567500" cy="356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cc93861824_0_159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/>
              <a:t>Возможные решения</a:t>
            </a:r>
            <a:endParaRPr/>
          </a:p>
        </p:txBody>
      </p:sp>
      <p:sp>
        <p:nvSpPr>
          <p:cNvPr id="235" name="Google Shape;235;g3cc93861824_0_159"/>
          <p:cNvSpPr txBox="1"/>
          <p:nvPr>
            <p:ph idx="1" type="body"/>
          </p:nvPr>
        </p:nvSpPr>
        <p:spPr>
          <a:xfrm>
            <a:off x="559573" y="1729300"/>
            <a:ext cx="4157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</a:pPr>
            <a:r>
              <a:rPr lang="ru-RU" sz="2200"/>
              <a:t>Компиляция</a:t>
            </a:r>
            <a:endParaRPr sz="2200">
              <a:solidFill>
                <a:schemeClr val="accent2"/>
              </a:solidFill>
            </a:endParaRPr>
          </a:p>
        </p:txBody>
      </p:sp>
      <p:sp>
        <p:nvSpPr>
          <p:cNvPr id="236" name="Google Shape;236;g3cc93861824_0_159"/>
          <p:cNvSpPr txBox="1"/>
          <p:nvPr>
            <p:ph idx="2" type="body"/>
          </p:nvPr>
        </p:nvSpPr>
        <p:spPr>
          <a:xfrm>
            <a:off x="559580" y="2409025"/>
            <a:ext cx="41574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2000"/>
              <a:t>Перезапись </a:t>
            </a:r>
            <a:r>
              <a:rPr b="1" lang="ru-RU" sz="2000"/>
              <a:t>компилятором </a:t>
            </a:r>
            <a:r>
              <a:rPr lang="ru-RU" sz="2000"/>
              <a:t>высокоуровневых команд с помощью эквивалентного набора команд языка ассемблера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2000"/>
              <a:t>(цикл -&gt; jmp)</a:t>
            </a:r>
            <a:endParaRPr sz="2000"/>
          </a:p>
        </p:txBody>
      </p:sp>
      <p:sp>
        <p:nvSpPr>
          <p:cNvPr id="237" name="Google Shape;237;g3cc93861824_0_159"/>
          <p:cNvSpPr txBox="1"/>
          <p:nvPr>
            <p:ph idx="1" type="body"/>
          </p:nvPr>
        </p:nvSpPr>
        <p:spPr>
          <a:xfrm>
            <a:off x="5989598" y="1729300"/>
            <a:ext cx="4157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</a:pPr>
            <a:r>
              <a:rPr lang="ru-RU" sz="2200"/>
              <a:t>Интерпретация</a:t>
            </a:r>
            <a:endParaRPr sz="2200">
              <a:solidFill>
                <a:schemeClr val="accent2"/>
              </a:solidFill>
            </a:endParaRPr>
          </a:p>
        </p:txBody>
      </p:sp>
      <p:sp>
        <p:nvSpPr>
          <p:cNvPr id="238" name="Google Shape;238;g3cc93861824_0_159"/>
          <p:cNvSpPr txBox="1"/>
          <p:nvPr>
            <p:ph idx="2" type="body"/>
          </p:nvPr>
        </p:nvSpPr>
        <p:spPr>
          <a:xfrm>
            <a:off x="5989605" y="2409025"/>
            <a:ext cx="4157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2000"/>
              <a:t>Отдельная программа - </a:t>
            </a:r>
            <a:r>
              <a:rPr b="1" lang="ru-RU" sz="2000"/>
              <a:t>интерпретатор </a:t>
            </a:r>
            <a:r>
              <a:rPr lang="ru-RU" sz="2000"/>
              <a:t>- исполняет высокоуровневый код</a:t>
            </a:r>
            <a:endParaRPr sz="2000"/>
          </a:p>
        </p:txBody>
      </p:sp>
      <p:grpSp>
        <p:nvGrpSpPr>
          <p:cNvPr id="239" name="Google Shape;239;g3cc93861824_0_159"/>
          <p:cNvGrpSpPr/>
          <p:nvPr/>
        </p:nvGrpSpPr>
        <p:grpSpPr>
          <a:xfrm>
            <a:off x="550875" y="4982801"/>
            <a:ext cx="3698476" cy="1212950"/>
            <a:chOff x="236825" y="4597450"/>
            <a:chExt cx="4873469" cy="1598300"/>
          </a:xfrm>
        </p:grpSpPr>
        <p:pic>
          <p:nvPicPr>
            <p:cNvPr id="240" name="Google Shape;240;g3cc93861824_0_15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6825" y="4597450"/>
              <a:ext cx="1598300" cy="1598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" name="Google Shape;241;g3cc93861824_0_15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897963" y="4597450"/>
              <a:ext cx="1598300" cy="1598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2" name="Google Shape;242;g3cc93861824_0_15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689591" y="4597450"/>
              <a:ext cx="1420703" cy="15983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43" name="Google Shape;243;g3cc93861824_0_15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54499" y="4982800"/>
            <a:ext cx="1212950" cy="121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cc93861824_0_179"/>
          <p:cNvSpPr/>
          <p:nvPr/>
        </p:nvSpPr>
        <p:spPr>
          <a:xfrm>
            <a:off x="2034675" y="5098800"/>
            <a:ext cx="4248300" cy="11310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ru-RU" sz="3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МАШИННЫЙ КОД</a:t>
            </a:r>
            <a:endParaRPr b="1" i="0" sz="3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9" name="Google Shape;249;g3cc93861824_0_179"/>
          <p:cNvSpPr/>
          <p:nvPr/>
        </p:nvSpPr>
        <p:spPr>
          <a:xfrm>
            <a:off x="6529375" y="5454000"/>
            <a:ext cx="1087500" cy="420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g3cc93861824_0_179"/>
          <p:cNvSpPr/>
          <p:nvPr/>
        </p:nvSpPr>
        <p:spPr>
          <a:xfrm>
            <a:off x="7950250" y="5098700"/>
            <a:ext cx="3479700" cy="113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Опкоды</a:t>
            </a:r>
            <a:endParaRPr b="1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(номера команд)</a:t>
            </a:r>
            <a:endParaRPr b="1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51" name="Google Shape;251;g3cc93861824_0_179"/>
          <p:cNvGrpSpPr/>
          <p:nvPr/>
        </p:nvGrpSpPr>
        <p:grpSpPr>
          <a:xfrm>
            <a:off x="197329" y="5329041"/>
            <a:ext cx="1590946" cy="670526"/>
            <a:chOff x="90654" y="5204078"/>
            <a:chExt cx="1590946" cy="670526"/>
          </a:xfrm>
        </p:grpSpPr>
        <p:pic>
          <p:nvPicPr>
            <p:cNvPr id="252" name="Google Shape;252;g3cc93861824_0_17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0654" y="5204079"/>
              <a:ext cx="670525" cy="670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3" name="Google Shape;253;g3cc93861824_0_17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1075" y="5204078"/>
              <a:ext cx="670525" cy="6705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4" name="Google Shape;254;g3cc93861824_0_179"/>
          <p:cNvSpPr/>
          <p:nvPr/>
        </p:nvSpPr>
        <p:spPr>
          <a:xfrm>
            <a:off x="2034675" y="3235848"/>
            <a:ext cx="4248300" cy="11310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ru-RU" sz="3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ЯЗЫК АССЕМБЛЕРА</a:t>
            </a:r>
            <a:endParaRPr b="1" i="0" sz="3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5" name="Google Shape;255;g3cc93861824_0_179"/>
          <p:cNvSpPr/>
          <p:nvPr/>
        </p:nvSpPr>
        <p:spPr>
          <a:xfrm>
            <a:off x="6529375" y="3591048"/>
            <a:ext cx="1087500" cy="420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g3cc93861824_0_179"/>
          <p:cNvSpPr/>
          <p:nvPr/>
        </p:nvSpPr>
        <p:spPr>
          <a:xfrm>
            <a:off x="7950250" y="3235748"/>
            <a:ext cx="3479700" cy="113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Мнемоники команд</a:t>
            </a:r>
            <a:endParaRPr b="1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57" name="Google Shape;257;g3cc93861824_0_179"/>
          <p:cNvGrpSpPr/>
          <p:nvPr/>
        </p:nvGrpSpPr>
        <p:grpSpPr>
          <a:xfrm>
            <a:off x="3887601" y="4453677"/>
            <a:ext cx="542450" cy="558300"/>
            <a:chOff x="4033576" y="4453677"/>
            <a:chExt cx="542450" cy="558300"/>
          </a:xfrm>
        </p:grpSpPr>
        <p:sp>
          <p:nvSpPr>
            <p:cNvPr id="258" name="Google Shape;258;g3cc93861824_0_179"/>
            <p:cNvSpPr/>
            <p:nvPr/>
          </p:nvSpPr>
          <p:spPr>
            <a:xfrm rot="-5400000">
              <a:off x="4171626" y="4607577"/>
              <a:ext cx="558300" cy="2505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g3cc93861824_0_179"/>
            <p:cNvSpPr/>
            <p:nvPr/>
          </p:nvSpPr>
          <p:spPr>
            <a:xfrm rot="5400000">
              <a:off x="3879676" y="4607577"/>
              <a:ext cx="558300" cy="2505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0" name="Google Shape;260;g3cc93861824_0_179"/>
          <p:cNvSpPr txBox="1"/>
          <p:nvPr/>
        </p:nvSpPr>
        <p:spPr>
          <a:xfrm>
            <a:off x="4499504" y="4433721"/>
            <a:ext cx="25374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Дизассемблер</a:t>
            </a:r>
            <a:endParaRPr b="1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1" name="Google Shape;261;g3cc93861824_0_179"/>
          <p:cNvSpPr txBox="1"/>
          <p:nvPr/>
        </p:nvSpPr>
        <p:spPr>
          <a:xfrm>
            <a:off x="1715699" y="4438217"/>
            <a:ext cx="21864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Ассемблер</a:t>
            </a:r>
            <a:endParaRPr b="1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62" name="Google Shape;262;g3cc93861824_0_179"/>
          <p:cNvGrpSpPr/>
          <p:nvPr/>
        </p:nvGrpSpPr>
        <p:grpSpPr>
          <a:xfrm>
            <a:off x="215586" y="3465975"/>
            <a:ext cx="1580075" cy="670648"/>
            <a:chOff x="215586" y="3465975"/>
            <a:chExt cx="1580075" cy="670648"/>
          </a:xfrm>
        </p:grpSpPr>
        <p:pic>
          <p:nvPicPr>
            <p:cNvPr id="263" name="Google Shape;263;g3cc93861824_0_17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15586" y="3465975"/>
              <a:ext cx="670525" cy="670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4" name="Google Shape;264;g3cc93861824_0_17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125136" y="3466098"/>
              <a:ext cx="670525" cy="6705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5" name="Google Shape;265;g3cc93861824_0_179"/>
          <p:cNvSpPr/>
          <p:nvPr/>
        </p:nvSpPr>
        <p:spPr>
          <a:xfrm>
            <a:off x="2034675" y="1372798"/>
            <a:ext cx="4248300" cy="11310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ru-RU" sz="3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ЯП ВЫСОКОГО УРОВНЯ</a:t>
            </a:r>
            <a:endParaRPr b="1" i="0" sz="3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6" name="Google Shape;266;g3cc93861824_0_179"/>
          <p:cNvSpPr/>
          <p:nvPr/>
        </p:nvSpPr>
        <p:spPr>
          <a:xfrm>
            <a:off x="6529375" y="1727998"/>
            <a:ext cx="1087500" cy="420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g3cc93861824_0_179"/>
          <p:cNvSpPr/>
          <p:nvPr/>
        </p:nvSpPr>
        <p:spPr>
          <a:xfrm>
            <a:off x="7950250" y="1372698"/>
            <a:ext cx="3479700" cy="113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Понятный высокоуровневый код (циклы, классы…)</a:t>
            </a:r>
            <a:endParaRPr b="1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68" name="Google Shape;268;g3cc93861824_0_179"/>
          <p:cNvGrpSpPr/>
          <p:nvPr/>
        </p:nvGrpSpPr>
        <p:grpSpPr>
          <a:xfrm>
            <a:off x="3887601" y="2590677"/>
            <a:ext cx="542450" cy="558300"/>
            <a:chOff x="4033576" y="4453677"/>
            <a:chExt cx="542450" cy="558300"/>
          </a:xfrm>
        </p:grpSpPr>
        <p:sp>
          <p:nvSpPr>
            <p:cNvPr id="269" name="Google Shape;269;g3cc93861824_0_179"/>
            <p:cNvSpPr/>
            <p:nvPr/>
          </p:nvSpPr>
          <p:spPr>
            <a:xfrm rot="-5400000">
              <a:off x="4171626" y="4607577"/>
              <a:ext cx="558300" cy="2505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g3cc93861824_0_179"/>
            <p:cNvSpPr/>
            <p:nvPr/>
          </p:nvSpPr>
          <p:spPr>
            <a:xfrm rot="5400000">
              <a:off x="3879676" y="4607577"/>
              <a:ext cx="558300" cy="2505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71" name="Google Shape;271;g3cc93861824_0_17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45825" y="1606150"/>
            <a:ext cx="542450" cy="54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g3cc93861824_0_17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6975" y="1606150"/>
            <a:ext cx="542450" cy="54245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g3cc93861824_0_179"/>
          <p:cNvSpPr txBox="1"/>
          <p:nvPr/>
        </p:nvSpPr>
        <p:spPr>
          <a:xfrm>
            <a:off x="405886" y="2618772"/>
            <a:ext cx="3344100" cy="5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ru-RU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Компилятор/интерпретатор</a:t>
            </a:r>
            <a:endParaRPr b="1" i="0" sz="16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4" name="Google Shape;274;g3cc93861824_0_179"/>
          <p:cNvSpPr txBox="1"/>
          <p:nvPr/>
        </p:nvSpPr>
        <p:spPr>
          <a:xfrm>
            <a:off x="4492416" y="2585267"/>
            <a:ext cx="25374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Декомпилятор</a:t>
            </a:r>
            <a:endParaRPr b="1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cc93861824_0_242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/>
              <a:t>Что можно ревёрсить?</a:t>
            </a:r>
            <a:endParaRPr/>
          </a:p>
        </p:txBody>
      </p:sp>
      <p:sp>
        <p:nvSpPr>
          <p:cNvPr id="280" name="Google Shape;280;g3cc93861824_0_242"/>
          <p:cNvSpPr txBox="1"/>
          <p:nvPr>
            <p:ph idx="2" type="body"/>
          </p:nvPr>
        </p:nvSpPr>
        <p:spPr>
          <a:xfrm>
            <a:off x="559575" y="1771050"/>
            <a:ext cx="66366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lang="ru-RU" sz="2000"/>
              <a:t>Исходный код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lang="ru-RU" sz="2000"/>
              <a:t>Байт-код (Python, Java, C#...)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lang="ru-RU" sz="2000"/>
              <a:t>Исполняемые файлы - бинари (C, C++, Rust)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2000"/>
              <a:t>И многое другое…</a:t>
            </a:r>
            <a:endParaRPr sz="2000"/>
          </a:p>
        </p:txBody>
      </p:sp>
      <p:pic>
        <p:nvPicPr>
          <p:cNvPr id="281" name="Google Shape;281;g3cc93861824_0_2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6950" y="2590475"/>
            <a:ext cx="3062749" cy="3062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cc93861824_0_248"/>
          <p:cNvSpPr txBox="1"/>
          <p:nvPr>
            <p:ph idx="1" type="body"/>
          </p:nvPr>
        </p:nvSpPr>
        <p:spPr>
          <a:xfrm>
            <a:off x="560200" y="3105825"/>
            <a:ext cx="6389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-RU"/>
              <a:t>Реверс исходного кода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cc93861824_0_252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/>
              <a:t>Реверс исходников</a:t>
            </a:r>
            <a:endParaRPr/>
          </a:p>
        </p:txBody>
      </p:sp>
      <p:sp>
        <p:nvSpPr>
          <p:cNvPr id="292" name="Google Shape;292;g3cc93861824_0_252"/>
          <p:cNvSpPr txBox="1"/>
          <p:nvPr>
            <p:ph idx="1" type="body"/>
          </p:nvPr>
        </p:nvSpPr>
        <p:spPr>
          <a:xfrm>
            <a:off x="559573" y="1729300"/>
            <a:ext cx="4157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</a:pPr>
            <a:r>
              <a:rPr lang="ru-RU" sz="2200"/>
              <a:t>Что может быть</a:t>
            </a:r>
            <a:endParaRPr sz="2200">
              <a:solidFill>
                <a:schemeClr val="accent2"/>
              </a:solidFill>
            </a:endParaRPr>
          </a:p>
        </p:txBody>
      </p:sp>
      <p:sp>
        <p:nvSpPr>
          <p:cNvPr id="293" name="Google Shape;293;g3cc93861824_0_252"/>
          <p:cNvSpPr txBox="1"/>
          <p:nvPr>
            <p:ph idx="2" type="body"/>
          </p:nvPr>
        </p:nvSpPr>
        <p:spPr>
          <a:xfrm>
            <a:off x="559580" y="2409025"/>
            <a:ext cx="41574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2000"/>
              <a:t>Код на любом ЯП, в том числе bash-скрипты и powershell-скрипты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2000"/>
              <a:t>Тренировать </a:t>
            </a:r>
            <a:r>
              <a:rPr lang="ru-RU" sz="2000" u="sng">
                <a:solidFill>
                  <a:schemeClr val="hlink"/>
                </a:solidFill>
                <a:hlinkClick r:id="rId3"/>
              </a:rPr>
              <a:t>здесь</a:t>
            </a:r>
            <a:endParaRPr sz="2000"/>
          </a:p>
        </p:txBody>
      </p:sp>
      <p:sp>
        <p:nvSpPr>
          <p:cNvPr id="294" name="Google Shape;294;g3cc93861824_0_252"/>
          <p:cNvSpPr txBox="1"/>
          <p:nvPr>
            <p:ph idx="1" type="body"/>
          </p:nvPr>
        </p:nvSpPr>
        <p:spPr>
          <a:xfrm>
            <a:off x="5989598" y="1729300"/>
            <a:ext cx="4157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</a:pPr>
            <a:r>
              <a:rPr lang="ru-RU" sz="2200"/>
              <a:t>Как решать</a:t>
            </a:r>
            <a:endParaRPr sz="2200">
              <a:solidFill>
                <a:schemeClr val="accent2"/>
              </a:solidFill>
            </a:endParaRPr>
          </a:p>
        </p:txBody>
      </p:sp>
      <p:sp>
        <p:nvSpPr>
          <p:cNvPr id="295" name="Google Shape;295;g3cc93861824_0_252"/>
          <p:cNvSpPr txBox="1"/>
          <p:nvPr>
            <p:ph idx="2" type="body"/>
          </p:nvPr>
        </p:nvSpPr>
        <p:spPr>
          <a:xfrm>
            <a:off x="5989600" y="2409025"/>
            <a:ext cx="49620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ru-RU" sz="2000"/>
              <a:t>Смотрим документацию по ЯП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ru-RU" sz="2000"/>
              <a:t>Мучаем нейронку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ru-RU" sz="2000"/>
              <a:t>Запускаем программу или её часть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ru-RU" sz="2000"/>
              <a:t>Модифицируем программу (отладочный вывод…)</a:t>
            </a:r>
            <a:endParaRPr sz="2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cc93861824_0_265"/>
          <p:cNvSpPr txBox="1"/>
          <p:nvPr>
            <p:ph idx="1" type="body"/>
          </p:nvPr>
        </p:nvSpPr>
        <p:spPr>
          <a:xfrm>
            <a:off x="560200" y="3105825"/>
            <a:ext cx="6389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-RU"/>
              <a:t>Реверс Python, C#, Java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cc93861824_0_269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/>
              <a:t>Что такое байт-код?</a:t>
            </a:r>
            <a:endParaRPr/>
          </a:p>
        </p:txBody>
      </p:sp>
      <p:sp>
        <p:nvSpPr>
          <p:cNvPr id="306" name="Google Shape;306;g3cc93861824_0_269"/>
          <p:cNvSpPr txBox="1"/>
          <p:nvPr>
            <p:ph idx="2" type="body"/>
          </p:nvPr>
        </p:nvSpPr>
        <p:spPr>
          <a:xfrm>
            <a:off x="559575" y="1771050"/>
            <a:ext cx="80721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b="1" lang="ru-RU" sz="2000"/>
              <a:t>Байт-код</a:t>
            </a:r>
            <a:r>
              <a:rPr lang="ru-RU" sz="2000"/>
              <a:t> - промежуточный код между исходным кодом и машинным кодом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lang="ru-RU" sz="2000"/>
              <a:t>Содержит машиноподобные инструкции, которые понимает виртуальная машина. Процессор не выполняет эти инструкции</a:t>
            </a:r>
            <a:endParaRPr sz="2000"/>
          </a:p>
        </p:txBody>
      </p:sp>
      <p:sp>
        <p:nvSpPr>
          <p:cNvPr id="307" name="Google Shape;307;g3cc93861824_0_269"/>
          <p:cNvSpPr txBox="1"/>
          <p:nvPr/>
        </p:nvSpPr>
        <p:spPr>
          <a:xfrm>
            <a:off x="931750" y="64532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Байт-код — Википедия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cc93861824_0_275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/>
              <a:t>Байт-код VS машинный код</a:t>
            </a:r>
            <a:endParaRPr/>
          </a:p>
        </p:txBody>
      </p:sp>
      <p:graphicFrame>
        <p:nvGraphicFramePr>
          <p:cNvPr id="313" name="Google Shape;313;g3cc93861824_0_275"/>
          <p:cNvGraphicFramePr/>
          <p:nvPr/>
        </p:nvGraphicFramePr>
        <p:xfrm>
          <a:off x="952500" y="2476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{75AA8160-6DA5-4E53-9EBD-5DF8860FBEE9}</a:tableStyleId>
              </a:tblPr>
              <a:tblGrid>
                <a:gridCol w="5143500"/>
                <a:gridCol w="51435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ru-RU" sz="22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Байт-код</a:t>
                      </a:r>
                      <a:endParaRPr b="1" sz="22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b="1" lang="ru-RU" sz="22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Машинный код</a:t>
                      </a:r>
                      <a:endParaRPr b="1" sz="22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Работает в ВМ</a:t>
                      </a:r>
                      <a:endParaRPr sz="1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Исполняется процессором</a:t>
                      </a:r>
                      <a:endParaRPr sz="1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Возможен почти полный возврат к исходному коду</a:t>
                      </a:r>
                      <a:endParaRPr sz="1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Полный возврат невозможен</a:t>
                      </a:r>
                      <a:endParaRPr sz="1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Сохраняются структуры классов, функций, имена (если не было обфускаций)</a:t>
                      </a:r>
                      <a:endParaRPr sz="1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Имена и структуры могут быть потеряны</a:t>
                      </a:r>
                      <a:endParaRPr sz="1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Просто анализировать</a:t>
                      </a:r>
                      <a:endParaRPr sz="1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-RU" sz="1800" u="none" cap="none" strike="noStrik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Сложнее анализировать</a:t>
                      </a:r>
                      <a:endParaRPr sz="18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14" name="Google Shape;314;g3cc93861824_0_275"/>
          <p:cNvSpPr txBox="1"/>
          <p:nvPr/>
        </p:nvSpPr>
        <p:spPr>
          <a:xfrm>
            <a:off x="952500" y="6453200"/>
            <a:ext cx="653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sng" cap="none" strike="noStrik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Разница между машинным кодом и байт-кодом / Ravesli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cc93861824_0_281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/>
              <a:t>Реверс Java</a:t>
            </a:r>
            <a:endParaRPr/>
          </a:p>
        </p:txBody>
      </p:sp>
      <p:sp>
        <p:nvSpPr>
          <p:cNvPr id="320" name="Google Shape;320;g3cc93861824_0_281"/>
          <p:cNvSpPr txBox="1"/>
          <p:nvPr>
            <p:ph idx="2" type="body"/>
          </p:nvPr>
        </p:nvSpPr>
        <p:spPr>
          <a:xfrm>
            <a:off x="559575" y="1771050"/>
            <a:ext cx="80721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b="1" lang="ru-RU" sz="2000"/>
              <a:t>Инструмент</a:t>
            </a:r>
            <a:r>
              <a:rPr lang="ru-RU" sz="2000"/>
              <a:t> - </a:t>
            </a:r>
            <a:r>
              <a:rPr lang="ru-RU" sz="2000" u="sng">
                <a:solidFill>
                  <a:schemeClr val="hlink"/>
                </a:solidFill>
                <a:hlinkClick r:id="rId3"/>
              </a:rPr>
              <a:t>jadx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lang="ru-RU" sz="2000"/>
              <a:t>Наиболее часто встречается: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Char char="○"/>
            </a:pPr>
            <a:r>
              <a:rPr b="1" lang="ru-RU" sz="2000">
                <a:latin typeface="Montserrat"/>
                <a:ea typeface="Montserrat"/>
                <a:cs typeface="Montserrat"/>
                <a:sym typeface="Montserrat"/>
              </a:rPr>
              <a:t>.class</a:t>
            </a:r>
            <a:r>
              <a:rPr lang="ru-RU" sz="2000">
                <a:latin typeface="Montserrat"/>
                <a:ea typeface="Montserrat"/>
                <a:cs typeface="Montserrat"/>
                <a:sym typeface="Montserrat"/>
              </a:rPr>
              <a:t> - один файл с байт-кодом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Char char="○"/>
            </a:pPr>
            <a:r>
              <a:rPr b="1" lang="ru-RU" sz="2000">
                <a:latin typeface="Montserrat"/>
                <a:ea typeface="Montserrat"/>
                <a:cs typeface="Montserrat"/>
                <a:sym typeface="Montserrat"/>
              </a:rPr>
              <a:t>.jar</a:t>
            </a:r>
            <a:r>
              <a:rPr lang="ru-RU" sz="2000">
                <a:latin typeface="Montserrat"/>
                <a:ea typeface="Montserrat"/>
                <a:cs typeface="Montserrat"/>
                <a:sym typeface="Montserrat"/>
              </a:rPr>
              <a:t> - Java Archive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Char char="○"/>
            </a:pPr>
            <a:r>
              <a:rPr b="1" lang="ru-RU" sz="2000">
                <a:latin typeface="Montserrat"/>
                <a:ea typeface="Montserrat"/>
                <a:cs typeface="Montserrat"/>
                <a:sym typeface="Montserrat"/>
              </a:rPr>
              <a:t>.apk</a:t>
            </a:r>
            <a:r>
              <a:rPr lang="ru-RU" sz="2000">
                <a:latin typeface="Montserrat"/>
                <a:ea typeface="Montserrat"/>
                <a:cs typeface="Montserrat"/>
                <a:sym typeface="Montserrat"/>
              </a:rPr>
              <a:t> - для Android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1" name="Google Shape;321;g3cc93861824_0_28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02275" y="1932100"/>
            <a:ext cx="5739001" cy="3720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cc93861824_0_289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/>
              <a:t>Реверс C#</a:t>
            </a:r>
            <a:endParaRPr/>
          </a:p>
        </p:txBody>
      </p:sp>
      <p:sp>
        <p:nvSpPr>
          <p:cNvPr id="327" name="Google Shape;327;g3cc93861824_0_289"/>
          <p:cNvSpPr txBox="1"/>
          <p:nvPr>
            <p:ph idx="2" type="body"/>
          </p:nvPr>
        </p:nvSpPr>
        <p:spPr>
          <a:xfrm>
            <a:off x="559575" y="1771050"/>
            <a:ext cx="80721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b="1" lang="ru-RU" sz="2000"/>
              <a:t>Инструмент</a:t>
            </a:r>
            <a:r>
              <a:rPr lang="ru-RU" sz="2000"/>
              <a:t> - </a:t>
            </a:r>
            <a:r>
              <a:rPr lang="ru-RU" sz="2000" u="sng">
                <a:solidFill>
                  <a:schemeClr val="hlink"/>
                </a:solidFill>
                <a:hlinkClick r:id="rId3"/>
              </a:rPr>
              <a:t>dnSpy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lang="ru-RU" sz="2000"/>
              <a:t>Наиболее часто встречается: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Char char="○"/>
            </a:pPr>
            <a:r>
              <a:rPr b="1" lang="ru-RU" sz="2000">
                <a:latin typeface="Montserrat"/>
                <a:ea typeface="Montserrat"/>
                <a:cs typeface="Montserrat"/>
                <a:sym typeface="Montserrat"/>
              </a:rPr>
              <a:t>.exe </a:t>
            </a:r>
            <a:r>
              <a:rPr lang="ru-RU" sz="2000">
                <a:latin typeface="Montserrat"/>
                <a:ea typeface="Montserrat"/>
                <a:cs typeface="Montserrat"/>
                <a:sym typeface="Montserrat"/>
              </a:rPr>
              <a:t>- сам бинарь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Char char="○"/>
            </a:pPr>
            <a:r>
              <a:rPr b="1" lang="ru-RU" sz="2000">
                <a:latin typeface="Montserrat"/>
                <a:ea typeface="Montserrat"/>
                <a:cs typeface="Montserrat"/>
                <a:sym typeface="Montserrat"/>
              </a:rPr>
              <a:t>.dll </a:t>
            </a:r>
            <a:r>
              <a:rPr lang="ru-RU" sz="2000">
                <a:latin typeface="Montserrat"/>
                <a:ea typeface="Montserrat"/>
                <a:cs typeface="Montserrat"/>
                <a:sym typeface="Montserrat"/>
              </a:rPr>
              <a:t>- библиотека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8" name="Google Shape;328;g3cc93861824_0_28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85021" y="1670725"/>
            <a:ext cx="6188475" cy="467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cc93861824_0_296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/>
              <a:t>Реверс Python</a:t>
            </a:r>
            <a:endParaRPr/>
          </a:p>
        </p:txBody>
      </p:sp>
      <p:sp>
        <p:nvSpPr>
          <p:cNvPr id="334" name="Google Shape;334;g3cc93861824_0_296"/>
          <p:cNvSpPr txBox="1"/>
          <p:nvPr>
            <p:ph idx="2" type="body"/>
          </p:nvPr>
        </p:nvSpPr>
        <p:spPr>
          <a:xfrm>
            <a:off x="559575" y="1771050"/>
            <a:ext cx="80721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b="1" lang="ru-RU" sz="2000"/>
              <a:t>decompile3 </a:t>
            </a:r>
            <a:r>
              <a:rPr lang="ru-RU" sz="2000"/>
              <a:t>- для очень старых версий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b="1" lang="ru-RU" sz="2000"/>
              <a:t>uncompyle6 </a:t>
            </a:r>
            <a:r>
              <a:rPr lang="ru-RU" sz="2000"/>
              <a:t>- для старых версий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b="1" lang="ru-RU" sz="2000"/>
              <a:t>pycdc </a:t>
            </a:r>
            <a:r>
              <a:rPr lang="ru-RU" sz="2000"/>
              <a:t>- хорош до примерно 3.9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b="1" lang="ru-RU" sz="2000" u="sng">
                <a:solidFill>
                  <a:schemeClr val="hlink"/>
                </a:solidFill>
                <a:hlinkClick r:id="rId3"/>
              </a:rPr>
              <a:t>pylingual</a:t>
            </a:r>
            <a:r>
              <a:rPr b="1" lang="ru-RU" sz="2000"/>
              <a:t> (веб-версия)</a:t>
            </a:r>
            <a:r>
              <a:rPr lang="ru-RU" sz="2000"/>
              <a:t> - декомпилятор здорового человека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b="1" lang="ru-RU" sz="2000" u="sng">
                <a:solidFill>
                  <a:schemeClr val="hlink"/>
                </a:solidFill>
                <a:hlinkClick r:id="rId4"/>
              </a:rPr>
              <a:t>pylingual</a:t>
            </a:r>
            <a:r>
              <a:rPr b="1" lang="ru-RU" sz="2000"/>
              <a:t> (локальная версия)</a:t>
            </a:r>
            <a:r>
              <a:rPr lang="ru-RU" sz="2000"/>
              <a:t> - долго ставить, но хорошо работает, когда веб-версия недоступна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lang="ru-RU" sz="2000"/>
              <a:t>Наиболее часто встречается: </a:t>
            </a:r>
            <a:r>
              <a:rPr b="1" lang="ru-RU" sz="2000"/>
              <a:t>.pyc</a:t>
            </a:r>
            <a:endParaRPr b="1" sz="2000"/>
          </a:p>
        </p:txBody>
      </p:sp>
      <p:sp>
        <p:nvSpPr>
          <p:cNvPr id="335" name="Google Shape;335;g3cc93861824_0_296"/>
          <p:cNvSpPr txBox="1"/>
          <p:nvPr/>
        </p:nvSpPr>
        <p:spPr>
          <a:xfrm>
            <a:off x="1040075" y="6453200"/>
            <a:ext cx="751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PYLINGUAL: Toward Perfect Decompilation of Evolving High-Level Languages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cc93861824_0_302"/>
          <p:cNvSpPr txBox="1"/>
          <p:nvPr>
            <p:ph idx="1" type="body"/>
          </p:nvPr>
        </p:nvSpPr>
        <p:spPr>
          <a:xfrm>
            <a:off x="560200" y="3105825"/>
            <a:ext cx="6389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-RU"/>
              <a:t>Реверс бинарей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cc93861824_0_306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/>
              <a:t>Основные архитектуры процессоров</a:t>
            </a:r>
            <a:endParaRPr/>
          </a:p>
        </p:txBody>
      </p:sp>
      <p:sp>
        <p:nvSpPr>
          <p:cNvPr id="346" name="Google Shape;346;g3cc93861824_0_306"/>
          <p:cNvSpPr txBox="1"/>
          <p:nvPr>
            <p:ph idx="2" type="body"/>
          </p:nvPr>
        </p:nvSpPr>
        <p:spPr>
          <a:xfrm>
            <a:off x="559575" y="1771050"/>
            <a:ext cx="110817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b="1" lang="ru-RU" sz="2000"/>
              <a:t>X86 и X86_64 </a:t>
            </a:r>
            <a:r>
              <a:rPr lang="ru-RU" sz="2000"/>
              <a:t>- Intel, AMD - CISC (Complex Instruction Set Computing)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b="1" lang="ru-RU" sz="2000"/>
              <a:t>ARM </a:t>
            </a:r>
            <a:r>
              <a:rPr lang="ru-RU" sz="2000"/>
              <a:t>- Apple, Samsung, Qualcomm, Nvidia - RISC (Reduced Instruction Set Computing)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b="1" lang="ru-RU" sz="2000"/>
              <a:t>MIPS</a:t>
            </a:r>
            <a:r>
              <a:rPr lang="ru-RU" sz="2000"/>
              <a:t> - RISC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lang="ru-RU" sz="2000"/>
              <a:t>…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2000"/>
              <a:t>У каждой архитектуры свой набор команд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2000"/>
              <a:t>Далее будем рассматривать </a:t>
            </a:r>
            <a:r>
              <a:rPr b="1" lang="ru-RU" sz="2000"/>
              <a:t>X86_64</a:t>
            </a:r>
            <a:endParaRPr b="1" sz="2000"/>
          </a:p>
        </p:txBody>
      </p:sp>
      <p:sp>
        <p:nvSpPr>
          <p:cNvPr id="347" name="Google Shape;347;g3cc93861824_0_306"/>
          <p:cNvSpPr txBox="1"/>
          <p:nvPr/>
        </p:nvSpPr>
        <p:spPr>
          <a:xfrm>
            <a:off x="985900" y="6453200"/>
            <a:ext cx="522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CISC, RISC и другие типы микропроцессоров OTUS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cc93861824_0_311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/>
              <a:t>Основные форматы исполняемых файлов</a:t>
            </a:r>
            <a:endParaRPr/>
          </a:p>
        </p:txBody>
      </p:sp>
      <p:sp>
        <p:nvSpPr>
          <p:cNvPr id="353" name="Google Shape;353;g3cc93861824_0_311"/>
          <p:cNvSpPr txBox="1"/>
          <p:nvPr>
            <p:ph idx="2" type="body"/>
          </p:nvPr>
        </p:nvSpPr>
        <p:spPr>
          <a:xfrm>
            <a:off x="559575" y="1771050"/>
            <a:ext cx="110817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lang="ru-RU" sz="2000"/>
              <a:t>Windows -</a:t>
            </a:r>
            <a:r>
              <a:rPr b="1" lang="ru-RU" sz="2000"/>
              <a:t> PE (Portable Executable): </a:t>
            </a:r>
            <a:r>
              <a:rPr lang="ru-RU" sz="2000"/>
              <a:t>.exe, .dll, .sys…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lang="ru-RU" sz="2000"/>
              <a:t>Linux - </a:t>
            </a:r>
            <a:r>
              <a:rPr b="1" lang="ru-RU" sz="2000"/>
              <a:t>ELF (Executable Linking Format)</a:t>
            </a:r>
            <a:endParaRPr b="1"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lang="ru-RU" sz="2000"/>
              <a:t>macOS - </a:t>
            </a:r>
            <a:r>
              <a:rPr b="1" lang="ru-RU" sz="2000"/>
              <a:t>Mach-O</a:t>
            </a:r>
            <a:endParaRPr b="1"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lang="ru-RU" sz="2000"/>
              <a:t>…</a:t>
            </a:r>
            <a:endParaRPr sz="20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cc93861824_0_316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/>
              <a:t>Структура ELF</a:t>
            </a:r>
            <a:endParaRPr/>
          </a:p>
        </p:txBody>
      </p:sp>
      <p:sp>
        <p:nvSpPr>
          <p:cNvPr id="359" name="Google Shape;359;g3cc93861824_0_316"/>
          <p:cNvSpPr txBox="1"/>
          <p:nvPr>
            <p:ph idx="2" type="body"/>
          </p:nvPr>
        </p:nvSpPr>
        <p:spPr>
          <a:xfrm>
            <a:off x="559575" y="1771050"/>
            <a:ext cx="5288400" cy="34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ru-RU" sz="2000"/>
              <a:t>ELF</a:t>
            </a:r>
            <a:r>
              <a:rPr lang="ru-RU" sz="2000"/>
              <a:t> - по сути контейнер в котором лежат код, данные, информация о загрузке и тд.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ru-RU" sz="2000"/>
              <a:t>Основные секции:</a:t>
            </a:r>
            <a:endParaRPr b="1"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lang="ru-RU" sz="2000"/>
              <a:t> </a:t>
            </a:r>
            <a:r>
              <a:rPr b="1" lang="ru-RU" sz="2000"/>
              <a:t>.text</a:t>
            </a:r>
            <a:r>
              <a:rPr lang="ru-RU" sz="2000"/>
              <a:t> - машинный код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b="1" lang="ru-RU" sz="2000"/>
              <a:t>.rodata</a:t>
            </a:r>
            <a:r>
              <a:rPr lang="ru-RU" sz="2000"/>
              <a:t> - константы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b="1" lang="ru-RU" sz="2000"/>
              <a:t>.data</a:t>
            </a:r>
            <a:r>
              <a:rPr lang="ru-RU" sz="2000"/>
              <a:t> - инициализированные глобальные переменные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b="1" lang="ru-RU" sz="2000"/>
              <a:t>.bss</a:t>
            </a:r>
            <a:r>
              <a:rPr lang="ru-RU" sz="2000"/>
              <a:t> - неинициализированные глобальные переменные</a:t>
            </a:r>
            <a:endParaRPr sz="2000"/>
          </a:p>
        </p:txBody>
      </p:sp>
      <p:pic>
        <p:nvPicPr>
          <p:cNvPr id="360" name="Google Shape;360;g3cc93861824_0_3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86925" y="2053250"/>
            <a:ext cx="6054350" cy="3864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g3cc93861824_0_316"/>
          <p:cNvSpPr txBox="1"/>
          <p:nvPr/>
        </p:nvSpPr>
        <p:spPr>
          <a:xfrm>
            <a:off x="996725" y="6453200"/>
            <a:ext cx="5962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Введение в ELF-файлы в Linux: понимание и анализ / Хабр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cc93861824_0_322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/>
              <a:t>Структура PE</a:t>
            </a:r>
            <a:endParaRPr/>
          </a:p>
        </p:txBody>
      </p:sp>
      <p:pic>
        <p:nvPicPr>
          <p:cNvPr id="367" name="Google Shape;367;g3cc93861824_0_322"/>
          <p:cNvPicPr preferRelativeResize="0"/>
          <p:nvPr/>
        </p:nvPicPr>
        <p:blipFill rotWithShape="1">
          <a:blip r:embed="rId3">
            <a:alphaModFix/>
          </a:blip>
          <a:srcRect b="0" l="8866" r="5642" t="0"/>
          <a:stretch/>
        </p:blipFill>
        <p:spPr>
          <a:xfrm>
            <a:off x="4998150" y="0"/>
            <a:ext cx="1885125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g3cc93861824_0_322"/>
          <p:cNvSpPr txBox="1"/>
          <p:nvPr/>
        </p:nvSpPr>
        <p:spPr>
          <a:xfrm>
            <a:off x="1018400" y="624240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PE (Portable Executable): На странных берегах / Хабр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cc93861824_0_329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/>
              <a:t>Стадии компиляции</a:t>
            </a:r>
            <a:endParaRPr/>
          </a:p>
        </p:txBody>
      </p:sp>
      <p:sp>
        <p:nvSpPr>
          <p:cNvPr id="374" name="Google Shape;374;g3cc93861824_0_329"/>
          <p:cNvSpPr txBox="1"/>
          <p:nvPr/>
        </p:nvSpPr>
        <p:spPr>
          <a:xfrm>
            <a:off x="7809725" y="1937238"/>
            <a:ext cx="3204300" cy="6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gcc prog.c -o prog</a:t>
            </a:r>
            <a:endParaRPr b="1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clang prog.c -o prog</a:t>
            </a:r>
            <a:endParaRPr b="1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cl prog.c (msvc)</a:t>
            </a:r>
            <a:endParaRPr b="1"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75" name="Google Shape;375;g3cc93861824_0_329"/>
          <p:cNvGrpSpPr/>
          <p:nvPr/>
        </p:nvGrpSpPr>
        <p:grpSpPr>
          <a:xfrm>
            <a:off x="700775" y="1413227"/>
            <a:ext cx="9243300" cy="5613305"/>
            <a:chOff x="700775" y="1619075"/>
            <a:chExt cx="9243300" cy="5613305"/>
          </a:xfrm>
        </p:grpSpPr>
        <p:sp>
          <p:nvSpPr>
            <p:cNvPr id="376" name="Google Shape;376;g3cc93861824_0_329"/>
            <p:cNvSpPr/>
            <p:nvPr/>
          </p:nvSpPr>
          <p:spPr>
            <a:xfrm>
              <a:off x="700775" y="1619075"/>
              <a:ext cx="1594800" cy="9570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ru-RU" sz="25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prog.c</a:t>
              </a:r>
              <a:endParaRPr b="1" i="0" sz="25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77" name="Google Shape;377;g3cc93861824_0_329"/>
            <p:cNvSpPr/>
            <p:nvPr/>
          </p:nvSpPr>
          <p:spPr>
            <a:xfrm>
              <a:off x="2295575" y="2576075"/>
              <a:ext cx="1594800" cy="9570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ru-RU" sz="25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prog.i</a:t>
              </a:r>
              <a:endParaRPr b="1" i="0" sz="25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78" name="Google Shape;378;g3cc93861824_0_329"/>
            <p:cNvSpPr/>
            <p:nvPr/>
          </p:nvSpPr>
          <p:spPr>
            <a:xfrm>
              <a:off x="3890375" y="3533075"/>
              <a:ext cx="1594800" cy="9570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ru-RU" sz="25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prog.s</a:t>
              </a:r>
              <a:endParaRPr b="1" i="0" sz="25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79" name="Google Shape;379;g3cc93861824_0_329"/>
            <p:cNvSpPr/>
            <p:nvPr/>
          </p:nvSpPr>
          <p:spPr>
            <a:xfrm>
              <a:off x="5485175" y="4490075"/>
              <a:ext cx="1594800" cy="9570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ru-RU" sz="25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prog.o</a:t>
              </a:r>
              <a:endParaRPr b="1" i="0" sz="25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80" name="Google Shape;380;g3cc93861824_0_329"/>
            <p:cNvSpPr/>
            <p:nvPr/>
          </p:nvSpPr>
          <p:spPr>
            <a:xfrm>
              <a:off x="7079975" y="5447075"/>
              <a:ext cx="1594800" cy="9570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ru-RU" sz="25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prog</a:t>
              </a:r>
              <a:endParaRPr b="1" i="0" sz="25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81" name="Google Shape;381;g3cc93861824_0_329"/>
            <p:cNvSpPr/>
            <p:nvPr/>
          </p:nvSpPr>
          <p:spPr>
            <a:xfrm flipH="1" rot="10800000">
              <a:off x="2295575" y="2164475"/>
              <a:ext cx="877500" cy="411600"/>
            </a:xfrm>
            <a:prstGeom prst="bentUpArrow">
              <a:avLst>
                <a:gd fmla="val 25000" name="adj1"/>
                <a:gd fmla="val 25000" name="adj2"/>
                <a:gd fmla="val 25000" name="adj3"/>
              </a:avLst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g3cc93861824_0_329"/>
            <p:cNvSpPr/>
            <p:nvPr/>
          </p:nvSpPr>
          <p:spPr>
            <a:xfrm flipH="1" rot="10800000">
              <a:off x="3890375" y="3121475"/>
              <a:ext cx="877500" cy="411600"/>
            </a:xfrm>
            <a:prstGeom prst="bentUpArrow">
              <a:avLst>
                <a:gd fmla="val 25000" name="adj1"/>
                <a:gd fmla="val 25000" name="adj2"/>
                <a:gd fmla="val 25000" name="adj3"/>
              </a:avLst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g3cc93861824_0_329"/>
            <p:cNvSpPr/>
            <p:nvPr/>
          </p:nvSpPr>
          <p:spPr>
            <a:xfrm flipH="1" rot="10800000">
              <a:off x="5485175" y="4078475"/>
              <a:ext cx="877500" cy="411600"/>
            </a:xfrm>
            <a:prstGeom prst="bentUpArrow">
              <a:avLst>
                <a:gd fmla="val 25000" name="adj1"/>
                <a:gd fmla="val 25000" name="adj2"/>
                <a:gd fmla="val 25000" name="adj3"/>
              </a:avLst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g3cc93861824_0_329"/>
            <p:cNvSpPr/>
            <p:nvPr/>
          </p:nvSpPr>
          <p:spPr>
            <a:xfrm flipH="1" rot="10800000">
              <a:off x="7079975" y="5035475"/>
              <a:ext cx="877500" cy="411600"/>
            </a:xfrm>
            <a:prstGeom prst="bentUpArrow">
              <a:avLst>
                <a:gd fmla="val 25000" name="adj1"/>
                <a:gd fmla="val 25000" name="adj2"/>
                <a:gd fmla="val 25000" name="adj3"/>
              </a:avLst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g3cc93861824_0_329"/>
            <p:cNvSpPr txBox="1"/>
            <p:nvPr/>
          </p:nvSpPr>
          <p:spPr>
            <a:xfrm>
              <a:off x="799325" y="2576075"/>
              <a:ext cx="1397700" cy="82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ru-RU" sz="1600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Исходный код</a:t>
              </a:r>
              <a:endPara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86" name="Google Shape;386;g3cc93861824_0_329"/>
            <p:cNvSpPr txBox="1"/>
            <p:nvPr/>
          </p:nvSpPr>
          <p:spPr>
            <a:xfrm>
              <a:off x="2394125" y="3533075"/>
              <a:ext cx="1397700" cy="82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ru-RU" sz="1600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Исходный код после макроподстановок</a:t>
              </a:r>
              <a:endPara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87" name="Google Shape;387;g3cc93861824_0_329"/>
            <p:cNvSpPr txBox="1"/>
            <p:nvPr/>
          </p:nvSpPr>
          <p:spPr>
            <a:xfrm>
              <a:off x="3890375" y="4490075"/>
              <a:ext cx="1594800" cy="82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ru-RU" sz="1600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Код языка ассемблера</a:t>
              </a:r>
              <a:endPara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88" name="Google Shape;388;g3cc93861824_0_329"/>
            <p:cNvSpPr txBox="1"/>
            <p:nvPr/>
          </p:nvSpPr>
          <p:spPr>
            <a:xfrm>
              <a:off x="5485175" y="5447075"/>
              <a:ext cx="1594800" cy="82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ru-RU" sz="1600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Машинный код</a:t>
              </a:r>
              <a:endPara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89" name="Google Shape;389;g3cc93861824_0_329"/>
            <p:cNvSpPr txBox="1"/>
            <p:nvPr/>
          </p:nvSpPr>
          <p:spPr>
            <a:xfrm>
              <a:off x="6148625" y="6404080"/>
              <a:ext cx="3457500" cy="82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ru-RU" sz="1600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Исполняемый файл</a:t>
              </a:r>
              <a:endPara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90" name="Google Shape;390;g3cc93861824_0_329"/>
            <p:cNvSpPr txBox="1"/>
            <p:nvPr/>
          </p:nvSpPr>
          <p:spPr>
            <a:xfrm>
              <a:off x="2295575" y="1716275"/>
              <a:ext cx="2864100" cy="44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ru-RU" sz="1600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Препроцессинг</a:t>
              </a:r>
              <a:endPara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91" name="Google Shape;391;g3cc93861824_0_329"/>
            <p:cNvSpPr txBox="1"/>
            <p:nvPr/>
          </p:nvSpPr>
          <p:spPr>
            <a:xfrm>
              <a:off x="3890375" y="2673275"/>
              <a:ext cx="2864100" cy="44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ru-RU" sz="1600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Компиляция</a:t>
              </a:r>
              <a:endPara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92" name="Google Shape;392;g3cc93861824_0_329"/>
            <p:cNvSpPr txBox="1"/>
            <p:nvPr/>
          </p:nvSpPr>
          <p:spPr>
            <a:xfrm>
              <a:off x="5485175" y="3630275"/>
              <a:ext cx="2864100" cy="44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ru-RU" sz="1600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Ассемблирование</a:t>
              </a:r>
              <a:endPara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93" name="Google Shape;393;g3cc93861824_0_329"/>
            <p:cNvSpPr txBox="1"/>
            <p:nvPr/>
          </p:nvSpPr>
          <p:spPr>
            <a:xfrm>
              <a:off x="7079975" y="4587275"/>
              <a:ext cx="2864100" cy="44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ru-RU" sz="1600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Линковка</a:t>
              </a:r>
              <a:endParaRPr b="1" i="0" sz="1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394" name="Google Shape;394;g3cc93861824_0_329"/>
          <p:cNvSpPr txBox="1"/>
          <p:nvPr/>
        </p:nvSpPr>
        <p:spPr>
          <a:xfrm>
            <a:off x="964250" y="624240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Процесс компиляции программ на C++ / Хабр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cc93861824_0_354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ru-RU"/>
              <a:t>Препроцессинг</a:t>
            </a:r>
            <a:endParaRPr/>
          </a:p>
        </p:txBody>
      </p:sp>
      <p:sp>
        <p:nvSpPr>
          <p:cNvPr id="400" name="Google Shape;400;g3cc93861824_0_354"/>
          <p:cNvSpPr txBox="1"/>
          <p:nvPr>
            <p:ph idx="2" type="body"/>
          </p:nvPr>
        </p:nvSpPr>
        <p:spPr>
          <a:xfrm>
            <a:off x="559575" y="2443225"/>
            <a:ext cx="66366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Montserrat"/>
              <a:buAutoNum type="arabicPeriod"/>
            </a:pPr>
            <a:r>
              <a:rPr lang="ru-RU" sz="2000"/>
              <a:t>Раскрываются </a:t>
            </a:r>
            <a:r>
              <a:rPr i="1" lang="ru-RU" sz="2000"/>
              <a:t>#include</a:t>
            </a:r>
            <a:endParaRPr i="1"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Montserrat"/>
              <a:buAutoNum type="arabicPeriod"/>
            </a:pPr>
            <a:r>
              <a:rPr lang="ru-RU" sz="2000"/>
              <a:t>Раскрываются макросы </a:t>
            </a:r>
            <a:r>
              <a:rPr i="1" lang="ru-RU" sz="2000"/>
              <a:t>#define</a:t>
            </a:r>
            <a:endParaRPr i="1"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Montserrat"/>
              <a:buAutoNum type="arabicPeriod"/>
            </a:pPr>
            <a:r>
              <a:rPr lang="ru-RU" sz="2000"/>
              <a:t>Удаляются комментарии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Montserrat"/>
              <a:buAutoNum type="arabicPeriod"/>
            </a:pPr>
            <a:r>
              <a:rPr lang="ru-RU" sz="2000"/>
              <a:t>Условная компиляция (</a:t>
            </a:r>
            <a:r>
              <a:rPr i="1" lang="ru-RU" sz="2000"/>
              <a:t>#ifdef</a:t>
            </a:r>
            <a:r>
              <a:rPr lang="ru-RU" sz="2000"/>
              <a:t>,</a:t>
            </a:r>
            <a:r>
              <a:rPr i="1" lang="ru-RU" sz="2000"/>
              <a:t> #if</a:t>
            </a:r>
            <a:r>
              <a:rPr lang="ru-RU" sz="2000"/>
              <a:t>…)</a:t>
            </a:r>
            <a:endParaRPr sz="2000"/>
          </a:p>
        </p:txBody>
      </p:sp>
      <p:sp>
        <p:nvSpPr>
          <p:cNvPr id="401" name="Google Shape;401;g3cc93861824_0_354"/>
          <p:cNvSpPr txBox="1"/>
          <p:nvPr>
            <p:ph idx="1" type="body"/>
          </p:nvPr>
        </p:nvSpPr>
        <p:spPr>
          <a:xfrm>
            <a:off x="559575" y="1673725"/>
            <a:ext cx="4546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BEE"/>
              </a:buClr>
              <a:buSzPts val="1600"/>
              <a:buNone/>
            </a:pPr>
            <a:r>
              <a:rPr lang="ru-RU" sz="2200"/>
              <a:t>gcc -E prog.c -o prog.i</a:t>
            </a:r>
            <a:endParaRPr sz="22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cc93861824_0_380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/>
              <a:t>2. Компиляция</a:t>
            </a:r>
            <a:endParaRPr/>
          </a:p>
        </p:txBody>
      </p:sp>
      <p:sp>
        <p:nvSpPr>
          <p:cNvPr id="407" name="Google Shape;407;g3cc93861824_0_380"/>
          <p:cNvSpPr txBox="1"/>
          <p:nvPr>
            <p:ph idx="2" type="body"/>
          </p:nvPr>
        </p:nvSpPr>
        <p:spPr>
          <a:xfrm>
            <a:off x="559575" y="2443225"/>
            <a:ext cx="66366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Montserrat"/>
              <a:buAutoNum type="arabicPeriod"/>
            </a:pPr>
            <a:r>
              <a:rPr lang="ru-RU" sz="2000"/>
              <a:t>Исходный код транслируется в ассемблерный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Montserrat"/>
              <a:buAutoNum type="arabicPeriod"/>
            </a:pPr>
            <a:r>
              <a:rPr lang="ru-RU" sz="2000"/>
              <a:t>Компилятор может делать оптимизации (в зависимости от заданного уровня оптимизации)</a:t>
            </a:r>
            <a:endParaRPr sz="2000"/>
          </a:p>
        </p:txBody>
      </p:sp>
      <p:sp>
        <p:nvSpPr>
          <p:cNvPr id="408" name="Google Shape;408;g3cc93861824_0_380"/>
          <p:cNvSpPr txBox="1"/>
          <p:nvPr>
            <p:ph idx="1" type="body"/>
          </p:nvPr>
        </p:nvSpPr>
        <p:spPr>
          <a:xfrm>
            <a:off x="559575" y="1673725"/>
            <a:ext cx="4546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BEE"/>
              </a:buClr>
              <a:buSzPts val="1600"/>
              <a:buNone/>
            </a:pPr>
            <a:r>
              <a:rPr lang="ru-RU" sz="2200"/>
              <a:t>gcc -S prog.i -o prog.s</a:t>
            </a:r>
            <a:endParaRPr sz="22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cc93861824_0_386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/>
              <a:t>3. Ассемблирование</a:t>
            </a:r>
            <a:endParaRPr/>
          </a:p>
        </p:txBody>
      </p:sp>
      <p:sp>
        <p:nvSpPr>
          <p:cNvPr id="414" name="Google Shape;414;g3cc93861824_0_386"/>
          <p:cNvSpPr txBox="1"/>
          <p:nvPr>
            <p:ph idx="2" type="body"/>
          </p:nvPr>
        </p:nvSpPr>
        <p:spPr>
          <a:xfrm>
            <a:off x="559575" y="2443225"/>
            <a:ext cx="66366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Montserrat"/>
              <a:buAutoNum type="arabicPeriod"/>
            </a:pPr>
            <a:r>
              <a:rPr lang="ru-RU" sz="2000"/>
              <a:t>Ассемблерный код транслируется в машинный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Montserrat"/>
              <a:buAutoNum type="arabicPeriod"/>
            </a:pPr>
            <a:r>
              <a:rPr lang="ru-RU" sz="2000"/>
              <a:t>Создаётся объектный файл с машинным кодом, который ещё не готов к запуску</a:t>
            </a:r>
            <a:endParaRPr sz="2000"/>
          </a:p>
        </p:txBody>
      </p:sp>
      <p:sp>
        <p:nvSpPr>
          <p:cNvPr id="415" name="Google Shape;415;g3cc93861824_0_386"/>
          <p:cNvSpPr txBox="1"/>
          <p:nvPr>
            <p:ph idx="1" type="body"/>
          </p:nvPr>
        </p:nvSpPr>
        <p:spPr>
          <a:xfrm>
            <a:off x="559575" y="1673725"/>
            <a:ext cx="4546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BEE"/>
              </a:buClr>
              <a:buSzPts val="1600"/>
              <a:buNone/>
            </a:pPr>
            <a:r>
              <a:rPr lang="ru-RU" sz="2200"/>
              <a:t>gcc -c prog.s -o prog.o</a:t>
            </a:r>
            <a:endParaRPr sz="22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cc93861824_0_392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/>
              <a:t>4. Линковка</a:t>
            </a:r>
            <a:endParaRPr/>
          </a:p>
        </p:txBody>
      </p:sp>
      <p:sp>
        <p:nvSpPr>
          <p:cNvPr id="421" name="Google Shape;421;g3cc93861824_0_392"/>
          <p:cNvSpPr txBox="1"/>
          <p:nvPr>
            <p:ph idx="2" type="body"/>
          </p:nvPr>
        </p:nvSpPr>
        <p:spPr>
          <a:xfrm>
            <a:off x="559575" y="2443225"/>
            <a:ext cx="110817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Montserrat"/>
              <a:buAutoNum type="arabicPeriod"/>
            </a:pPr>
            <a:r>
              <a:rPr lang="ru-RU" sz="2000"/>
              <a:t>Связываются объектные модули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Montserrat"/>
              <a:buAutoNum type="arabicPeriod"/>
            </a:pPr>
            <a:r>
              <a:rPr lang="ru-RU" sz="2000"/>
              <a:t>Добавляются стандартные библиотеки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Montserrat"/>
              <a:buAutoNum type="arabicPeriod"/>
            </a:pPr>
            <a:r>
              <a:rPr lang="ru-RU" sz="2000"/>
              <a:t>Создаётся полноценный исполняемый файл, который готов к запуску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ru-RU" sz="2000"/>
              <a:t>Линковка: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b="1" lang="ru-RU" sz="2000"/>
              <a:t>Статическая </a:t>
            </a:r>
            <a:r>
              <a:rPr lang="ru-RU" sz="2000"/>
              <a:t>- всё в один бинарь. Больше размер, проще работать, можно нарушить лицензию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b="1" lang="ru-RU" sz="2000"/>
              <a:t>Динамическая </a:t>
            </a:r>
            <a:r>
              <a:rPr lang="ru-RU" sz="2000"/>
              <a:t>- бинарь берёт функции из библиотеки, которая лежит где-то в другом месте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ru-RU" sz="2000"/>
              <a:t>При запуске: </a:t>
            </a:r>
            <a:r>
              <a:rPr lang="ru-RU" sz="2000"/>
              <a:t>загрузчик читает таблицу и мапит сегменты в память</a:t>
            </a:r>
            <a:endParaRPr sz="2000"/>
          </a:p>
        </p:txBody>
      </p:sp>
      <p:sp>
        <p:nvSpPr>
          <p:cNvPr id="422" name="Google Shape;422;g3cc93861824_0_392"/>
          <p:cNvSpPr txBox="1"/>
          <p:nvPr>
            <p:ph idx="1" type="body"/>
          </p:nvPr>
        </p:nvSpPr>
        <p:spPr>
          <a:xfrm>
            <a:off x="559575" y="1673725"/>
            <a:ext cx="4546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BEE"/>
              </a:buClr>
              <a:buSzPts val="1600"/>
              <a:buNone/>
            </a:pPr>
            <a:r>
              <a:rPr lang="ru-RU" sz="2200"/>
              <a:t>gcc prog.o -o prog</a:t>
            </a:r>
            <a:endParaRPr sz="22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cc93861824_0_398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/>
              <a:t>Отладочные символы</a:t>
            </a:r>
            <a:endParaRPr/>
          </a:p>
        </p:txBody>
      </p:sp>
      <p:sp>
        <p:nvSpPr>
          <p:cNvPr id="428" name="Google Shape;428;g3cc93861824_0_398"/>
          <p:cNvSpPr txBox="1"/>
          <p:nvPr>
            <p:ph idx="2" type="body"/>
          </p:nvPr>
        </p:nvSpPr>
        <p:spPr>
          <a:xfrm>
            <a:off x="555150" y="1500650"/>
            <a:ext cx="110817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Montserrat"/>
              <a:buAutoNum type="arabicPeriod"/>
            </a:pPr>
            <a:r>
              <a:rPr lang="ru-RU" sz="2000"/>
              <a:t>Компиляция с отладочными символами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ru-RU" sz="2000"/>
              <a:t>gcc -g prog.c -o prog</a:t>
            </a:r>
            <a:endParaRPr b="1"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Montserrat"/>
              <a:buAutoNum type="arabicPeriod"/>
            </a:pPr>
            <a:r>
              <a:rPr lang="ru-RU" sz="2000"/>
              <a:t>Компиляция без отладочных символов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ru-RU" sz="2000"/>
              <a:t>gcc prog.c -o prog</a:t>
            </a:r>
            <a:endParaRPr b="1"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Montserrat"/>
              <a:buAutoNum type="arabicPeriod"/>
            </a:pPr>
            <a:r>
              <a:rPr lang="ru-RU" sz="2000"/>
              <a:t>strip - удаляет символы, чтобы уменьшить размер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ru-RU" sz="2000"/>
              <a:t>strip -s prog</a:t>
            </a:r>
            <a:endParaRPr b="1" sz="2000"/>
          </a:p>
        </p:txBody>
      </p:sp>
      <p:sp>
        <p:nvSpPr>
          <p:cNvPr id="429" name="Google Shape;429;g3cc93861824_0_398"/>
          <p:cNvSpPr txBox="1"/>
          <p:nvPr/>
        </p:nvSpPr>
        <p:spPr>
          <a:xfrm>
            <a:off x="964225" y="6453200"/>
            <a:ext cx="5539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Про отладочные символы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cc93861824_0_404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</a:pPr>
            <a:r>
              <a:rPr lang="ru-RU"/>
              <a:t>Декомпиляторы</a:t>
            </a:r>
            <a:endParaRPr/>
          </a:p>
        </p:txBody>
      </p:sp>
      <p:sp>
        <p:nvSpPr>
          <p:cNvPr id="435" name="Google Shape;435;g3cc93861824_0_404"/>
          <p:cNvSpPr txBox="1"/>
          <p:nvPr>
            <p:ph idx="1" type="body"/>
          </p:nvPr>
        </p:nvSpPr>
        <p:spPr>
          <a:xfrm>
            <a:off x="559573" y="1729300"/>
            <a:ext cx="4157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</a:pPr>
            <a:r>
              <a:rPr lang="ru-RU" sz="2200"/>
              <a:t>IDA</a:t>
            </a:r>
            <a:endParaRPr sz="2200">
              <a:solidFill>
                <a:schemeClr val="accent2"/>
              </a:solidFill>
            </a:endParaRPr>
          </a:p>
        </p:txBody>
      </p:sp>
      <p:sp>
        <p:nvSpPr>
          <p:cNvPr id="436" name="Google Shape;436;g3cc93861824_0_404"/>
          <p:cNvSpPr txBox="1"/>
          <p:nvPr>
            <p:ph idx="2" type="body"/>
          </p:nvPr>
        </p:nvSpPr>
        <p:spPr>
          <a:xfrm>
            <a:off x="559580" y="2409025"/>
            <a:ext cx="41574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ru-RU" sz="2000"/>
              <a:t>Дорого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ru-RU" sz="2000"/>
              <a:t>Стабильно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ru-RU" sz="2000"/>
              <a:t>Удобно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ru-RU" sz="2000"/>
              <a:t>Поддерживает много что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ru-RU" sz="2000"/>
              <a:t>Много плагинов</a:t>
            </a:r>
            <a:endParaRPr sz="2000"/>
          </a:p>
        </p:txBody>
      </p:sp>
      <p:sp>
        <p:nvSpPr>
          <p:cNvPr id="437" name="Google Shape;437;g3cc93861824_0_404"/>
          <p:cNvSpPr txBox="1"/>
          <p:nvPr>
            <p:ph idx="1" type="body"/>
          </p:nvPr>
        </p:nvSpPr>
        <p:spPr>
          <a:xfrm>
            <a:off x="5989598" y="1729300"/>
            <a:ext cx="4157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</a:pPr>
            <a:r>
              <a:rPr lang="ru-RU" sz="2200"/>
              <a:t>Ghidra</a:t>
            </a:r>
            <a:endParaRPr sz="2200">
              <a:solidFill>
                <a:schemeClr val="accent2"/>
              </a:solidFill>
            </a:endParaRPr>
          </a:p>
        </p:txBody>
      </p:sp>
      <p:sp>
        <p:nvSpPr>
          <p:cNvPr id="438" name="Google Shape;438;g3cc93861824_0_404"/>
          <p:cNvSpPr txBox="1"/>
          <p:nvPr>
            <p:ph idx="2" type="body"/>
          </p:nvPr>
        </p:nvSpPr>
        <p:spPr>
          <a:xfrm>
            <a:off x="5989600" y="2409025"/>
            <a:ext cx="4962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ru-RU" sz="2000"/>
              <a:t>Бесплатно, опенсорс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ru-RU" sz="2000"/>
              <a:t>Не так удобно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ru-RU" sz="2000"/>
              <a:t>Удобно делать свои плагины</a:t>
            </a:r>
            <a:endParaRPr sz="2000"/>
          </a:p>
        </p:txBody>
      </p:sp>
      <p:grpSp>
        <p:nvGrpSpPr>
          <p:cNvPr id="439" name="Google Shape;439;g3cc93861824_0_404"/>
          <p:cNvGrpSpPr/>
          <p:nvPr/>
        </p:nvGrpSpPr>
        <p:grpSpPr>
          <a:xfrm>
            <a:off x="1944187" y="4567458"/>
            <a:ext cx="7261876" cy="1706649"/>
            <a:chOff x="1683074" y="4181950"/>
            <a:chExt cx="8470635" cy="1990725"/>
          </a:xfrm>
        </p:grpSpPr>
        <p:pic>
          <p:nvPicPr>
            <p:cNvPr id="440" name="Google Shape;440;g3cc93861824_0_40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683074" y="4181950"/>
              <a:ext cx="1619250" cy="19907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1" name="Google Shape;441;g3cc93861824_0_40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499403" y="4181950"/>
              <a:ext cx="2654306" cy="19907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cc93861824_0_415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/>
              <a:t>Загрузка бинаря</a:t>
            </a:r>
            <a:endParaRPr/>
          </a:p>
        </p:txBody>
      </p:sp>
      <p:pic>
        <p:nvPicPr>
          <p:cNvPr id="447" name="Google Shape;447;g3cc93861824_0_4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08025"/>
            <a:ext cx="2971250" cy="25784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g3cc93861824_0_4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71244" y="1208025"/>
            <a:ext cx="4488231" cy="302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g3cc93861824_0_4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59475" y="1210864"/>
            <a:ext cx="4732526" cy="3020669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g3cc93861824_0_415"/>
          <p:cNvSpPr txBox="1"/>
          <p:nvPr/>
        </p:nvSpPr>
        <p:spPr>
          <a:xfrm>
            <a:off x="231125" y="3885850"/>
            <a:ext cx="2394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Открываем новый файл</a:t>
            </a:r>
            <a:endParaRPr b="0" i="0" sz="1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(можно открыть существующий)</a:t>
            </a:r>
            <a:endParaRPr b="0" i="0" sz="1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1" name="Google Shape;451;g3cc93861824_0_415"/>
          <p:cNvSpPr txBox="1"/>
          <p:nvPr/>
        </p:nvSpPr>
        <p:spPr>
          <a:xfrm>
            <a:off x="2971211" y="4300700"/>
            <a:ext cx="4488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Выбираем отображение всех файлов, выбираем нужный и открываем его</a:t>
            </a:r>
            <a:endParaRPr b="0" i="0" sz="1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2" name="Google Shape;452;g3cc93861824_0_415"/>
          <p:cNvSpPr txBox="1"/>
          <p:nvPr/>
        </p:nvSpPr>
        <p:spPr>
          <a:xfrm>
            <a:off x="7581598" y="4300700"/>
            <a:ext cx="4488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Выбираем тип файла (обычно определяется автоматически)</a:t>
            </a:r>
            <a:endParaRPr b="0" i="0" sz="1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cc93861824_0_428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/>
              <a:t>Ассемблерный код в виде графа</a:t>
            </a:r>
            <a:endParaRPr/>
          </a:p>
        </p:txBody>
      </p:sp>
      <p:pic>
        <p:nvPicPr>
          <p:cNvPr id="458" name="Google Shape;458;g3cc93861824_0_4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063" y="1187101"/>
            <a:ext cx="10596716" cy="5670899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g3cc93861824_0_428"/>
          <p:cNvSpPr txBox="1"/>
          <p:nvPr/>
        </p:nvSpPr>
        <p:spPr>
          <a:xfrm>
            <a:off x="2928825" y="2802425"/>
            <a:ext cx="2166900" cy="15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-RU" sz="1500" u="none" cap="none" strike="noStrik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Рабочая зона с графом.</a:t>
            </a:r>
            <a:endParaRPr b="1" i="0" sz="1500" u="none" cap="none" strike="noStrike">
              <a:solidFill>
                <a:schemeClr val="accent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-RU" sz="1500" u="none" cap="none" strike="noStrik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Можно открыть другие окна: hex-редактор, таблица импортов, таблица экспортов</a:t>
            </a:r>
            <a:endParaRPr b="1" i="0" sz="1500" u="none" cap="none" strike="noStrike">
              <a:solidFill>
                <a:schemeClr val="accent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0" name="Google Shape;460;g3cc93861824_0_428"/>
          <p:cNvSpPr txBox="1"/>
          <p:nvPr/>
        </p:nvSpPr>
        <p:spPr>
          <a:xfrm>
            <a:off x="802075" y="3820825"/>
            <a:ext cx="2126700" cy="8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-RU" sz="1500" u="none" cap="none" strike="noStrik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Найденные функции</a:t>
            </a:r>
            <a:endParaRPr b="1" i="0" sz="1500" u="none" cap="none" strike="noStrike">
              <a:solidFill>
                <a:schemeClr val="accent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1" name="Google Shape;461;g3cc93861824_0_428"/>
          <p:cNvSpPr txBox="1"/>
          <p:nvPr/>
        </p:nvSpPr>
        <p:spPr>
          <a:xfrm>
            <a:off x="5158125" y="6020150"/>
            <a:ext cx="6134700" cy="5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-RU" sz="1500" u="none" cap="none" strike="noStrike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Консоль. Можно использовать IDAPython</a:t>
            </a:r>
            <a:endParaRPr b="1" i="0" sz="1500" u="none" cap="none" strike="noStrike">
              <a:solidFill>
                <a:schemeClr val="accent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cc93861824_0_442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/>
              <a:t>Если нажать пробел, граф пропадёт</a:t>
            </a:r>
            <a:endParaRPr/>
          </a:p>
        </p:txBody>
      </p:sp>
      <p:pic>
        <p:nvPicPr>
          <p:cNvPr id="467" name="Google Shape;467;g3cc93861824_0_4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800" y="1187101"/>
            <a:ext cx="10606392" cy="56708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cc93861824_0_451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/>
              <a:t>Если нажать F5 или так, появится псевдокод</a:t>
            </a:r>
            <a:endParaRPr/>
          </a:p>
        </p:txBody>
      </p:sp>
      <p:pic>
        <p:nvPicPr>
          <p:cNvPr id="473" name="Google Shape;473;g3cc93861824_0_4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76813" y="1231475"/>
            <a:ext cx="4438374" cy="5626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cc93861824_0_457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/>
              <a:t>Псевдокод функции main</a:t>
            </a:r>
            <a:endParaRPr/>
          </a:p>
        </p:txBody>
      </p:sp>
      <p:pic>
        <p:nvPicPr>
          <p:cNvPr id="479" name="Google Shape;479;g3cc93861824_0_4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8238" y="1187101"/>
            <a:ext cx="10635530" cy="56708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cc93861824_0_463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/>
              <a:t>Основные возможности</a:t>
            </a:r>
            <a:endParaRPr/>
          </a:p>
        </p:txBody>
      </p:sp>
      <p:sp>
        <p:nvSpPr>
          <p:cNvPr id="485" name="Google Shape;485;g3cc93861824_0_463"/>
          <p:cNvSpPr txBox="1"/>
          <p:nvPr>
            <p:ph idx="2" type="body"/>
          </p:nvPr>
        </p:nvSpPr>
        <p:spPr>
          <a:xfrm>
            <a:off x="555150" y="1242325"/>
            <a:ext cx="110817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b="1" lang="ru-RU" sz="2000"/>
              <a:t>N</a:t>
            </a:r>
            <a:r>
              <a:rPr lang="ru-RU" sz="2000"/>
              <a:t> - переименовать переменную или функцию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b="1" lang="ru-RU" sz="2000"/>
              <a:t>Ctrl + F</a:t>
            </a:r>
            <a:r>
              <a:rPr lang="ru-RU" sz="2000"/>
              <a:t> - Различный поиск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b="1" lang="ru-RU" sz="2000"/>
              <a:t>Y</a:t>
            </a:r>
            <a:r>
              <a:rPr lang="ru-RU" sz="2000"/>
              <a:t> - изменить тип функции или переменной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b="1" lang="ru-RU" sz="2000"/>
              <a:t>Кликнуть 2 раза</a:t>
            </a:r>
            <a:r>
              <a:rPr lang="ru-RU" sz="2000"/>
              <a:t> - перейти к коду функции или расположению переменной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b="1" lang="ru-RU" sz="2000"/>
              <a:t>\</a:t>
            </a:r>
            <a:r>
              <a:rPr lang="ru-RU" sz="2000"/>
              <a:t> - скрыть приведения типов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b="1" lang="ru-RU" sz="2000"/>
              <a:t>/</a:t>
            </a:r>
            <a:r>
              <a:rPr lang="ru-RU" sz="2000"/>
              <a:t> - оставить комментарий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b="1" lang="ru-RU" sz="2000"/>
              <a:t>X</a:t>
            </a:r>
            <a:r>
              <a:rPr lang="ru-RU" sz="2000"/>
              <a:t> - посмотреть, где используется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b="1" lang="ru-RU" sz="2000"/>
              <a:t>View -&gt; Subviews -&gt; Strings </a:t>
            </a:r>
            <a:r>
              <a:rPr lang="ru-RU" sz="2000"/>
              <a:t>- показать найденные строки</a:t>
            </a:r>
            <a:endParaRPr sz="2000"/>
          </a:p>
        </p:txBody>
      </p:sp>
      <p:pic>
        <p:nvPicPr>
          <p:cNvPr id="486" name="Google Shape;486;g3cc93861824_0_4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9425" y="3747950"/>
            <a:ext cx="8382000" cy="288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cc93861824_0_470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/>
              <a:t>Основы IDAPython</a:t>
            </a:r>
            <a:endParaRPr/>
          </a:p>
        </p:txBody>
      </p:sp>
      <p:sp>
        <p:nvSpPr>
          <p:cNvPr id="492" name="Google Shape;492;g3cc93861824_0_470"/>
          <p:cNvSpPr txBox="1"/>
          <p:nvPr>
            <p:ph idx="2" type="body"/>
          </p:nvPr>
        </p:nvSpPr>
        <p:spPr>
          <a:xfrm>
            <a:off x="555150" y="1500650"/>
            <a:ext cx="11081700" cy="34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b="1" lang="ru-RU" sz="2000"/>
              <a:t>here() или get_screen_ea() </a:t>
            </a:r>
            <a:r>
              <a:rPr lang="ru-RU" sz="2000"/>
              <a:t>- адрес, на котором курсор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b="1" lang="ru-RU" sz="2000"/>
              <a:t>get_bytes(addr, cnt)</a:t>
            </a:r>
            <a:r>
              <a:rPr lang="ru-RU" sz="2000"/>
              <a:t> - получить cnt байтов, начиная с адреса addr (Аналогично для других размеров)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b="1" lang="ru-RU" sz="2000"/>
              <a:t>get_name(addr) </a:t>
            </a:r>
            <a:r>
              <a:rPr lang="ru-RU" sz="2000"/>
              <a:t>- имя по переданному адресу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b="1" lang="ru-RU" sz="2000"/>
              <a:t>print_insn_mnem(addr)</a:t>
            </a:r>
            <a:r>
              <a:rPr lang="ru-RU" sz="2000"/>
              <a:t> - мнемоника инструкции по переданному адресу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2000"/>
              <a:t>И так далее…</a:t>
            </a:r>
            <a:endParaRPr sz="2000"/>
          </a:p>
        </p:txBody>
      </p:sp>
      <p:pic>
        <p:nvPicPr>
          <p:cNvPr id="493" name="Google Shape;493;g3cc93861824_0_4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9575" y="1925450"/>
            <a:ext cx="2409825" cy="129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cc93861824_0_481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/>
              <a:t>Завершение работы</a:t>
            </a:r>
            <a:endParaRPr/>
          </a:p>
        </p:txBody>
      </p:sp>
      <p:sp>
        <p:nvSpPr>
          <p:cNvPr id="499" name="Google Shape;499;g3cc93861824_0_481"/>
          <p:cNvSpPr txBox="1"/>
          <p:nvPr>
            <p:ph idx="2" type="body"/>
          </p:nvPr>
        </p:nvSpPr>
        <p:spPr>
          <a:xfrm>
            <a:off x="555150" y="1500650"/>
            <a:ext cx="110817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2000"/>
              <a:t>При завершении работы можно сохранить текущие результаты в базу данных Ida и при необходимости отправить на другой компьютер</a:t>
            </a:r>
            <a:endParaRPr sz="2000"/>
          </a:p>
        </p:txBody>
      </p:sp>
      <p:pic>
        <p:nvPicPr>
          <p:cNvPr id="500" name="Google Shape;500;g3cc93861824_0_4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175" y="2382725"/>
            <a:ext cx="7048500" cy="414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9"/>
          <p:cNvSpPr txBox="1"/>
          <p:nvPr>
            <p:ph idx="1" type="body"/>
          </p:nvPr>
        </p:nvSpPr>
        <p:spPr>
          <a:xfrm>
            <a:off x="560200" y="3105825"/>
            <a:ext cx="38844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5BB"/>
              </a:buClr>
              <a:buSzPts val="3600"/>
              <a:buNone/>
            </a:pPr>
            <a:r>
              <a:rPr lang="ru-RU"/>
              <a:t>Ответы на вопросы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cc93861824_0_487"/>
          <p:cNvSpPr txBox="1"/>
          <p:nvPr>
            <p:ph type="title"/>
          </p:nvPr>
        </p:nvSpPr>
        <p:spPr>
          <a:xfrm>
            <a:off x="559572" y="359101"/>
            <a:ext cx="11081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-RU"/>
              <a:t>Полезные материалы</a:t>
            </a:r>
            <a:endParaRPr/>
          </a:p>
        </p:txBody>
      </p:sp>
      <p:sp>
        <p:nvSpPr>
          <p:cNvPr id="511" name="Google Shape;511;g3cc93861824_0_487"/>
          <p:cNvSpPr txBox="1"/>
          <p:nvPr>
            <p:ph idx="2" type="body"/>
          </p:nvPr>
        </p:nvSpPr>
        <p:spPr>
          <a:xfrm>
            <a:off x="555150" y="1500650"/>
            <a:ext cx="11081700" cy="31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ru-RU" sz="2000" u="sng">
                <a:solidFill>
                  <a:schemeClr val="hlink"/>
                </a:solidFill>
                <a:hlinkClick r:id="rId3"/>
              </a:rPr>
              <a:t>Tasks :: forkbomb.ru</a:t>
            </a:r>
            <a:r>
              <a:rPr lang="ru-RU" sz="2000"/>
              <a:t> - видео и задачи для тренировки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ru-RU" sz="2000" u="sng">
                <a:solidFill>
                  <a:schemeClr val="hlink"/>
                </a:solidFill>
                <a:hlinkClick r:id="rId4"/>
              </a:rPr>
              <a:t>Flare-On</a:t>
            </a:r>
            <a:r>
              <a:rPr lang="ru-RU" sz="2000"/>
              <a:t> - шикарный CTF для ревёрсеров. Сложность постепенно растёт от первой до последней задачи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ru-RU" sz="2000" u="sng">
                <a:solidFill>
                  <a:schemeClr val="hlink"/>
                </a:solidFill>
                <a:hlinkClick r:id="rId5"/>
              </a:rPr>
              <a:t>play.picoctf.org</a:t>
            </a:r>
            <a:r>
              <a:rPr lang="ru-RU" sz="2000"/>
              <a:t> - хороший сайт с задачами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ru-RU" sz="2000" u="sng">
                <a:solidFill>
                  <a:schemeClr val="hlink"/>
                </a:solidFill>
                <a:hlinkClick r:id="rId6"/>
              </a:rPr>
              <a:t>Введение в реверсинг с нуля, используя IDA PRO</a:t>
            </a:r>
            <a:r>
              <a:rPr lang="ru-RU" sz="2000"/>
              <a:t> - курс по реверсу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ru-RU" sz="2000" u="sng"/>
              <a:t>К. Касперски “Искусство дизассемблирования”</a:t>
            </a:r>
            <a:r>
              <a:rPr lang="ru-RU" sz="2000"/>
              <a:t> - старая, но хорошая книга.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AutoNum type="arabicPeriod"/>
            </a:pPr>
            <a:r>
              <a:rPr lang="ru-RU" sz="2000" u="sng">
                <a:solidFill>
                  <a:srgbClr val="000000"/>
                </a:solidFill>
              </a:rPr>
              <a:t>Сикорски М., Хониг Э. “Вскрытие покажет! Практический анализ вредоносного ПО”</a:t>
            </a:r>
            <a:r>
              <a:rPr lang="ru-RU" sz="2000">
                <a:solidFill>
                  <a:srgbClr val="000000"/>
                </a:solidFill>
              </a:rPr>
              <a:t> - хорошая книга про анализ ВПО</a:t>
            </a:r>
            <a:endParaRPr sz="2000">
              <a:solidFill>
                <a:srgbClr val="000000"/>
              </a:solidFill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"/>
              <a:buAutoNum type="arabicPeriod"/>
            </a:pPr>
            <a:r>
              <a:rPr lang="ru-RU" sz="2000" u="sng">
                <a:solidFill>
                  <a:srgbClr val="000000"/>
                </a:solidFill>
              </a:rPr>
              <a:t>Chris Eagle “The IDA Pro Book: The Unofficial Guide to the World’s Most Popular Disassembler”</a:t>
            </a:r>
            <a:endParaRPr sz="2000" u="sng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625a4a1d6b_0_0"/>
          <p:cNvSpPr txBox="1"/>
          <p:nvPr>
            <p:ph idx="1" type="body"/>
          </p:nvPr>
        </p:nvSpPr>
        <p:spPr>
          <a:xfrm>
            <a:off x="560200" y="3105825"/>
            <a:ext cx="38844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5BB"/>
              </a:buClr>
              <a:buSzPts val="3600"/>
              <a:buNone/>
            </a:pPr>
            <a:r>
              <a:rPr lang="ru-RU"/>
              <a:t>Спасибо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5BB"/>
              </a:buClr>
              <a:buSzPts val="3600"/>
              <a:buNone/>
            </a:pPr>
            <a:r>
              <a:rPr lang="ru-RU"/>
              <a:t>за внимание!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Шаблон МИФИ">
  <a:themeElements>
    <a:clrScheme name="Другая 7">
      <a:dk1>
        <a:srgbClr val="171616"/>
      </a:dk1>
      <a:lt1>
        <a:srgbClr val="FFFFFF"/>
      </a:lt1>
      <a:dk2>
        <a:srgbClr val="0055BB"/>
      </a:dk2>
      <a:lt2>
        <a:srgbClr val="E2E2E2"/>
      </a:lt2>
      <a:accent1>
        <a:srgbClr val="0055BB"/>
      </a:accent1>
      <a:accent2>
        <a:srgbClr val="00BBEE"/>
      </a:accent2>
      <a:accent3>
        <a:srgbClr val="FF5000"/>
      </a:accent3>
      <a:accent4>
        <a:srgbClr val="00B050"/>
      </a:accent4>
      <a:accent5>
        <a:srgbClr val="00FFCC"/>
      </a:accent5>
      <a:accent6>
        <a:srgbClr val="FF66CC"/>
      </a:accent6>
      <a:hlink>
        <a:srgbClr val="00BBEE"/>
      </a:hlink>
      <a:folHlink>
        <a:srgbClr val="FFAE8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2020-05-28T16:18:16Z</dcterms:created>
  <dc:creator>Влад Замахаев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fs.IsStoryboard">
    <vt:bool>true</vt:bool>
  </property>
</Properties>
</file>