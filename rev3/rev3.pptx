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embeddedFontLst>
    <p:embeddedFont>
      <p:font typeface="Montserra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1757">
          <p15:clr>
            <a:srgbClr val="747775"/>
          </p15:clr>
        </p15:guide>
      </p15:sldGuideLst>
    </p:ext>
    <p:ext uri="GoogleSlidesCustomDataVersion2">
      <go:slidesCustomData xmlns:go="http://customooxmlschemas.google.com/" r:id="rId32" roundtripDataSignature="AMtx7mhlq7+MAETT4DvbRmIGoZf4QkG3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  <p:guide pos="175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ontserrat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257ea22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6257ea22e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06c7ffe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g3d06c7ffef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c9386182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cc93861824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06c7ffef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d06c7ffefa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06c7ffefa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d06c7ffefa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0496d8fd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d0496d8fde_0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06c7ffefa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d06c7ffefa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06c7ffef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d06c7ffefa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06c7ffef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d06c7ffefa_0_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06c7ffef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d06c7ffefa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06c7ffefa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d06c7ffefa_0_1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06c7ffefa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d06c7ffefa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06c7ffefa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3d06c7ffefa_0_1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06c7ffefa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3d06c7ffefa_0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06c7ffefa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d06c7ffefa_0_1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0871290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g3d0871290e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0871290e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g3d0871290ea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06c7ffefa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d06c7ffefa_0_1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0871290e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3d0871290ea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0689a421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g3d0689a4217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625a4a1d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g3625a4a1d6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>
  <p:cSld name="Титульный слайд 1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39425" y="2898000"/>
            <a:ext cx="4752575" cy="39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194" y="558606"/>
            <a:ext cx="2484000" cy="16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1"/>
          <p:cNvSpPr txBox="1"/>
          <p:nvPr>
            <p:ph idx="1" type="body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2" type="body"/>
          </p:nvPr>
        </p:nvSpPr>
        <p:spPr>
          <a:xfrm>
            <a:off x="560194" y="2567225"/>
            <a:ext cx="26947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3" type="body"/>
          </p:nvPr>
        </p:nvSpPr>
        <p:spPr>
          <a:xfrm>
            <a:off x="560194" y="3198167"/>
            <a:ext cx="29360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55B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Шапка с логотипом без коня (белая)">
  <p:cSld name="Шапка с логотипом без коня (белая)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4"/>
          <p:cNvPicPr preferRelativeResize="0"/>
          <p:nvPr/>
        </p:nvPicPr>
        <p:blipFill rotWithShape="1">
          <a:blip r:embed="rId2">
            <a:alphaModFix/>
          </a:blip>
          <a:srcRect b="40680" l="86780" r="-4360" t="32381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4"/>
          <p:cNvPicPr preferRelativeResize="0"/>
          <p:nvPr/>
        </p:nvPicPr>
        <p:blipFill rotWithShape="1">
          <a:blip r:embed="rId2">
            <a:alphaModFix/>
          </a:blip>
          <a:srcRect b="88431" l="61576" r="20842" t="1513"/>
          <a:stretch/>
        </p:blipFill>
        <p:spPr>
          <a:xfrm>
            <a:off x="0" y="6296025"/>
            <a:ext cx="982787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4"/>
          <p:cNvPicPr preferRelativeResize="0"/>
          <p:nvPr/>
        </p:nvPicPr>
        <p:blipFill rotWithShape="1">
          <a:blip r:embed="rId3">
            <a:alphaModFix/>
          </a:blip>
          <a:srcRect b="31851" l="5148" r="86065" t="45097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4"/>
          <p:cNvSpPr txBox="1"/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2800"/>
              <a:buFont typeface="Montserrat"/>
              <a:buNone/>
              <a:defRPr b="1" i="0" sz="2800" u="none" cap="none" strike="noStrike">
                <a:solidFill>
                  <a:srgbClr val="0055B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" name="Google Shape;1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85138" y="170399"/>
            <a:ext cx="1656000" cy="88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4"/>
          <p:cNvSpPr txBox="1"/>
          <p:nvPr>
            <p:ph idx="1" type="body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BB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4"/>
          <p:cNvSpPr txBox="1"/>
          <p:nvPr>
            <p:ph idx="2" type="body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14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ключительный слайд">
  <p:cSld name="Заключительный слайд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39425" y="2898000"/>
            <a:ext cx="4752575" cy="39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560194" y="3105834"/>
            <a:ext cx="29360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55B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Шапка с атомом">
  <p:cSld name="Шапка с атомом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" name="Google Shape;26;p12"/>
          <p:cNvPicPr preferRelativeResize="0"/>
          <p:nvPr/>
        </p:nvPicPr>
        <p:blipFill rotWithShape="1">
          <a:blip r:embed="rId2">
            <a:alphaModFix/>
          </a:blip>
          <a:srcRect b="40680" l="86780" r="-4360" t="32381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2"/>
          <p:cNvSpPr/>
          <p:nvPr/>
        </p:nvSpPr>
        <p:spPr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55B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12"/>
          <p:cNvPicPr preferRelativeResize="0"/>
          <p:nvPr/>
        </p:nvPicPr>
        <p:blipFill rotWithShape="1">
          <a:blip r:embed="rId3">
            <a:alphaModFix/>
          </a:blip>
          <a:srcRect b="46857" l="0" r="0" t="23654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 b="88431" l="61576" r="20842" t="1513"/>
          <a:stretch/>
        </p:blipFill>
        <p:spPr>
          <a:xfrm>
            <a:off x="0" y="6296025"/>
            <a:ext cx="982787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2"/>
          <p:cNvPicPr preferRelativeResize="0"/>
          <p:nvPr/>
        </p:nvPicPr>
        <p:blipFill rotWithShape="1">
          <a:blip r:embed="rId4">
            <a:alphaModFix/>
          </a:blip>
          <a:srcRect b="31851" l="5148" r="86065" t="45097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2"/>
          <p:cNvSpPr txBox="1"/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12"/>
          <p:cNvSpPr txBox="1"/>
          <p:nvPr>
            <p:ph idx="1" type="body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12"/>
          <p:cNvSpPr txBox="1"/>
          <p:nvPr>
            <p:ph idx="2" type="body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2">
  <p:cSld name="Титульный слайд 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6418217" y="2567225"/>
            <a:ext cx="26947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17"/>
          <p:cNvSpPr txBox="1"/>
          <p:nvPr>
            <p:ph idx="3" type="body"/>
          </p:nvPr>
        </p:nvSpPr>
        <p:spPr>
          <a:xfrm>
            <a:off x="6418217" y="3198167"/>
            <a:ext cx="29360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55B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38" name="Google Shape;3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169250"/>
            <a:ext cx="5886994" cy="408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Шапка с логотипом без коня (синяя)">
  <p:cSld name="Шапка с логотипом без коня (синяя)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/>
          <p:nvPr/>
        </p:nvSpPr>
        <p:spPr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92762" y="170399"/>
            <a:ext cx="1656000" cy="8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13"/>
          <p:cNvPicPr preferRelativeResize="0"/>
          <p:nvPr/>
        </p:nvPicPr>
        <p:blipFill rotWithShape="1">
          <a:blip r:embed="rId3">
            <a:alphaModFix/>
          </a:blip>
          <a:srcRect b="40680" l="86780" r="-4360" t="32381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13"/>
          <p:cNvPicPr preferRelativeResize="0"/>
          <p:nvPr/>
        </p:nvPicPr>
        <p:blipFill rotWithShape="1">
          <a:blip r:embed="rId3">
            <a:alphaModFix/>
          </a:blip>
          <a:srcRect b="88431" l="61576" r="20842" t="1513"/>
          <a:stretch/>
        </p:blipFill>
        <p:spPr>
          <a:xfrm>
            <a:off x="0" y="6296025"/>
            <a:ext cx="982787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3"/>
          <p:cNvPicPr preferRelativeResize="0"/>
          <p:nvPr/>
        </p:nvPicPr>
        <p:blipFill rotWithShape="1">
          <a:blip r:embed="rId4">
            <a:alphaModFix/>
          </a:blip>
          <a:srcRect b="31851" l="5148" r="86065" t="45097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3"/>
          <p:cNvSpPr txBox="1"/>
          <p:nvPr>
            <p:ph type="title"/>
          </p:nvPr>
        </p:nvSpPr>
        <p:spPr>
          <a:xfrm>
            <a:off x="559572" y="359101"/>
            <a:ext cx="91735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13"/>
          <p:cNvSpPr txBox="1"/>
          <p:nvPr>
            <p:ph idx="1" type="body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BB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13"/>
          <p:cNvSpPr txBox="1"/>
          <p:nvPr>
            <p:ph idx="2" type="body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13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Шапка с логотипом коня (белая)">
  <p:cSld name="Шапка с логотипом коня (белая)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5"/>
          <p:cNvPicPr preferRelativeResize="0"/>
          <p:nvPr/>
        </p:nvPicPr>
        <p:blipFill rotWithShape="1">
          <a:blip r:embed="rId2">
            <a:alphaModFix/>
          </a:blip>
          <a:srcRect b="40680" l="86780" r="-4360" t="32381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15"/>
          <p:cNvPicPr preferRelativeResize="0"/>
          <p:nvPr/>
        </p:nvPicPr>
        <p:blipFill rotWithShape="1">
          <a:blip r:embed="rId2">
            <a:alphaModFix/>
          </a:blip>
          <a:srcRect b="88431" l="61576" r="20842" t="1513"/>
          <a:stretch/>
        </p:blipFill>
        <p:spPr>
          <a:xfrm>
            <a:off x="0" y="6296025"/>
            <a:ext cx="982787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5"/>
          <p:cNvPicPr preferRelativeResize="0"/>
          <p:nvPr/>
        </p:nvPicPr>
        <p:blipFill rotWithShape="1">
          <a:blip r:embed="rId3">
            <a:alphaModFix/>
          </a:blip>
          <a:srcRect b="31851" l="5148" r="86065" t="45097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5"/>
          <p:cNvSpPr txBox="1"/>
          <p:nvPr>
            <p:ph type="title"/>
          </p:nvPr>
        </p:nvSpPr>
        <p:spPr>
          <a:xfrm>
            <a:off x="559572" y="359101"/>
            <a:ext cx="89009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2A"/>
              </a:buClr>
              <a:buSzPts val="2800"/>
              <a:buFont typeface="Montserrat"/>
              <a:buNone/>
              <a:defRPr b="1" i="0" sz="2800" u="none" cap="none" strike="noStrike">
                <a:solidFill>
                  <a:srgbClr val="E46C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5"/>
          <p:cNvSpPr txBox="1"/>
          <p:nvPr>
            <p:ph idx="1" type="body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BB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5"/>
          <p:cNvSpPr txBox="1"/>
          <p:nvPr>
            <p:ph idx="2" type="body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56" name="Google Shape;5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956" y="-135287"/>
            <a:ext cx="2376074" cy="15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5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Шапка с логотипом коня (серая)">
  <p:cSld name="Шапка с логотипом коня (серая)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/>
          <p:nvPr/>
        </p:nvSpPr>
        <p:spPr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16"/>
          <p:cNvPicPr preferRelativeResize="0"/>
          <p:nvPr/>
        </p:nvPicPr>
        <p:blipFill rotWithShape="1">
          <a:blip r:embed="rId2">
            <a:alphaModFix/>
          </a:blip>
          <a:srcRect b="40680" l="86780" r="-4360" t="32381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6"/>
          <p:cNvPicPr preferRelativeResize="0"/>
          <p:nvPr/>
        </p:nvPicPr>
        <p:blipFill rotWithShape="1">
          <a:blip r:embed="rId2">
            <a:alphaModFix/>
          </a:blip>
          <a:srcRect b="88431" l="61576" r="20842" t="1513"/>
          <a:stretch/>
        </p:blipFill>
        <p:spPr>
          <a:xfrm>
            <a:off x="0" y="6296025"/>
            <a:ext cx="982787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6"/>
          <p:cNvPicPr preferRelativeResize="0"/>
          <p:nvPr/>
        </p:nvPicPr>
        <p:blipFill rotWithShape="1">
          <a:blip r:embed="rId3">
            <a:alphaModFix/>
          </a:blip>
          <a:srcRect b="31851" l="5148" r="86065" t="45097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6"/>
          <p:cNvSpPr txBox="1"/>
          <p:nvPr>
            <p:ph type="title"/>
          </p:nvPr>
        </p:nvSpPr>
        <p:spPr>
          <a:xfrm>
            <a:off x="559572" y="359101"/>
            <a:ext cx="90328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2800"/>
              <a:buFont typeface="Montserrat"/>
              <a:buNone/>
              <a:defRPr b="1" i="0" sz="2800" u="none" cap="none" strike="noStrike">
                <a:solidFill>
                  <a:srgbClr val="0055B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BB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2" type="body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66" name="Google Shape;6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956" y="-144001"/>
            <a:ext cx="2376074" cy="15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91">
          <p15:clr>
            <a:srgbClr val="F26B43"/>
          </p15:clr>
        </p15:guide>
        <p15:guide id="4" orient="horz" pos="4065">
          <p15:clr>
            <a:srgbClr val="F26B43"/>
          </p15:clr>
        </p15:guide>
        <p15:guide id="5" pos="347">
          <p15:clr>
            <a:srgbClr val="F26B43"/>
          </p15:clr>
        </p15:guide>
        <p15:guide id="6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image" Target="../media/image23.png"/><Relationship Id="rId8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pwn.spbctf.ru/tasks" TargetMode="External"/><Relationship Id="rId4" Type="http://schemas.openxmlformats.org/officeDocument/2006/relationships/hyperlink" Target="https://pwn.college/" TargetMode="External"/><Relationship Id="rId5" Type="http://schemas.openxmlformats.org/officeDocument/2006/relationships/hyperlink" Target="http://play.picoctf.org" TargetMode="External"/><Relationship Id="rId6" Type="http://schemas.openxmlformats.org/officeDocument/2006/relationships/hyperlink" Target="https://metanit.com/assembler/nasm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idx="2" type="body"/>
          </p:nvPr>
        </p:nvSpPr>
        <p:spPr>
          <a:xfrm>
            <a:off x="560200" y="2567225"/>
            <a:ext cx="714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None/>
            </a:pPr>
            <a:r>
              <a:rPr lang="ru-RU"/>
              <a:t>Модуль “Бинарные уязвимости”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"/>
          <p:cNvSpPr txBox="1"/>
          <p:nvPr>
            <p:ph idx="3" type="body"/>
          </p:nvPr>
        </p:nvSpPr>
        <p:spPr>
          <a:xfrm>
            <a:off x="560198" y="3198175"/>
            <a:ext cx="706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None/>
            </a:pPr>
            <a:r>
              <a:rPr lang="ru-RU"/>
              <a:t>Урок 3. Язык ассемблера. Переполнение стека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257ea22eb_0_0"/>
          <p:cNvSpPr txBox="1"/>
          <p:nvPr>
            <p:ph type="title"/>
          </p:nvPr>
        </p:nvSpPr>
        <p:spPr>
          <a:xfrm>
            <a:off x="559572" y="359101"/>
            <a:ext cx="919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2800"/>
              <a:buFont typeface="Montserrat"/>
              <a:buNone/>
            </a:pPr>
            <a:r>
              <a:rPr lang="ru-RU"/>
              <a:t>План занятия</a:t>
            </a:r>
            <a:endParaRPr/>
          </a:p>
        </p:txBody>
      </p:sp>
      <p:sp>
        <p:nvSpPr>
          <p:cNvPr id="79" name="Google Shape;79;g36257ea22eb_0_0"/>
          <p:cNvSpPr txBox="1"/>
          <p:nvPr>
            <p:ph idx="1" type="body"/>
          </p:nvPr>
        </p:nvSpPr>
        <p:spPr>
          <a:xfrm>
            <a:off x="559574" y="1729300"/>
            <a:ext cx="7033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None/>
            </a:pPr>
            <a:r>
              <a:rPr lang="ru-RU" sz="2200"/>
              <a:t>Язык ассемблера. Переполнение стека</a:t>
            </a:r>
            <a:endParaRPr sz="2200"/>
          </a:p>
        </p:txBody>
      </p:sp>
      <p:sp>
        <p:nvSpPr>
          <p:cNvPr id="80" name="Google Shape;80;g36257ea22eb_0_0"/>
          <p:cNvSpPr txBox="1"/>
          <p:nvPr>
            <p:ph idx="2" type="body"/>
          </p:nvPr>
        </p:nvSpPr>
        <p:spPr>
          <a:xfrm>
            <a:off x="559592" y="2481520"/>
            <a:ext cx="110817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AutoNum type="arabicPeriod"/>
            </a:pPr>
            <a:r>
              <a:rPr lang="ru-RU" sz="2200"/>
              <a:t>Архитектура x86_64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AutoNum type="arabicPeriod"/>
            </a:pPr>
            <a:r>
              <a:rPr lang="ru-RU" sz="2200"/>
              <a:t>Основы языка ассемблера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ru-RU" sz="2200"/>
              <a:t>Стек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ru-RU" sz="2200"/>
              <a:t>Переполнение стека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ru-RU" sz="2200"/>
              <a:t>Решение задач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06c7ffefa_0_0"/>
          <p:cNvSpPr/>
          <p:nvPr/>
        </p:nvSpPr>
        <p:spPr>
          <a:xfrm>
            <a:off x="2034675" y="5098800"/>
            <a:ext cx="4248300" cy="1131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МАШИННЫЙ КОД</a:t>
            </a:r>
            <a:endParaRPr b="1"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g3d06c7ffefa_0_0"/>
          <p:cNvSpPr/>
          <p:nvPr/>
        </p:nvSpPr>
        <p:spPr>
          <a:xfrm>
            <a:off x="6529375" y="5454000"/>
            <a:ext cx="1087500" cy="42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d06c7ffefa_0_0"/>
          <p:cNvSpPr/>
          <p:nvPr/>
        </p:nvSpPr>
        <p:spPr>
          <a:xfrm>
            <a:off x="7950250" y="5098700"/>
            <a:ext cx="3479700" cy="113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latin typeface="Montserrat"/>
                <a:ea typeface="Montserrat"/>
                <a:cs typeface="Montserrat"/>
                <a:sym typeface="Montserrat"/>
              </a:rPr>
              <a:t>Опкоды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latin typeface="Montserrat"/>
                <a:ea typeface="Montserrat"/>
                <a:cs typeface="Montserrat"/>
                <a:sym typeface="Montserrat"/>
              </a:rPr>
              <a:t>(номера команд)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8" name="Google Shape;88;g3d06c7ffefa_0_0"/>
          <p:cNvGrpSpPr/>
          <p:nvPr/>
        </p:nvGrpSpPr>
        <p:grpSpPr>
          <a:xfrm>
            <a:off x="197329" y="5329041"/>
            <a:ext cx="1590947" cy="670526"/>
            <a:chOff x="90654" y="5204078"/>
            <a:chExt cx="1590947" cy="670526"/>
          </a:xfrm>
        </p:grpSpPr>
        <p:pic>
          <p:nvPicPr>
            <p:cNvPr id="89" name="Google Shape;89;g3d06c7ffefa_0_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0654" y="5204079"/>
              <a:ext cx="670525" cy="670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g3d06c7ffefa_0_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11075" y="5204078"/>
              <a:ext cx="670525" cy="670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1" name="Google Shape;91;g3d06c7ffefa_0_0"/>
          <p:cNvSpPr/>
          <p:nvPr/>
        </p:nvSpPr>
        <p:spPr>
          <a:xfrm>
            <a:off x="2034675" y="3235848"/>
            <a:ext cx="4248300" cy="1131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ЯЗЫК АССЕМБЛЕРА</a:t>
            </a:r>
            <a:endParaRPr b="1"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g3d06c7ffefa_0_0"/>
          <p:cNvSpPr/>
          <p:nvPr/>
        </p:nvSpPr>
        <p:spPr>
          <a:xfrm>
            <a:off x="6529375" y="3591048"/>
            <a:ext cx="1087500" cy="42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d06c7ffefa_0_0"/>
          <p:cNvSpPr/>
          <p:nvPr/>
        </p:nvSpPr>
        <p:spPr>
          <a:xfrm>
            <a:off x="7950250" y="3235748"/>
            <a:ext cx="3479700" cy="113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latin typeface="Montserrat"/>
                <a:ea typeface="Montserrat"/>
                <a:cs typeface="Montserrat"/>
                <a:sym typeface="Montserrat"/>
              </a:rPr>
              <a:t>Мнемоники команд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4" name="Google Shape;94;g3d06c7ffefa_0_0"/>
          <p:cNvGrpSpPr/>
          <p:nvPr/>
        </p:nvGrpSpPr>
        <p:grpSpPr>
          <a:xfrm>
            <a:off x="3887601" y="4453677"/>
            <a:ext cx="542450" cy="558300"/>
            <a:chOff x="4033576" y="4453677"/>
            <a:chExt cx="542450" cy="558300"/>
          </a:xfrm>
        </p:grpSpPr>
        <p:sp>
          <p:nvSpPr>
            <p:cNvPr id="95" name="Google Shape;95;g3d06c7ffefa_0_0"/>
            <p:cNvSpPr/>
            <p:nvPr/>
          </p:nvSpPr>
          <p:spPr>
            <a:xfrm rot="-5400000">
              <a:off x="4171626" y="4607577"/>
              <a:ext cx="558300" cy="250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g3d06c7ffefa_0_0"/>
            <p:cNvSpPr/>
            <p:nvPr/>
          </p:nvSpPr>
          <p:spPr>
            <a:xfrm rot="5400000">
              <a:off x="3879676" y="4607577"/>
              <a:ext cx="558300" cy="250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g3d06c7ffefa_0_0"/>
          <p:cNvSpPr txBox="1"/>
          <p:nvPr/>
        </p:nvSpPr>
        <p:spPr>
          <a:xfrm>
            <a:off x="4499504" y="4433721"/>
            <a:ext cx="2537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latin typeface="Montserrat"/>
                <a:ea typeface="Montserrat"/>
                <a:cs typeface="Montserrat"/>
                <a:sym typeface="Montserrat"/>
              </a:rPr>
              <a:t>Дизассемблер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g3d06c7ffefa_0_0"/>
          <p:cNvSpPr txBox="1"/>
          <p:nvPr/>
        </p:nvSpPr>
        <p:spPr>
          <a:xfrm>
            <a:off x="1715699" y="4438217"/>
            <a:ext cx="2186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latin typeface="Montserrat"/>
                <a:ea typeface="Montserrat"/>
                <a:cs typeface="Montserrat"/>
                <a:sym typeface="Montserrat"/>
              </a:rPr>
              <a:t>Ассемблер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9" name="Google Shape;99;g3d06c7ffefa_0_0"/>
          <p:cNvGrpSpPr/>
          <p:nvPr/>
        </p:nvGrpSpPr>
        <p:grpSpPr>
          <a:xfrm>
            <a:off x="215586" y="3465975"/>
            <a:ext cx="1580075" cy="670649"/>
            <a:chOff x="215586" y="3465975"/>
            <a:chExt cx="1580075" cy="670649"/>
          </a:xfrm>
        </p:grpSpPr>
        <p:pic>
          <p:nvPicPr>
            <p:cNvPr id="100" name="Google Shape;100;g3d06c7ffefa_0_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15586" y="3465975"/>
              <a:ext cx="670525" cy="670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g3d06c7ffefa_0_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25136" y="3466098"/>
              <a:ext cx="670525" cy="670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" name="Google Shape;102;g3d06c7ffefa_0_0"/>
          <p:cNvSpPr/>
          <p:nvPr/>
        </p:nvSpPr>
        <p:spPr>
          <a:xfrm>
            <a:off x="2034675" y="1372798"/>
            <a:ext cx="4248300" cy="1131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ЯП ВЫСОКОГО УРОВНЯ</a:t>
            </a:r>
            <a:endParaRPr b="1"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g3d06c7ffefa_0_0"/>
          <p:cNvSpPr/>
          <p:nvPr/>
        </p:nvSpPr>
        <p:spPr>
          <a:xfrm>
            <a:off x="6529375" y="1727998"/>
            <a:ext cx="1087500" cy="42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d06c7ffefa_0_0"/>
          <p:cNvSpPr/>
          <p:nvPr/>
        </p:nvSpPr>
        <p:spPr>
          <a:xfrm>
            <a:off x="7950250" y="1372698"/>
            <a:ext cx="3479700" cy="113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latin typeface="Montserrat"/>
                <a:ea typeface="Montserrat"/>
                <a:cs typeface="Montserrat"/>
                <a:sym typeface="Montserrat"/>
              </a:rPr>
              <a:t>Понятный высокоуровневый код (циклы, классы…)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5" name="Google Shape;105;g3d06c7ffefa_0_0"/>
          <p:cNvGrpSpPr/>
          <p:nvPr/>
        </p:nvGrpSpPr>
        <p:grpSpPr>
          <a:xfrm>
            <a:off x="3887601" y="2590677"/>
            <a:ext cx="542450" cy="558300"/>
            <a:chOff x="4033576" y="4453677"/>
            <a:chExt cx="542450" cy="558300"/>
          </a:xfrm>
        </p:grpSpPr>
        <p:sp>
          <p:nvSpPr>
            <p:cNvPr id="106" name="Google Shape;106;g3d06c7ffefa_0_0"/>
            <p:cNvSpPr/>
            <p:nvPr/>
          </p:nvSpPr>
          <p:spPr>
            <a:xfrm rot="-5400000">
              <a:off x="4171626" y="4607577"/>
              <a:ext cx="558300" cy="250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g3d06c7ffefa_0_0"/>
            <p:cNvSpPr/>
            <p:nvPr/>
          </p:nvSpPr>
          <p:spPr>
            <a:xfrm rot="5400000">
              <a:off x="3879676" y="4607577"/>
              <a:ext cx="558300" cy="250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8" name="Google Shape;108;g3d06c7ffefa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45825" y="1606150"/>
            <a:ext cx="542450" cy="54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d06c7ffefa_0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6975" y="1606150"/>
            <a:ext cx="542450" cy="54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d06c7ffefa_0_0"/>
          <p:cNvSpPr txBox="1"/>
          <p:nvPr/>
        </p:nvSpPr>
        <p:spPr>
          <a:xfrm>
            <a:off x="405886" y="2618772"/>
            <a:ext cx="33441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latin typeface="Montserrat"/>
                <a:ea typeface="Montserrat"/>
                <a:cs typeface="Montserrat"/>
                <a:sym typeface="Montserrat"/>
              </a:rPr>
              <a:t>Компилятор/интерпретатор</a:t>
            </a:r>
            <a:endParaRPr b="1"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g3d06c7ffefa_0_0"/>
          <p:cNvSpPr txBox="1"/>
          <p:nvPr/>
        </p:nvSpPr>
        <p:spPr>
          <a:xfrm>
            <a:off x="4492416" y="2585267"/>
            <a:ext cx="2537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latin typeface="Montserrat"/>
                <a:ea typeface="Montserrat"/>
                <a:cs typeface="Montserrat"/>
                <a:sym typeface="Montserrat"/>
              </a:rPr>
              <a:t>Декомпилятор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c93861824_0_7"/>
          <p:cNvSpPr txBox="1"/>
          <p:nvPr>
            <p:ph idx="1" type="body"/>
          </p:nvPr>
        </p:nvSpPr>
        <p:spPr>
          <a:xfrm>
            <a:off x="560200" y="3105825"/>
            <a:ext cx="638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/>
              <a:t>Архитектура x86_64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06c7ffefa_0_99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Память</a:t>
            </a:r>
            <a:endParaRPr/>
          </a:p>
        </p:txBody>
      </p:sp>
      <p:sp>
        <p:nvSpPr>
          <p:cNvPr id="122" name="Google Shape;122;g3d06c7ffefa_0_99"/>
          <p:cNvSpPr txBox="1"/>
          <p:nvPr>
            <p:ph idx="2" type="body"/>
          </p:nvPr>
        </p:nvSpPr>
        <p:spPr>
          <a:xfrm>
            <a:off x="555150" y="1500650"/>
            <a:ext cx="63714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Архитектура </a:t>
            </a:r>
            <a:r>
              <a:rPr b="1" lang="ru-RU" sz="2000"/>
              <a:t>64-битная</a:t>
            </a:r>
            <a:r>
              <a:rPr lang="ru-RU" sz="2000"/>
              <a:t> =&gt; адресов 2^64 (фактически 2^48 = 256 ТБ)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Регистры -&gt; кэш -&gt; оперативная память -&gt; постоянная память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Можем использовать регистры общего назначения (РОН)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Регистры 64-битные, но есть доступ к 32, 16 и 8 битам</a:t>
            </a:r>
            <a:endParaRPr sz="2000"/>
          </a:p>
        </p:txBody>
      </p:sp>
      <p:pic>
        <p:nvPicPr>
          <p:cNvPr id="123" name="Google Shape;123;g3d06c7ffefa_0_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25" y="2397950"/>
            <a:ext cx="3180900" cy="318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06c7ffefa_0_109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Регистры общего назначения (РОН)</a:t>
            </a:r>
            <a:endParaRPr/>
          </a:p>
        </p:txBody>
      </p:sp>
      <p:sp>
        <p:nvSpPr>
          <p:cNvPr id="129" name="Google Shape;129;g3d06c7ffefa_0_109"/>
          <p:cNvSpPr txBox="1"/>
          <p:nvPr>
            <p:ph idx="2" type="body"/>
          </p:nvPr>
        </p:nvSpPr>
        <p:spPr>
          <a:xfrm>
            <a:off x="555150" y="1500650"/>
            <a:ext cx="63714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RAX </a:t>
            </a:r>
            <a:r>
              <a:rPr lang="ru-RU" sz="2000"/>
              <a:t>(accumulator) – для арифметических операций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RBX </a:t>
            </a:r>
            <a:r>
              <a:rPr lang="ru-RU" sz="2000"/>
              <a:t>(base)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RCX </a:t>
            </a:r>
            <a:r>
              <a:rPr lang="ru-RU" sz="2000"/>
              <a:t>(counter)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RDX </a:t>
            </a:r>
            <a:r>
              <a:rPr lang="ru-RU" sz="2000"/>
              <a:t>(data) – арифметика, ввод / вывод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RSP </a:t>
            </a:r>
            <a:r>
              <a:rPr lang="ru-RU" sz="2000"/>
              <a:t>(stack pointer) – верхушка стека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RBP </a:t>
            </a:r>
            <a:r>
              <a:rPr lang="ru-RU" sz="2000"/>
              <a:t>(bottom pointer) – низ стека для функции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RDI </a:t>
            </a:r>
            <a:r>
              <a:rPr lang="ru-RU" sz="2000"/>
              <a:t>(destination index)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RSI </a:t>
            </a:r>
            <a:r>
              <a:rPr lang="ru-RU" sz="2000"/>
              <a:t>(source index)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 u="sng"/>
              <a:t>RIP </a:t>
            </a:r>
            <a:r>
              <a:rPr lang="ru-RU" sz="2000"/>
              <a:t>(instruction pointer)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 u="sng"/>
              <a:t>RFLAGS </a:t>
            </a:r>
            <a:r>
              <a:rPr lang="ru-RU" sz="2000"/>
              <a:t>– флаги состояния</a:t>
            </a:r>
            <a:endParaRPr sz="2000"/>
          </a:p>
        </p:txBody>
      </p:sp>
      <p:pic>
        <p:nvPicPr>
          <p:cNvPr id="130" name="Google Shape;130;g3d06c7ffefa_0_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2500" y="2453300"/>
            <a:ext cx="3022000" cy="302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3d0496d8fde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588" y="0"/>
            <a:ext cx="11474816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06c7ffefa_0_122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Размеры</a:t>
            </a:r>
            <a:endParaRPr/>
          </a:p>
        </p:txBody>
      </p:sp>
      <p:sp>
        <p:nvSpPr>
          <p:cNvPr id="141" name="Google Shape;141;g3d06c7ffefa_0_122"/>
          <p:cNvSpPr txBox="1"/>
          <p:nvPr>
            <p:ph idx="2" type="body"/>
          </p:nvPr>
        </p:nvSpPr>
        <p:spPr>
          <a:xfrm>
            <a:off x="555150" y="1500650"/>
            <a:ext cx="63714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Byte </a:t>
            </a:r>
            <a:r>
              <a:rPr lang="ru-RU" sz="2000"/>
              <a:t>– 1 байт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Word </a:t>
            </a:r>
            <a:r>
              <a:rPr lang="ru-RU" sz="2000"/>
              <a:t>– 2 байта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Dword </a:t>
            </a:r>
            <a:r>
              <a:rPr lang="ru-RU" sz="2000"/>
              <a:t>(doubleword) – 4 байта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Qword </a:t>
            </a:r>
            <a:r>
              <a:rPr lang="ru-RU" sz="2000"/>
              <a:t>(quadword) – 8 байт</a:t>
            </a:r>
            <a:endParaRPr sz="2000"/>
          </a:p>
        </p:txBody>
      </p:sp>
      <p:pic>
        <p:nvPicPr>
          <p:cNvPr id="142" name="Google Shape;142;g3d06c7ffefa_0_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7350" y="2336550"/>
            <a:ext cx="3041249" cy="304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06c7ffefa_0_130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RFLAGS</a:t>
            </a:r>
            <a:endParaRPr/>
          </a:p>
        </p:txBody>
      </p:sp>
      <p:sp>
        <p:nvSpPr>
          <p:cNvPr id="148" name="Google Shape;148;g3d06c7ffefa_0_130"/>
          <p:cNvSpPr txBox="1"/>
          <p:nvPr>
            <p:ph idx="2" type="body"/>
          </p:nvPr>
        </p:nvSpPr>
        <p:spPr>
          <a:xfrm>
            <a:off x="555150" y="1500650"/>
            <a:ext cx="63714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CF </a:t>
            </a:r>
            <a:r>
              <a:rPr lang="ru-RU" sz="2000"/>
              <a:t>- флаг переноса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ZF </a:t>
            </a:r>
            <a:r>
              <a:rPr lang="ru-RU" sz="2000"/>
              <a:t>- флаг нуля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OF </a:t>
            </a:r>
            <a:r>
              <a:rPr lang="ru-RU" sz="2000"/>
              <a:t>- флаг переполнения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DF</a:t>
            </a:r>
            <a:r>
              <a:rPr lang="ru-RU" sz="2000"/>
              <a:t> - флаг направления</a:t>
            </a:r>
            <a:endParaRPr sz="2000"/>
          </a:p>
        </p:txBody>
      </p:sp>
      <p:pic>
        <p:nvPicPr>
          <p:cNvPr id="149" name="Google Shape;149;g3d06c7ffefa_0_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55298"/>
            <a:ext cx="11641149" cy="380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06c7ffefa_0_117"/>
          <p:cNvSpPr txBox="1"/>
          <p:nvPr>
            <p:ph idx="1" type="body"/>
          </p:nvPr>
        </p:nvSpPr>
        <p:spPr>
          <a:xfrm>
            <a:off x="560200" y="3105825"/>
            <a:ext cx="4654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None/>
            </a:pPr>
            <a:r>
              <a:rPr lang="ru-RU"/>
              <a:t>Основы языка ассемблера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06c7ffefa_0_137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Базовые инструкции</a:t>
            </a:r>
            <a:endParaRPr/>
          </a:p>
        </p:txBody>
      </p:sp>
      <p:sp>
        <p:nvSpPr>
          <p:cNvPr id="160" name="Google Shape;160;g3d06c7ffefa_0_137"/>
          <p:cNvSpPr txBox="1"/>
          <p:nvPr>
            <p:ph idx="2" type="body"/>
          </p:nvPr>
        </p:nvSpPr>
        <p:spPr>
          <a:xfrm>
            <a:off x="555150" y="1500650"/>
            <a:ext cx="110817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mov dst, src</a:t>
            </a:r>
            <a:r>
              <a:rPr lang="ru-RU" sz="2000"/>
              <a:t> - копирование данных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add a, b</a:t>
            </a:r>
            <a:r>
              <a:rPr lang="ru-RU" sz="2000"/>
              <a:t> - сложение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sub a, b </a:t>
            </a:r>
            <a:r>
              <a:rPr lang="ru-RU" sz="2000"/>
              <a:t>- вычитание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cmp a, b</a:t>
            </a:r>
            <a:r>
              <a:rPr lang="ru-RU" sz="2000"/>
              <a:t> - сравнение (изменяет RFLAGS)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jmp addr</a:t>
            </a:r>
            <a:r>
              <a:rPr lang="ru-RU" sz="2000"/>
              <a:t> - безусловный переход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je, jne, jg, jl addr</a:t>
            </a:r>
            <a:r>
              <a:rPr lang="ru-RU" sz="2000"/>
              <a:t> - условный переход на основе значений RFLAGS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nop </a:t>
            </a:r>
            <a:r>
              <a:rPr lang="ru-RU" sz="2000"/>
              <a:t>- ничего не делать</a:t>
            </a:r>
            <a:endParaRPr sz="2000"/>
          </a:p>
        </p:txBody>
      </p:sp>
      <p:pic>
        <p:nvPicPr>
          <p:cNvPr id="161" name="Google Shape;161;g3d06c7ffefa_0_137"/>
          <p:cNvPicPr preferRelativeResize="0"/>
          <p:nvPr/>
        </p:nvPicPr>
        <p:blipFill rotWithShape="1">
          <a:blip r:embed="rId3">
            <a:alphaModFix/>
          </a:blip>
          <a:srcRect b="3726" l="0" r="0" t="0"/>
          <a:stretch/>
        </p:blipFill>
        <p:spPr>
          <a:xfrm>
            <a:off x="4370950" y="3943668"/>
            <a:ext cx="3458950" cy="258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06c7ffefa_0_143"/>
          <p:cNvSpPr txBox="1"/>
          <p:nvPr>
            <p:ph idx="1" type="body"/>
          </p:nvPr>
        </p:nvSpPr>
        <p:spPr>
          <a:xfrm>
            <a:off x="560200" y="3105825"/>
            <a:ext cx="465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None/>
            </a:pPr>
            <a:r>
              <a:rPr lang="ru-RU"/>
              <a:t>Стек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06c7ffefa_0_153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Стек</a:t>
            </a:r>
            <a:endParaRPr/>
          </a:p>
        </p:txBody>
      </p:sp>
      <p:pic>
        <p:nvPicPr>
          <p:cNvPr id="172" name="Google Shape;172;g3d06c7ffefa_0_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9" y="1251393"/>
            <a:ext cx="12192000" cy="5585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06c7ffefa_0_160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Стек</a:t>
            </a:r>
            <a:endParaRPr/>
          </a:p>
        </p:txBody>
      </p:sp>
      <p:sp>
        <p:nvSpPr>
          <p:cNvPr id="178" name="Google Shape;178;g3d06c7ffefa_0_160"/>
          <p:cNvSpPr txBox="1"/>
          <p:nvPr>
            <p:ph idx="2" type="body"/>
          </p:nvPr>
        </p:nvSpPr>
        <p:spPr>
          <a:xfrm>
            <a:off x="559588" y="1370650"/>
            <a:ext cx="110817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ru-RU" sz="2000"/>
              <a:t>Стек </a:t>
            </a:r>
            <a:r>
              <a:rPr lang="ru-RU" sz="2000"/>
              <a:t>- область памяти для локальных данных функции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Растёт от старших адресов к младшим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RSP - указатель на вершину стека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RBP - указатель на базу текущего фрейма</a:t>
            </a:r>
            <a:endParaRPr sz="2000"/>
          </a:p>
        </p:txBody>
      </p:sp>
      <p:pic>
        <p:nvPicPr>
          <p:cNvPr id="179" name="Google Shape;179;g3d06c7ffefa_0_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6138" y="2879600"/>
            <a:ext cx="5948575" cy="397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06c7ffefa_0_167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Инструкции для работы со стеком</a:t>
            </a:r>
            <a:endParaRPr/>
          </a:p>
        </p:txBody>
      </p:sp>
      <p:sp>
        <p:nvSpPr>
          <p:cNvPr id="185" name="Google Shape;185;g3d06c7ffefa_0_167"/>
          <p:cNvSpPr txBox="1"/>
          <p:nvPr>
            <p:ph idx="2" type="body"/>
          </p:nvPr>
        </p:nvSpPr>
        <p:spPr>
          <a:xfrm>
            <a:off x="559588" y="1370650"/>
            <a:ext cx="110817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ru-RU" sz="2000"/>
              <a:t>push rax</a:t>
            </a:r>
            <a:r>
              <a:rPr lang="ru-RU" sz="2000"/>
              <a:t> → RSP -= 8; [RSP] = RAX</a:t>
            </a:r>
            <a:r>
              <a:rPr b="1" lang="ru-RU" sz="2000"/>
              <a:t>​​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ru-RU" sz="2000"/>
              <a:t>pop rax</a:t>
            </a:r>
            <a:r>
              <a:rPr lang="ru-RU" sz="2000"/>
              <a:t> → RAX = [RSP]; RSP += 8​​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ru-RU" sz="2000"/>
              <a:t>call func</a:t>
            </a:r>
            <a:r>
              <a:rPr lang="ru-RU" sz="2000"/>
              <a:t> → push RIP; jmp func (сохраняет адрес возврата)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ru-RU" sz="2000"/>
              <a:t>ret </a:t>
            </a:r>
            <a:r>
              <a:rPr lang="ru-RU" sz="2000"/>
              <a:t>→ pop RIP (возвращает управление)</a:t>
            </a:r>
            <a:endParaRPr sz="2000"/>
          </a:p>
        </p:txBody>
      </p:sp>
      <p:pic>
        <p:nvPicPr>
          <p:cNvPr id="186" name="Google Shape;186;g3d06c7ffefa_0_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6138" y="2879600"/>
            <a:ext cx="5948575" cy="397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06c7ffefa_0_176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Calling conventions</a:t>
            </a:r>
            <a:endParaRPr/>
          </a:p>
        </p:txBody>
      </p:sp>
      <p:sp>
        <p:nvSpPr>
          <p:cNvPr id="192" name="Google Shape;192;g3d06c7ffefa_0_176"/>
          <p:cNvSpPr txBox="1"/>
          <p:nvPr>
            <p:ph idx="2" type="body"/>
          </p:nvPr>
        </p:nvSpPr>
        <p:spPr>
          <a:xfrm>
            <a:off x="559588" y="1370650"/>
            <a:ext cx="110817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AutoNum type="arabicPeriod"/>
            </a:pPr>
            <a:r>
              <a:rPr lang="ru-RU" sz="2000"/>
              <a:t>Первые 6 аргументов целого типа: </a:t>
            </a:r>
            <a:r>
              <a:rPr b="1" lang="ru-RU" sz="2000"/>
              <a:t>R</a:t>
            </a:r>
            <a:r>
              <a:rPr b="1" lang="ru-RU" sz="2000"/>
              <a:t>DI, RSI, RDX, RCX, R8, R9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AutoNum type="arabicPeriod"/>
            </a:pPr>
            <a:r>
              <a:rPr lang="ru-RU" sz="2000"/>
              <a:t>Аргументы 7+ передаются через стек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AutoNum type="arabicPeriod"/>
            </a:pPr>
            <a:r>
              <a:rPr lang="ru-RU" sz="2000"/>
              <a:t>Возврат значения: </a:t>
            </a:r>
            <a:r>
              <a:rPr b="1" lang="ru-RU" sz="2000"/>
              <a:t>RAX 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AutoNum type="arabicPeriod"/>
            </a:pPr>
            <a:r>
              <a:rPr lang="ru-RU" sz="2000"/>
              <a:t>Caller-saved: </a:t>
            </a:r>
            <a:r>
              <a:rPr b="1" lang="ru-RU" sz="2000"/>
              <a:t>RAX, RCX, RDX, RSI, RDI, R8–R11</a:t>
            </a:r>
            <a:r>
              <a:rPr lang="ru-RU" sz="2000"/>
              <a:t> (функция может менять)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AutoNum type="arabicPeriod"/>
            </a:pPr>
            <a:r>
              <a:rPr lang="ru-RU" sz="2000"/>
              <a:t>Callee-saved: </a:t>
            </a:r>
            <a:r>
              <a:rPr b="1" lang="ru-RU" sz="2000"/>
              <a:t>RBX, RBP, R12–R15</a:t>
            </a:r>
            <a:r>
              <a:rPr lang="ru-RU" sz="2000"/>
              <a:t> (функция должна сохранить, если использует)</a:t>
            </a:r>
            <a:endParaRPr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0871290ea_0_0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Пролог и эпилог</a:t>
            </a:r>
            <a:endParaRPr/>
          </a:p>
        </p:txBody>
      </p:sp>
      <p:pic>
        <p:nvPicPr>
          <p:cNvPr id="198" name="Google Shape;198;g3d0871290e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77250"/>
            <a:ext cx="12192000" cy="229820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d0871290ea_0_0"/>
          <p:cNvSpPr txBox="1"/>
          <p:nvPr>
            <p:ph idx="2" type="body"/>
          </p:nvPr>
        </p:nvSpPr>
        <p:spPr>
          <a:xfrm>
            <a:off x="559600" y="1370650"/>
            <a:ext cx="110817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>
                <a:solidFill>
                  <a:srgbClr val="000000"/>
                </a:solidFill>
              </a:rPr>
              <a:t>push rbp </a:t>
            </a:r>
            <a:r>
              <a:rPr lang="ru-RU" sz="2000">
                <a:solidFill>
                  <a:srgbClr val="000000"/>
                </a:solidFill>
              </a:rPr>
              <a:t>         ; сохранить старый RBP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>
                <a:solidFill>
                  <a:srgbClr val="000000"/>
                </a:solidFill>
              </a:rPr>
              <a:t>mov rbp, rsp</a:t>
            </a:r>
            <a:r>
              <a:rPr lang="ru-RU" sz="2000">
                <a:solidFill>
                  <a:srgbClr val="000000"/>
                </a:solidFill>
              </a:rPr>
              <a:t>      ; новый RBP = текущий RSP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>
                <a:solidFill>
                  <a:srgbClr val="000000"/>
                </a:solidFill>
              </a:rPr>
              <a:t>sub rsp, 32</a:t>
            </a:r>
            <a:r>
              <a:rPr lang="ru-RU" sz="2000">
                <a:solidFill>
                  <a:srgbClr val="000000"/>
                </a:solidFill>
              </a:rPr>
              <a:t>       ; выделить 32 байта под локальные переменные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>
                <a:solidFill>
                  <a:srgbClr val="000000"/>
                </a:solidFill>
              </a:rPr>
              <a:t>mov rsp, rbp</a:t>
            </a:r>
            <a:r>
              <a:rPr lang="ru-RU" sz="2000">
                <a:solidFill>
                  <a:srgbClr val="000000"/>
                </a:solidFill>
              </a:rPr>
              <a:t>      ; освободить локальные переменные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>
                <a:solidFill>
                  <a:srgbClr val="000000"/>
                </a:solidFill>
              </a:rPr>
              <a:t>pop rbp </a:t>
            </a:r>
            <a:r>
              <a:rPr lang="ru-RU" sz="2000">
                <a:solidFill>
                  <a:srgbClr val="000000"/>
                </a:solidFill>
              </a:rPr>
              <a:t>          ; восстановить старый RBP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>
                <a:solidFill>
                  <a:srgbClr val="000000"/>
                </a:solidFill>
              </a:rPr>
              <a:t>ret</a:t>
            </a:r>
            <a:r>
              <a:rPr lang="ru-RU" sz="2000">
                <a:solidFill>
                  <a:srgbClr val="000000"/>
                </a:solidFill>
              </a:rPr>
              <a:t>               ; pop RIP и вернуться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0871290ea_0_10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Состояние стека</a:t>
            </a:r>
            <a:endParaRPr/>
          </a:p>
        </p:txBody>
      </p:sp>
      <p:pic>
        <p:nvPicPr>
          <p:cNvPr id="205" name="Google Shape;205;g3d0871290ea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1325" y="1224375"/>
            <a:ext cx="9360675" cy="5163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6" name="Google Shape;206;g3d0871290ea_0_10"/>
          <p:cNvGrpSpPr/>
          <p:nvPr/>
        </p:nvGrpSpPr>
        <p:grpSpPr>
          <a:xfrm>
            <a:off x="122875" y="1966050"/>
            <a:ext cx="2502600" cy="1668750"/>
            <a:chOff x="122875" y="1966050"/>
            <a:chExt cx="2502600" cy="1668750"/>
          </a:xfrm>
        </p:grpSpPr>
        <p:grpSp>
          <p:nvGrpSpPr>
            <p:cNvPr id="207" name="Google Shape;207;g3d0871290ea_0_10"/>
            <p:cNvGrpSpPr/>
            <p:nvPr/>
          </p:nvGrpSpPr>
          <p:grpSpPr>
            <a:xfrm>
              <a:off x="1292875" y="1966050"/>
              <a:ext cx="1332600" cy="1646400"/>
              <a:chOff x="729500" y="2033200"/>
              <a:chExt cx="1332600" cy="1646400"/>
            </a:xfrm>
          </p:grpSpPr>
          <p:sp>
            <p:nvSpPr>
              <p:cNvPr id="208" name="Google Shape;208;g3d0871290ea_0_10"/>
              <p:cNvSpPr/>
              <p:nvPr/>
            </p:nvSpPr>
            <p:spPr>
              <a:xfrm>
                <a:off x="729500" y="2033200"/>
                <a:ext cx="1332600" cy="411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800">
                    <a:latin typeface="Montserrat"/>
                    <a:ea typeface="Montserrat"/>
                    <a:cs typeface="Montserrat"/>
                    <a:sym typeface="Montserrat"/>
                  </a:rPr>
                  <a:t>buffer</a:t>
                </a:r>
                <a:endParaRPr sz="1800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09" name="Google Shape;209;g3d0871290ea_0_10"/>
              <p:cNvSpPr/>
              <p:nvPr/>
            </p:nvSpPr>
            <p:spPr>
              <a:xfrm>
                <a:off x="729500" y="2444800"/>
                <a:ext cx="1332600" cy="411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800">
                    <a:latin typeface="Montserrat"/>
                    <a:ea typeface="Montserrat"/>
                    <a:cs typeface="Montserrat"/>
                    <a:sym typeface="Montserrat"/>
                  </a:rPr>
                  <a:t>rbp</a:t>
                </a:r>
                <a:endParaRPr sz="1800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10" name="Google Shape;210;g3d0871290ea_0_10"/>
              <p:cNvSpPr/>
              <p:nvPr/>
            </p:nvSpPr>
            <p:spPr>
              <a:xfrm>
                <a:off x="729500" y="2856400"/>
                <a:ext cx="1332600" cy="411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800">
                    <a:latin typeface="Montserrat"/>
                    <a:ea typeface="Montserrat"/>
                    <a:cs typeface="Montserrat"/>
                    <a:sym typeface="Montserrat"/>
                  </a:rPr>
                  <a:t>ret_addr</a:t>
                </a:r>
                <a:endParaRPr sz="1800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11" name="Google Shape;211;g3d0871290ea_0_10"/>
              <p:cNvSpPr/>
              <p:nvPr/>
            </p:nvSpPr>
            <p:spPr>
              <a:xfrm>
                <a:off x="729500" y="3268000"/>
                <a:ext cx="1332600" cy="411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800">
                    <a:latin typeface="Montserrat"/>
                    <a:ea typeface="Montserrat"/>
                    <a:cs typeface="Montserrat"/>
                    <a:sym typeface="Montserrat"/>
                  </a:rPr>
                  <a:t>64</a:t>
                </a:r>
                <a:endParaRPr sz="1800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212" name="Google Shape;212;g3d0871290ea_0_10"/>
            <p:cNvSpPr txBox="1"/>
            <p:nvPr/>
          </p:nvSpPr>
          <p:spPr>
            <a:xfrm>
              <a:off x="122875" y="3223200"/>
              <a:ext cx="11700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latin typeface="Montserrat"/>
                  <a:ea typeface="Montserrat"/>
                  <a:cs typeface="Montserrat"/>
                  <a:sym typeface="Montserrat"/>
                </a:rPr>
                <a:t>0x0</a:t>
              </a:r>
              <a:endParaRPr sz="18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3" name="Google Shape;213;g3d0871290ea_0_10"/>
            <p:cNvSpPr txBox="1"/>
            <p:nvPr/>
          </p:nvSpPr>
          <p:spPr>
            <a:xfrm>
              <a:off x="122875" y="2789250"/>
              <a:ext cx="11700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latin typeface="Montserrat"/>
                  <a:ea typeface="Montserrat"/>
                  <a:cs typeface="Montserrat"/>
                  <a:sym typeface="Montserrat"/>
                </a:rPr>
                <a:t>0x8</a:t>
              </a:r>
              <a:endParaRPr sz="18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4" name="Google Shape;214;g3d0871290ea_0_10"/>
            <p:cNvSpPr txBox="1"/>
            <p:nvPr/>
          </p:nvSpPr>
          <p:spPr>
            <a:xfrm>
              <a:off x="122875" y="2377650"/>
              <a:ext cx="11700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latin typeface="Montserrat"/>
                  <a:ea typeface="Montserrat"/>
                  <a:cs typeface="Montserrat"/>
                  <a:sym typeface="Montserrat"/>
                </a:rPr>
                <a:t>0x10</a:t>
              </a:r>
              <a:endParaRPr sz="18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5" name="Google Shape;215;g3d0871290ea_0_10"/>
            <p:cNvSpPr txBox="1"/>
            <p:nvPr/>
          </p:nvSpPr>
          <p:spPr>
            <a:xfrm>
              <a:off x="122875" y="1966050"/>
              <a:ext cx="11700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latin typeface="Montserrat"/>
                  <a:ea typeface="Montserrat"/>
                  <a:cs typeface="Montserrat"/>
                  <a:sym typeface="Montserrat"/>
                </a:rPr>
                <a:t>0x30</a:t>
              </a:r>
              <a:endParaRPr sz="18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16" name="Google Shape;216;g3d0871290ea_0_10"/>
          <p:cNvSpPr txBox="1"/>
          <p:nvPr/>
        </p:nvSpPr>
        <p:spPr>
          <a:xfrm>
            <a:off x="559575" y="4113350"/>
            <a:ext cx="2199300" cy="17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latin typeface="Montserrat"/>
                <a:ea typeface="Montserrat"/>
                <a:cs typeface="Montserrat"/>
                <a:sym typeface="Montserrat"/>
              </a:rPr>
              <a:t>Можно перезаписать ret_addr, если нет защиты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06c7ffefa_0_149"/>
          <p:cNvSpPr txBox="1"/>
          <p:nvPr>
            <p:ph idx="1" type="body"/>
          </p:nvPr>
        </p:nvSpPr>
        <p:spPr>
          <a:xfrm>
            <a:off x="560200" y="3105825"/>
            <a:ext cx="465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None/>
            </a:pPr>
            <a:r>
              <a:rPr lang="ru-RU"/>
              <a:t>Решение задач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0871290ea_0_33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Митигации</a:t>
            </a:r>
            <a:endParaRPr/>
          </a:p>
        </p:txBody>
      </p:sp>
      <p:sp>
        <p:nvSpPr>
          <p:cNvPr id="227" name="Google Shape;227;g3d0871290ea_0_33"/>
          <p:cNvSpPr txBox="1"/>
          <p:nvPr>
            <p:ph idx="2" type="body"/>
          </p:nvPr>
        </p:nvSpPr>
        <p:spPr>
          <a:xfrm>
            <a:off x="559588" y="1370650"/>
            <a:ext cx="110817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ASLR </a:t>
            </a:r>
            <a:r>
              <a:rPr lang="ru-RU" sz="2000"/>
              <a:t>(рандомизация базового адреса ELF библиотек)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vmmap</a:t>
            </a:r>
            <a:endParaRPr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aslr on</a:t>
            </a:r>
            <a:endParaRPr i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PIE </a:t>
            </a:r>
            <a:r>
              <a:rPr lang="ru-RU" sz="2000"/>
              <a:t>(рандомизация базового адреса самого исполняемого файла)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Full RELRO</a:t>
            </a:r>
            <a:r>
              <a:rPr lang="ru-RU" sz="2000"/>
              <a:t> (read-only GOT)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Stack Canary</a:t>
            </a:r>
            <a:r>
              <a:rPr lang="ru-RU" sz="2000"/>
              <a:t> (секретное значение на стеке, которое мешает захватывать RIP)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0689a4217_0_10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Полезные материалы</a:t>
            </a:r>
            <a:endParaRPr/>
          </a:p>
        </p:txBody>
      </p:sp>
      <p:sp>
        <p:nvSpPr>
          <p:cNvPr id="233" name="Google Shape;233;g3d0689a4217_0_10"/>
          <p:cNvSpPr txBox="1"/>
          <p:nvPr>
            <p:ph idx="2" type="body"/>
          </p:nvPr>
        </p:nvSpPr>
        <p:spPr>
          <a:xfrm>
            <a:off x="555150" y="1500650"/>
            <a:ext cx="110817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AutoNum type="arabicPeriod"/>
            </a:pPr>
            <a:r>
              <a:rPr lang="ru-RU" sz="2000" u="sng">
                <a:solidFill>
                  <a:schemeClr val="hlink"/>
                </a:solidFill>
                <a:hlinkClick r:id="rId3"/>
              </a:rPr>
              <a:t>pwn.spbctf.ru/tasks</a:t>
            </a:r>
            <a:endParaRPr sz="2000" u="sng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ru-RU" sz="2000" u="sng">
                <a:solidFill>
                  <a:schemeClr val="hlink"/>
                </a:solidFill>
                <a:hlinkClick r:id="rId4"/>
              </a:rPr>
              <a:t>pwn.college</a:t>
            </a:r>
            <a:endParaRPr sz="2000" u="sng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ru-RU" sz="2000" u="sng">
                <a:solidFill>
                  <a:schemeClr val="hlink"/>
                </a:solidFill>
                <a:hlinkClick r:id="rId5"/>
              </a:rPr>
              <a:t>play.picoctf.org</a:t>
            </a:r>
            <a:endParaRPr sz="2000" u="sng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ru-RU" sz="2000" u="sng">
                <a:solidFill>
                  <a:schemeClr val="hlink"/>
                </a:solidFill>
                <a:hlinkClick r:id="rId6"/>
              </a:rPr>
              <a:t>Руководство по ассемблеру NASM</a:t>
            </a:r>
            <a:endParaRPr sz="2000" u="sng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25a4a1d6b_0_0"/>
          <p:cNvSpPr txBox="1"/>
          <p:nvPr>
            <p:ph idx="1" type="body"/>
          </p:nvPr>
        </p:nvSpPr>
        <p:spPr>
          <a:xfrm>
            <a:off x="560200" y="3105825"/>
            <a:ext cx="3884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None/>
            </a:pPr>
            <a:r>
              <a:rPr lang="ru-RU"/>
              <a:t>Спасибо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None/>
            </a:pPr>
            <a:r>
              <a:rPr lang="ru-RU"/>
              <a:t>за внимание!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2020-05-28T16:18:16Z</dcterms:created>
  <dc:creator>Влад Замахаев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