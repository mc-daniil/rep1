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hFKxK9M+hyZ4Je1mdwxdKkwcBB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  <p:guide pos="17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257ea22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6257ea22e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2e9a1d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e32e9a1da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32e9a1da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e32e9a1daf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32e9a1da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e32e9a1daf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32e9a1d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e32e9a1daf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2e9a1d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e32e9a1daf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32e9a1da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e32e9a1daf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32e9a1da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e32e9a1daf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2e9a1da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e32e9a1daf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2e9a1da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e32e9a1daf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32e9a1da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e32e9a1daf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32e9a1da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e32e9a1daf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32e9a1da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e32e9a1daf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32e9a1da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e32e9a1daf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32e9a1da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e32e9a1daf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32e9a1da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e32e9a1daf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06c7ffef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d06c7ffefa_0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6c7ffef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d06c7ffefa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6c7ffef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d06c7ffefa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6c7ffef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d06c7ffefa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06c7ffef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d06c7ffefa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0871290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d0871290e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0871290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d0871290e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06c7ffef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d06c7ffefa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32e9a1da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e32e9a1daf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0871290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d0871290e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0689a42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d0689a421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25a4a1d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625a4a1d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94" y="558606"/>
            <a:ext cx="2484000" cy="16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1"/>
          <p:cNvSpPr txBox="1"/>
          <p:nvPr>
            <p:ph idx="1" type="body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2" type="body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3" type="body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белая)">
  <p:cSld name="Шапка с логотипом без коня (белая)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4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4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/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5138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ительный слайд">
  <p:cSld name="Заключительный слайд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атомом">
  <p:cSld name="Шапка с атомом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55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 rotWithShape="1">
          <a:blip r:embed="rId3">
            <a:alphaModFix/>
          </a:blip>
          <a:srcRect b="46857" l="0" r="0" t="23654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2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Титульный слайд 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3" type="body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8" name="Google Shape;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69250"/>
            <a:ext cx="5886994" cy="40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синяя)">
  <p:cSld name="Шапка с логотипом без коня (синяя)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2762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3"/>
          <p:cNvPicPr preferRelativeResize="0"/>
          <p:nvPr/>
        </p:nvPicPr>
        <p:blipFill rotWithShape="1">
          <a:blip r:embed="rId3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3"/>
          <p:cNvPicPr preferRelativeResize="0"/>
          <p:nvPr/>
        </p:nvPicPr>
        <p:blipFill rotWithShape="1">
          <a:blip r:embed="rId3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3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 txBox="1"/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3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белая)">
  <p:cSld name="Шапка с логотипом коня (белая)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5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5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2A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E46C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6" name="Google Shape;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35287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серая)">
  <p:cSld name="Шапка с логотипом коня (серая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44001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pwn.spbctf.ru/tasks" TargetMode="External"/><Relationship Id="rId4" Type="http://schemas.openxmlformats.org/officeDocument/2006/relationships/hyperlink" Target="https://pwn.college/" TargetMode="External"/><Relationship Id="rId5" Type="http://schemas.openxmlformats.org/officeDocument/2006/relationships/hyperlink" Target="http://play.picoctf.org" TargetMode="External"/><Relationship Id="rId6" Type="http://schemas.openxmlformats.org/officeDocument/2006/relationships/hyperlink" Target="https://pwndbg.re/stable/commands/" TargetMode="External"/><Relationship Id="rId7" Type="http://schemas.openxmlformats.org/officeDocument/2006/relationships/hyperlink" Target="https://corgi.rip/posts/pwntools-cheatsheet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idx="2" type="body"/>
          </p:nvPr>
        </p:nvSpPr>
        <p:spPr>
          <a:xfrm>
            <a:off x="560200" y="2567225"/>
            <a:ext cx="71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r>
              <a:rPr lang="ru-RU"/>
              <a:t>Модуль “Бинарные уязвимости”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"/>
          <p:cNvSpPr txBox="1"/>
          <p:nvPr>
            <p:ph idx="3" type="body"/>
          </p:nvPr>
        </p:nvSpPr>
        <p:spPr>
          <a:xfrm>
            <a:off x="560198" y="3198175"/>
            <a:ext cx="7069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Урок 3. Введение в бинарные уязвимости. Переполнение стека. Simple ROP.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57ea22eb_0_0"/>
          <p:cNvSpPr txBox="1"/>
          <p:nvPr>
            <p:ph type="title"/>
          </p:nvPr>
        </p:nvSpPr>
        <p:spPr>
          <a:xfrm>
            <a:off x="559572" y="359101"/>
            <a:ext cx="919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</a:pPr>
            <a:r>
              <a:rPr lang="ru-RU"/>
              <a:t>План занятия</a:t>
            </a:r>
            <a:endParaRPr/>
          </a:p>
        </p:txBody>
      </p:sp>
      <p:sp>
        <p:nvSpPr>
          <p:cNvPr id="79" name="Google Shape;79;g36257ea22eb_0_0"/>
          <p:cNvSpPr txBox="1"/>
          <p:nvPr>
            <p:ph idx="1" type="body"/>
          </p:nvPr>
        </p:nvSpPr>
        <p:spPr>
          <a:xfrm>
            <a:off x="559574" y="1729300"/>
            <a:ext cx="7033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Язык ассемблера. Переполнение стека</a:t>
            </a:r>
            <a:endParaRPr sz="2200"/>
          </a:p>
        </p:txBody>
      </p:sp>
      <p:sp>
        <p:nvSpPr>
          <p:cNvPr id="80" name="Google Shape;80;g36257ea22eb_0_0"/>
          <p:cNvSpPr txBox="1"/>
          <p:nvPr>
            <p:ph idx="2" type="body"/>
          </p:nvPr>
        </p:nvSpPr>
        <p:spPr>
          <a:xfrm>
            <a:off x="559592" y="2481520"/>
            <a:ext cx="11081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Введение в бинарные уязвимости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Типичные кейсы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Стек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Переполнение стека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Simple ROP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32e9a1daf_0_0"/>
          <p:cNvSpPr txBox="1"/>
          <p:nvPr>
            <p:ph idx="1" type="body"/>
          </p:nvPr>
        </p:nvSpPr>
        <p:spPr>
          <a:xfrm>
            <a:off x="560200" y="3105825"/>
            <a:ext cx="638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pwntools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2e9a1daf_0_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Установка библиотеки</a:t>
            </a:r>
            <a:endParaRPr/>
          </a:p>
        </p:txBody>
      </p:sp>
      <p:sp>
        <p:nvSpPr>
          <p:cNvPr id="91" name="Google Shape;91;g3e32e9a1daf_0_4"/>
          <p:cNvSpPr txBox="1"/>
          <p:nvPr>
            <p:ph idx="2" type="body"/>
          </p:nvPr>
        </p:nvSpPr>
        <p:spPr>
          <a:xfrm>
            <a:off x="559574" y="1771050"/>
            <a:ext cx="7132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pwntools</a:t>
            </a:r>
            <a:r>
              <a:rPr lang="ru-RU" sz="2000"/>
              <a:t> - библиотека для автоматизации pwn-задач и работы с бинарными файлами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pip install pwntools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from pwn import *</a:t>
            </a:r>
            <a:endParaRPr i="1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2e9a1daf_0_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Запуск и подключение</a:t>
            </a:r>
            <a:endParaRPr/>
          </a:p>
        </p:txBody>
      </p:sp>
      <p:sp>
        <p:nvSpPr>
          <p:cNvPr id="97" name="Google Shape;97;g3e32e9a1daf_0_9"/>
          <p:cNvSpPr txBox="1"/>
          <p:nvPr>
            <p:ph idx="2" type="body"/>
          </p:nvPr>
        </p:nvSpPr>
        <p:spPr>
          <a:xfrm>
            <a:off x="559574" y="1771050"/>
            <a:ext cx="7132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 = process('./binary') - локальный процесс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 = remote('192.168.52.52', 1337) </a:t>
            </a:r>
            <a:r>
              <a:rPr lang="ru-RU" sz="2000"/>
              <a:t>- удалённый процесс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 = remote('ctf.example.com', 5000)</a:t>
            </a:r>
            <a:endParaRPr b="1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2e9a1daf_0_1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Отправка данных</a:t>
            </a:r>
            <a:endParaRPr/>
          </a:p>
        </p:txBody>
      </p:sp>
      <p:sp>
        <p:nvSpPr>
          <p:cNvPr id="103" name="Google Shape;103;g3e32e9a1daf_0_14"/>
          <p:cNvSpPr txBox="1"/>
          <p:nvPr>
            <p:ph idx="2" type="body"/>
          </p:nvPr>
        </p:nvSpPr>
        <p:spPr>
          <a:xfrm>
            <a:off x="559575" y="1771050"/>
            <a:ext cx="8727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p.send(data) </a:t>
            </a:r>
            <a:r>
              <a:rPr lang="ru-RU" sz="2000"/>
              <a:t>- отправить байты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p.sendline(data) </a:t>
            </a:r>
            <a:r>
              <a:rPr lang="ru-RU" sz="2000"/>
              <a:t>- отправить + \n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p.sendafter(s, data) </a:t>
            </a:r>
            <a:r>
              <a:rPr lang="ru-RU" sz="2000"/>
              <a:t>- подождать строку s, затем отправить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p.sendlineafter(s, data)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Примеры: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p.sendline(b"test")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p.sendlineafter(b"Input:", payload)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p.send(b"A" * 16)</a:t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2e9a1daf_0_1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Чтение данных</a:t>
            </a:r>
            <a:endParaRPr/>
          </a:p>
        </p:txBody>
      </p:sp>
      <p:sp>
        <p:nvSpPr>
          <p:cNvPr id="109" name="Google Shape;109;g3e32e9a1daf_0_19"/>
          <p:cNvSpPr txBox="1"/>
          <p:nvPr>
            <p:ph idx="2" type="body"/>
          </p:nvPr>
        </p:nvSpPr>
        <p:spPr>
          <a:xfrm>
            <a:off x="559575" y="1771050"/>
            <a:ext cx="8727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p.recv(n) </a:t>
            </a:r>
            <a:r>
              <a:rPr lang="ru-RU" sz="2000"/>
              <a:t>- прочитать n байт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p.recvline() </a:t>
            </a:r>
            <a:r>
              <a:rPr lang="ru-RU" sz="2000"/>
              <a:t>- прочитать строку до \n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p.recvuntil(s) </a:t>
            </a:r>
            <a:r>
              <a:rPr lang="ru-RU" sz="2000"/>
              <a:t>- читать до строки 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p.recvall() </a:t>
            </a:r>
            <a:r>
              <a:rPr lang="ru-RU" sz="2000"/>
              <a:t>- прочитать всё до EOF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p.interactive() </a:t>
            </a:r>
            <a:r>
              <a:rPr lang="ru-RU" sz="2000"/>
              <a:t>- передать управление пользователю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Примеры: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data = p.recvline()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p.interactive()</a:t>
            </a:r>
            <a:endParaRPr i="1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32e9a1daf_0_2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Упаковка данных</a:t>
            </a:r>
            <a:endParaRPr/>
          </a:p>
        </p:txBody>
      </p:sp>
      <p:sp>
        <p:nvSpPr>
          <p:cNvPr id="115" name="Google Shape;115;g3e32e9a1daf_0_24"/>
          <p:cNvSpPr txBox="1"/>
          <p:nvPr>
            <p:ph idx="2" type="body"/>
          </p:nvPr>
        </p:nvSpPr>
        <p:spPr>
          <a:xfrm>
            <a:off x="559575" y="1771050"/>
            <a:ext cx="87273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p32(addr) </a:t>
            </a:r>
            <a:r>
              <a:rPr lang="ru-RU" sz="2000"/>
              <a:t>- адрес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p32(addr, endian='big')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p64(addr) </a:t>
            </a:r>
            <a:r>
              <a:rPr lang="ru-RU" sz="2000"/>
              <a:t>- little-endian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p64(addr, endian='big') </a:t>
            </a:r>
            <a:r>
              <a:rPr lang="ru-RU" sz="2000"/>
              <a:t>- big-endian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u32(data)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u32(data, endian=’big’)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u64(data) - байты в число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u64(data, endian=’big’)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2e9a1daf_0_2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Работа с ELF</a:t>
            </a:r>
            <a:endParaRPr/>
          </a:p>
        </p:txBody>
      </p:sp>
      <p:sp>
        <p:nvSpPr>
          <p:cNvPr id="121" name="Google Shape;121;g3e32e9a1daf_0_29"/>
          <p:cNvSpPr txBox="1"/>
          <p:nvPr>
            <p:ph idx="2" type="body"/>
          </p:nvPr>
        </p:nvSpPr>
        <p:spPr>
          <a:xfrm>
            <a:off x="559575" y="1771050"/>
            <a:ext cx="8727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elf = ELF('./binary') </a:t>
            </a:r>
            <a:r>
              <a:rPr lang="ru-RU" sz="2000"/>
              <a:t>- загрузка бинаря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elf.symbols['main']</a:t>
            </a:r>
            <a:r>
              <a:rPr lang="ru-RU" sz="2000"/>
              <a:t> - адрес функции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elf.got['puts']</a:t>
            </a:r>
            <a:r>
              <a:rPr lang="ru-RU" sz="2000"/>
              <a:t> - адрес GOT-записи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elf.plt['puts'] </a:t>
            </a:r>
            <a:r>
              <a:rPr lang="ru-RU" sz="2000"/>
              <a:t>- адрес PLT-записи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elf.address </a:t>
            </a:r>
            <a:r>
              <a:rPr lang="ru-RU" sz="2000"/>
              <a:t>- базовый адрес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2e9a1daf_0_34"/>
          <p:cNvSpPr txBox="1"/>
          <p:nvPr>
            <p:ph idx="1" type="body"/>
          </p:nvPr>
        </p:nvSpPr>
        <p:spPr>
          <a:xfrm>
            <a:off x="560200" y="3105825"/>
            <a:ext cx="6389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Введение в бинарные уязвимости (PWN)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2e9a1daf_0_38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Что такое PWN?</a:t>
            </a:r>
            <a:endParaRPr/>
          </a:p>
        </p:txBody>
      </p:sp>
      <p:sp>
        <p:nvSpPr>
          <p:cNvPr id="132" name="Google Shape;132;g3e32e9a1daf_0_38"/>
          <p:cNvSpPr txBox="1"/>
          <p:nvPr>
            <p:ph idx="2" type="body"/>
          </p:nvPr>
        </p:nvSpPr>
        <p:spPr>
          <a:xfrm>
            <a:off x="559575" y="1771050"/>
            <a:ext cx="640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ru-RU" sz="2000"/>
              <a:t>Эксплуатация уязвимостей в скомпилированных программах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Цели обычно: </a:t>
            </a:r>
            <a:r>
              <a:rPr lang="ru-RU" sz="2000"/>
              <a:t>выполнить произвольный код, получить shell, повысить привилегии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Основа</a:t>
            </a:r>
            <a:r>
              <a:rPr lang="ru-RU" sz="2000"/>
              <a:t> - небезопасная работа с памятью, undefined behaviour</a:t>
            </a:r>
            <a:endParaRPr sz="2000"/>
          </a:p>
        </p:txBody>
      </p:sp>
      <p:pic>
        <p:nvPicPr>
          <p:cNvPr id="133" name="Google Shape;133;g3e32e9a1daf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0298" y="2494575"/>
            <a:ext cx="4564875" cy="25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32e9a1daf_0_4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Язык С</a:t>
            </a:r>
            <a:endParaRPr/>
          </a:p>
        </p:txBody>
      </p:sp>
      <p:sp>
        <p:nvSpPr>
          <p:cNvPr id="139" name="Google Shape;139;g3e32e9a1daf_0_44"/>
          <p:cNvSpPr txBox="1"/>
          <p:nvPr>
            <p:ph idx="2" type="body"/>
          </p:nvPr>
        </p:nvSpPr>
        <p:spPr>
          <a:xfrm>
            <a:off x="559575" y="1771050"/>
            <a:ext cx="640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Компилируемый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Предоставляет полный контроль над системой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Вся ответственность на разработчике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Все данные - байты в памяти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Доступ к данным по указателям (адресам)</a:t>
            </a:r>
            <a:endParaRPr sz="2000"/>
          </a:p>
        </p:txBody>
      </p:sp>
      <p:pic>
        <p:nvPicPr>
          <p:cNvPr id="140" name="Google Shape;140;g3e32e9a1daf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9275" y="1972326"/>
            <a:ext cx="34290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2e9a1daf_0_5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Адресное пространство</a:t>
            </a:r>
            <a:endParaRPr/>
          </a:p>
        </p:txBody>
      </p:sp>
      <p:sp>
        <p:nvSpPr>
          <p:cNvPr id="146" name="Google Shape;146;g3e32e9a1daf_0_50"/>
          <p:cNvSpPr txBox="1"/>
          <p:nvPr>
            <p:ph idx="2" type="body"/>
          </p:nvPr>
        </p:nvSpPr>
        <p:spPr>
          <a:xfrm>
            <a:off x="550875" y="1351350"/>
            <a:ext cx="10584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Разные части программы находятся в разных частях памяти: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code (.text)</a:t>
            </a:r>
            <a:r>
              <a:rPr lang="ru-RU" sz="2000"/>
              <a:t> - инструкции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data (.data, .bss)</a:t>
            </a:r>
            <a:r>
              <a:rPr lang="ru-RU" sz="2000"/>
              <a:t> - глобальные переменные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stack</a:t>
            </a:r>
            <a:r>
              <a:rPr lang="ru-RU" sz="2000"/>
              <a:t> - локальные переменные, адреса возврата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heap</a:t>
            </a:r>
            <a:r>
              <a:rPr lang="ru-RU" sz="2000"/>
              <a:t> - динамическая память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lib</a:t>
            </a:r>
            <a:r>
              <a:rPr lang="ru-RU" sz="2000"/>
              <a:t> - библиотеки (libc…)</a:t>
            </a:r>
            <a:endParaRPr sz="2000"/>
          </a:p>
        </p:txBody>
      </p:sp>
      <p:pic>
        <p:nvPicPr>
          <p:cNvPr id="147" name="Google Shape;147;g3e32e9a1daf_0_50"/>
          <p:cNvPicPr preferRelativeResize="0"/>
          <p:nvPr/>
        </p:nvPicPr>
        <p:blipFill rotWithShape="1">
          <a:blip r:embed="rId3">
            <a:alphaModFix/>
          </a:blip>
          <a:srcRect b="13801" l="0" r="0" t="0"/>
          <a:stretch/>
        </p:blipFill>
        <p:spPr>
          <a:xfrm>
            <a:off x="1863780" y="3290850"/>
            <a:ext cx="8464434" cy="33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32e9a1daf_0_5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Си - не memory-safe</a:t>
            </a:r>
            <a:endParaRPr/>
          </a:p>
        </p:txBody>
      </p:sp>
      <p:sp>
        <p:nvSpPr>
          <p:cNvPr id="153" name="Google Shape;153;g3e32e9a1daf_0_56"/>
          <p:cNvSpPr txBox="1"/>
          <p:nvPr>
            <p:ph idx="2" type="body"/>
          </p:nvPr>
        </p:nvSpPr>
        <p:spPr>
          <a:xfrm>
            <a:off x="550875" y="1351350"/>
            <a:ext cx="10584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Ввод без контроля длины: </a:t>
            </a:r>
            <a:r>
              <a:rPr b="1" lang="ru-RU" sz="2000"/>
              <a:t>gets(), scanf(“%s”)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Копирование строк: </a:t>
            </a:r>
            <a:r>
              <a:rPr b="1" lang="ru-RU" sz="2000"/>
              <a:t>strcpy(), strcat()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Форматный вывод: </a:t>
            </a:r>
            <a:r>
              <a:rPr b="1" lang="ru-RU" sz="2000"/>
              <a:t>printf(buf)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Функции доверяют программисту и контролируют границы, длину и тд.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Ошибка превращается в memory corruption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Типичные кейсы: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Переписывание строки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Переписывание указателя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Переполнение int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32e9a1daf_0_6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Переписывание строки</a:t>
            </a:r>
            <a:endParaRPr/>
          </a:p>
        </p:txBody>
      </p:sp>
      <p:pic>
        <p:nvPicPr>
          <p:cNvPr id="159" name="Google Shape;159;g3e32e9a1daf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488" y="1232875"/>
            <a:ext cx="6307876" cy="562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32e9a1daf_0_6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Переписывание указателя</a:t>
            </a:r>
            <a:endParaRPr/>
          </a:p>
        </p:txBody>
      </p:sp>
      <p:pic>
        <p:nvPicPr>
          <p:cNvPr id="165" name="Google Shape;165;g3e32e9a1daf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4513" y="1231475"/>
            <a:ext cx="4631825" cy="56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32e9a1daf_0_7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Переполнение int</a:t>
            </a:r>
            <a:endParaRPr/>
          </a:p>
        </p:txBody>
      </p:sp>
      <p:pic>
        <p:nvPicPr>
          <p:cNvPr id="171" name="Google Shape;171;g3e32e9a1daf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4412" y="1231475"/>
            <a:ext cx="4852026" cy="56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6c7ffefa_0_143"/>
          <p:cNvSpPr txBox="1"/>
          <p:nvPr>
            <p:ph idx="1" type="body"/>
          </p:nvPr>
        </p:nvSpPr>
        <p:spPr>
          <a:xfrm>
            <a:off x="560200" y="3105825"/>
            <a:ext cx="465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Стек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6c7ffefa_0_15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Стек</a:t>
            </a:r>
            <a:endParaRPr/>
          </a:p>
        </p:txBody>
      </p:sp>
      <p:pic>
        <p:nvPicPr>
          <p:cNvPr id="182" name="Google Shape;182;g3d06c7ffefa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9" y="1251393"/>
            <a:ext cx="12192000" cy="5585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06c7ffefa_0_16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Стек</a:t>
            </a:r>
            <a:endParaRPr/>
          </a:p>
        </p:txBody>
      </p:sp>
      <p:sp>
        <p:nvSpPr>
          <p:cNvPr id="188" name="Google Shape;188;g3d06c7ffefa_0_160"/>
          <p:cNvSpPr txBox="1"/>
          <p:nvPr>
            <p:ph idx="2" type="body"/>
          </p:nvPr>
        </p:nvSpPr>
        <p:spPr>
          <a:xfrm>
            <a:off x="559588" y="1370650"/>
            <a:ext cx="1108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Стек </a:t>
            </a:r>
            <a:r>
              <a:rPr lang="ru-RU" sz="2000"/>
              <a:t>- область памяти для локальных данных функции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Растёт от старших адресов к младшим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RSP - указатель на вершину стека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RBP - указатель на базу текущего фрейма</a:t>
            </a:r>
            <a:endParaRPr sz="2000"/>
          </a:p>
        </p:txBody>
      </p:sp>
      <p:pic>
        <p:nvPicPr>
          <p:cNvPr id="189" name="Google Shape;189;g3d06c7ffefa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138" y="2879600"/>
            <a:ext cx="5948575" cy="397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06c7ffefa_0_16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Инструкции для работы со стеком</a:t>
            </a:r>
            <a:endParaRPr/>
          </a:p>
        </p:txBody>
      </p:sp>
      <p:sp>
        <p:nvSpPr>
          <p:cNvPr id="195" name="Google Shape;195;g3d06c7ffefa_0_167"/>
          <p:cNvSpPr txBox="1"/>
          <p:nvPr>
            <p:ph idx="2" type="body"/>
          </p:nvPr>
        </p:nvSpPr>
        <p:spPr>
          <a:xfrm>
            <a:off x="559588" y="1370650"/>
            <a:ext cx="1108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push rax</a:t>
            </a:r>
            <a:r>
              <a:rPr lang="ru-RU" sz="2000"/>
              <a:t> → RSP -= 8; [RSP] = RAX</a:t>
            </a:r>
            <a:r>
              <a:rPr b="1" lang="ru-RU" sz="2000"/>
              <a:t>​​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pop rax</a:t>
            </a:r>
            <a:r>
              <a:rPr lang="ru-RU" sz="2000"/>
              <a:t> → RAX = [RSP]; RSP += 8​​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call func</a:t>
            </a:r>
            <a:r>
              <a:rPr lang="ru-RU" sz="2000"/>
              <a:t> → push RIP; jmp func (сохраняет адрес возврата)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ru-RU" sz="2000"/>
              <a:t>ret </a:t>
            </a:r>
            <a:r>
              <a:rPr lang="ru-RU" sz="2000"/>
              <a:t>→ pop RIP (возвращает управление)</a:t>
            </a:r>
            <a:endParaRPr sz="2000"/>
          </a:p>
        </p:txBody>
      </p:sp>
      <p:pic>
        <p:nvPicPr>
          <p:cNvPr id="196" name="Google Shape;196;g3d06c7ffefa_0_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138" y="2879600"/>
            <a:ext cx="5948575" cy="397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6c7ffefa_0_17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Calling conventions</a:t>
            </a:r>
            <a:endParaRPr/>
          </a:p>
        </p:txBody>
      </p:sp>
      <p:sp>
        <p:nvSpPr>
          <p:cNvPr id="202" name="Google Shape;202;g3d06c7ffefa_0_176"/>
          <p:cNvSpPr txBox="1"/>
          <p:nvPr>
            <p:ph idx="2" type="body"/>
          </p:nvPr>
        </p:nvSpPr>
        <p:spPr>
          <a:xfrm>
            <a:off x="559588" y="1370650"/>
            <a:ext cx="11081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Первые 6 аргументов целого типа: </a:t>
            </a:r>
            <a:r>
              <a:rPr b="1" lang="ru-RU" sz="2000"/>
              <a:t>RDI, RSI, RDX, RCX, R8, R9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Аргументы 7+ передаются через стек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Возврат значения: </a:t>
            </a:r>
            <a:r>
              <a:rPr b="1" lang="ru-RU" sz="2000"/>
              <a:t>RAX 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Caller-saved: </a:t>
            </a:r>
            <a:r>
              <a:rPr b="1" lang="ru-RU" sz="2000"/>
              <a:t>RAX, RCX, RDX, RSI, RDI, R8–R11</a:t>
            </a:r>
            <a:r>
              <a:rPr lang="ru-RU" sz="2000"/>
              <a:t> (функция может менять)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/>
              <a:t>Callee-saved: </a:t>
            </a:r>
            <a:r>
              <a:rPr b="1" lang="ru-RU" sz="2000"/>
              <a:t>RBX, RBP, R12–R15</a:t>
            </a:r>
            <a:r>
              <a:rPr lang="ru-RU" sz="2000"/>
              <a:t> (функция должна сохранить, если использует)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0871290ea_0_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Пролог и эпилог</a:t>
            </a:r>
            <a:endParaRPr/>
          </a:p>
        </p:txBody>
      </p:sp>
      <p:pic>
        <p:nvPicPr>
          <p:cNvPr id="208" name="Google Shape;208;g3d0871290e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77250"/>
            <a:ext cx="12192000" cy="229820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d0871290ea_0_0"/>
          <p:cNvSpPr txBox="1"/>
          <p:nvPr>
            <p:ph idx="2" type="body"/>
          </p:nvPr>
        </p:nvSpPr>
        <p:spPr>
          <a:xfrm>
            <a:off x="559600" y="1370650"/>
            <a:ext cx="11081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>
                <a:solidFill>
                  <a:srgbClr val="000000"/>
                </a:solidFill>
              </a:rPr>
              <a:t>push rbp </a:t>
            </a:r>
            <a:r>
              <a:rPr lang="ru-RU" sz="2000">
                <a:solidFill>
                  <a:srgbClr val="000000"/>
                </a:solidFill>
              </a:rPr>
              <a:t>         ; сохранить старый RBP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>
                <a:solidFill>
                  <a:srgbClr val="000000"/>
                </a:solidFill>
              </a:rPr>
              <a:t>mov rbp, rsp</a:t>
            </a:r>
            <a:r>
              <a:rPr lang="ru-RU" sz="2000">
                <a:solidFill>
                  <a:srgbClr val="000000"/>
                </a:solidFill>
              </a:rPr>
              <a:t>      ; новый RBP = текущий RSP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>
                <a:solidFill>
                  <a:srgbClr val="000000"/>
                </a:solidFill>
              </a:rPr>
              <a:t>sub rsp, 32</a:t>
            </a:r>
            <a:r>
              <a:rPr lang="ru-RU" sz="2000">
                <a:solidFill>
                  <a:srgbClr val="000000"/>
                </a:solidFill>
              </a:rPr>
              <a:t>       ; выделить 32 байта под локальные переменные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>
                <a:solidFill>
                  <a:srgbClr val="000000"/>
                </a:solidFill>
              </a:rPr>
              <a:t>mov rsp, rbp</a:t>
            </a:r>
            <a:r>
              <a:rPr lang="ru-RU" sz="2000">
                <a:solidFill>
                  <a:srgbClr val="000000"/>
                </a:solidFill>
              </a:rPr>
              <a:t>      ; освободить локальные переменные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>
                <a:solidFill>
                  <a:srgbClr val="000000"/>
                </a:solidFill>
              </a:rPr>
              <a:t>pop rbp </a:t>
            </a:r>
            <a:r>
              <a:rPr lang="ru-RU" sz="2000">
                <a:solidFill>
                  <a:srgbClr val="000000"/>
                </a:solidFill>
              </a:rPr>
              <a:t>          ; восстановить старый RBP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>
                <a:solidFill>
                  <a:srgbClr val="000000"/>
                </a:solidFill>
              </a:rPr>
              <a:t>ret</a:t>
            </a:r>
            <a:r>
              <a:rPr lang="ru-RU" sz="2000">
                <a:solidFill>
                  <a:srgbClr val="000000"/>
                </a:solidFill>
              </a:rPr>
              <a:t>               ; pop RIP и вернуться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871290ea_0_1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Состояние стека</a:t>
            </a:r>
            <a:endParaRPr/>
          </a:p>
        </p:txBody>
      </p:sp>
      <p:pic>
        <p:nvPicPr>
          <p:cNvPr id="215" name="Google Shape;215;g3d0871290e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325" y="1224375"/>
            <a:ext cx="9360675" cy="516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g3d0871290ea_0_10"/>
          <p:cNvGrpSpPr/>
          <p:nvPr/>
        </p:nvGrpSpPr>
        <p:grpSpPr>
          <a:xfrm>
            <a:off x="122875" y="1966050"/>
            <a:ext cx="2502600" cy="1668750"/>
            <a:chOff x="122875" y="1966050"/>
            <a:chExt cx="2502600" cy="1668750"/>
          </a:xfrm>
        </p:grpSpPr>
        <p:grpSp>
          <p:nvGrpSpPr>
            <p:cNvPr id="217" name="Google Shape;217;g3d0871290ea_0_10"/>
            <p:cNvGrpSpPr/>
            <p:nvPr/>
          </p:nvGrpSpPr>
          <p:grpSpPr>
            <a:xfrm>
              <a:off x="1292875" y="1966050"/>
              <a:ext cx="1332600" cy="1646400"/>
              <a:chOff x="729500" y="2033200"/>
              <a:chExt cx="1332600" cy="1646400"/>
            </a:xfrm>
          </p:grpSpPr>
          <p:sp>
            <p:nvSpPr>
              <p:cNvPr id="218" name="Google Shape;218;g3d0871290ea_0_10"/>
              <p:cNvSpPr/>
              <p:nvPr/>
            </p:nvSpPr>
            <p:spPr>
              <a:xfrm>
                <a:off x="729500" y="20332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ru-RU" sz="1800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buffer</a:t>
                </a:r>
                <a:endParaRPr b="0" i="0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9" name="Google Shape;219;g3d0871290ea_0_10"/>
              <p:cNvSpPr/>
              <p:nvPr/>
            </p:nvSpPr>
            <p:spPr>
              <a:xfrm>
                <a:off x="729500" y="24448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ru-RU" sz="1800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rbp</a:t>
                </a:r>
                <a:endParaRPr b="0" i="0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0" name="Google Shape;220;g3d0871290ea_0_10"/>
              <p:cNvSpPr/>
              <p:nvPr/>
            </p:nvSpPr>
            <p:spPr>
              <a:xfrm>
                <a:off x="729500" y="28564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ru-RU" sz="1800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ret_addr</a:t>
                </a:r>
                <a:endParaRPr b="0" i="0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g3d0871290ea_0_10"/>
              <p:cNvSpPr/>
              <p:nvPr/>
            </p:nvSpPr>
            <p:spPr>
              <a:xfrm>
                <a:off x="729500" y="3268000"/>
                <a:ext cx="1332600" cy="411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ru-RU" sz="1800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64</a:t>
                </a:r>
                <a:endParaRPr b="0" i="0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2" name="Google Shape;222;g3d0871290ea_0_10"/>
            <p:cNvSpPr txBox="1"/>
            <p:nvPr/>
          </p:nvSpPr>
          <p:spPr>
            <a:xfrm>
              <a:off x="122875" y="322320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0x0</a:t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g3d0871290ea_0_10"/>
            <p:cNvSpPr txBox="1"/>
            <p:nvPr/>
          </p:nvSpPr>
          <p:spPr>
            <a:xfrm>
              <a:off x="122875" y="278925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0x8</a:t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g3d0871290ea_0_10"/>
            <p:cNvSpPr txBox="1"/>
            <p:nvPr/>
          </p:nvSpPr>
          <p:spPr>
            <a:xfrm>
              <a:off x="122875" y="237765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0x10</a:t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g3d0871290ea_0_10"/>
            <p:cNvSpPr txBox="1"/>
            <p:nvPr/>
          </p:nvSpPr>
          <p:spPr>
            <a:xfrm>
              <a:off x="122875" y="1966050"/>
              <a:ext cx="1170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ru-RU" sz="1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0x30</a:t>
              </a:r>
              <a:endParaRPr b="0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6" name="Google Shape;226;g3d0871290ea_0_10"/>
          <p:cNvSpPr txBox="1"/>
          <p:nvPr/>
        </p:nvSpPr>
        <p:spPr>
          <a:xfrm>
            <a:off x="559575" y="4113350"/>
            <a:ext cx="21993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Можно перезаписать ret_addr, если нет защиты</a:t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06c7ffefa_0_149"/>
          <p:cNvSpPr txBox="1"/>
          <p:nvPr>
            <p:ph idx="1" type="body"/>
          </p:nvPr>
        </p:nvSpPr>
        <p:spPr>
          <a:xfrm>
            <a:off x="550875" y="2551650"/>
            <a:ext cx="4654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Что, если не будет функции win()?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32e9a1daf_0_13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Нет win()</a:t>
            </a:r>
            <a:endParaRPr/>
          </a:p>
        </p:txBody>
      </p:sp>
      <p:sp>
        <p:nvSpPr>
          <p:cNvPr id="237" name="Google Shape;237;g3e32e9a1daf_0_139"/>
          <p:cNvSpPr txBox="1"/>
          <p:nvPr>
            <p:ph idx="2" type="body"/>
          </p:nvPr>
        </p:nvSpPr>
        <p:spPr>
          <a:xfrm>
            <a:off x="559588" y="1370650"/>
            <a:ext cx="11081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Можно вызвать shell и прочитать файл с флагом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Вызвать можно с помощью функции system(“/bin/sh”)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Шаги: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Найти rop-гаджет </a:t>
            </a:r>
            <a:r>
              <a:rPr b="1" lang="ru-RU" sz="2000"/>
              <a:t>pop rdi; ret </a:t>
            </a:r>
            <a:r>
              <a:rPr lang="ru-RU" sz="2000"/>
              <a:t>(чтобы передать первым аргументом что-то)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Найти адрес строки </a:t>
            </a:r>
            <a:r>
              <a:rPr b="1" lang="ru-RU" sz="2000"/>
              <a:t>“/bin/sh” </a:t>
            </a:r>
            <a:r>
              <a:rPr lang="ru-RU" sz="2000"/>
              <a:t>в libc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/>
              <a:t>Выстроить цепочку: pop_rdi -&gt; строка -&gt; адрес </a:t>
            </a:r>
            <a:r>
              <a:rPr b="1" lang="ru-RU" sz="2000"/>
              <a:t>system()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В итоге вызовется system(“/bin/sh”) и можно будет выполнять любые команды не сервере</a:t>
            </a:r>
            <a:endParaRPr b="1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0871290ea_0_3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Митигации</a:t>
            </a:r>
            <a:endParaRPr/>
          </a:p>
        </p:txBody>
      </p:sp>
      <p:sp>
        <p:nvSpPr>
          <p:cNvPr id="243" name="Google Shape;243;g3d0871290ea_0_33"/>
          <p:cNvSpPr txBox="1"/>
          <p:nvPr>
            <p:ph idx="2" type="body"/>
          </p:nvPr>
        </p:nvSpPr>
        <p:spPr>
          <a:xfrm>
            <a:off x="559588" y="1370650"/>
            <a:ext cx="11081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ASLR </a:t>
            </a:r>
            <a:r>
              <a:rPr lang="ru-RU" sz="2000"/>
              <a:t>(рандомизация базового адреса ELF библиотек)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vmmap</a:t>
            </a:r>
            <a:endParaRPr i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/>
              <a:t>aslr on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PIE </a:t>
            </a:r>
            <a:r>
              <a:rPr lang="ru-RU" sz="2000"/>
              <a:t>(рандомизация базового адреса самого исполняемого файла)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Full RELRO</a:t>
            </a:r>
            <a:r>
              <a:rPr lang="ru-RU" sz="2000"/>
              <a:t> (read-only GOT)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ru-RU" sz="2000"/>
              <a:t>Stack Canary</a:t>
            </a:r>
            <a:r>
              <a:rPr lang="ru-RU" sz="2000"/>
              <a:t> (секретное значение на стеке, которое мешает захватывать RIP)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0689a4217_0_1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Полезные материалы</a:t>
            </a:r>
            <a:endParaRPr/>
          </a:p>
        </p:txBody>
      </p:sp>
      <p:sp>
        <p:nvSpPr>
          <p:cNvPr id="249" name="Google Shape;249;g3d0689a4217_0_10"/>
          <p:cNvSpPr txBox="1"/>
          <p:nvPr>
            <p:ph idx="2" type="body"/>
          </p:nvPr>
        </p:nvSpPr>
        <p:spPr>
          <a:xfrm>
            <a:off x="496700" y="1465650"/>
            <a:ext cx="11081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3"/>
              </a:rPr>
              <a:t>pwn.spbctf.ru/tasks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4"/>
              </a:rPr>
              <a:t>pwn.college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5"/>
              </a:rPr>
              <a:t>play.picoctf.org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https://pwndbg.re/stable/commands/</a:t>
            </a:r>
            <a:endParaRPr sz="2000" u="sng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ru-RU" sz="2000" u="sng">
                <a:solidFill>
                  <a:schemeClr val="accent2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Yet Another Pwntools Cheatsheet | 🐕.🪦</a:t>
            </a:r>
            <a:endParaRPr sz="2000"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25a4a1d6b_0_0"/>
          <p:cNvSpPr txBox="1"/>
          <p:nvPr>
            <p:ph idx="1" type="body"/>
          </p:nvPr>
        </p:nvSpPr>
        <p:spPr>
          <a:xfrm>
            <a:off x="560200" y="3105825"/>
            <a:ext cx="388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Спасибо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2020-05-28T16:18:16Z</dcterms:created>
  <dc:creator>Влад Замахаев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